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67" r:id="rId3"/>
    <p:sldId id="268" r:id="rId4"/>
    <p:sldId id="258" r:id="rId5"/>
    <p:sldId id="259" r:id="rId6"/>
    <p:sldId id="269" r:id="rId7"/>
    <p:sldId id="260" r:id="rId8"/>
    <p:sldId id="270" r:id="rId9"/>
    <p:sldId id="261" r:id="rId10"/>
    <p:sldId id="271" r:id="rId11"/>
    <p:sldId id="262" r:id="rId12"/>
    <p:sldId id="263" r:id="rId13"/>
    <p:sldId id="272" r:id="rId14"/>
    <p:sldId id="273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8DA851-9F98-4791-AD69-F89A003C93AC}">
          <p14:sldIdLst>
            <p14:sldId id="256"/>
            <p14:sldId id="267"/>
            <p14:sldId id="268"/>
            <p14:sldId id="258"/>
            <p14:sldId id="259"/>
          </p14:sldIdLst>
        </p14:section>
        <p14:section name="Untitled Section" id="{C367166D-A2B9-46B1-A02B-CCB9C08065C7}">
          <p14:sldIdLst>
            <p14:sldId id="269"/>
            <p14:sldId id="260"/>
            <p14:sldId id="270"/>
            <p14:sldId id="261"/>
            <p14:sldId id="271"/>
            <p14:sldId id="262"/>
            <p14:sldId id="263"/>
            <p14:sldId id="272"/>
            <p14:sldId id="273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vann" initials="I" lastIdx="1" clrIdx="0">
    <p:extLst>
      <p:ext uri="{19B8F6BF-5375-455C-9EA6-DF929625EA0E}">
        <p15:presenceInfo xmlns:p15="http://schemas.microsoft.com/office/powerpoint/2012/main" userId="873db2dd2dfe3ad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2-11-15T16:50:54.374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26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87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57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43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2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822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9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06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31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3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339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59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28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dirty="0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69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81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9000">
              <a:schemeClr val="accent1">
                <a:lumMod val="5000"/>
                <a:lumOff val="95000"/>
                <a:alpha val="2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481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du.gcfglobal.org/en/computerbasics/what-is-a-computer/1/" TargetMode="External"/><Relationship Id="rId2" Type="http://schemas.openxmlformats.org/officeDocument/2006/relationships/hyperlink" Target="http://www.bing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oppr.com/guides/computer-aptitude-and-knowledge/basics-of-computers/history-of-compute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7868873" y="779152"/>
            <a:ext cx="3456265" cy="56408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Monotype Corsiva" panose="03010101010201010101" pitchFamily="66" charset="0"/>
              </a:rPr>
              <a:t>Coordinator  : Dr </a:t>
            </a:r>
            <a:r>
              <a:rPr lang="en-US" b="1" dirty="0" err="1">
                <a:solidFill>
                  <a:srgbClr val="002060"/>
                </a:solidFill>
                <a:latin typeface="Monotype Corsiva" panose="03010101010201010101" pitchFamily="66" charset="0"/>
              </a:rPr>
              <a:t>ambe</a:t>
            </a:r>
            <a:endParaRPr lang="fr-FR" b="1" dirty="0">
              <a:solidFill>
                <a:srgbClr val="002060"/>
              </a:solidFill>
              <a:latin typeface="Monotype Corsiva" panose="03010101010201010101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25750" y="5466807"/>
            <a:ext cx="3940502" cy="923330"/>
          </a:xfrm>
          <a:prstGeom prst="rect">
            <a:avLst/>
          </a:prstGeom>
          <a:noFill/>
          <a:ln w="3175"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fr-FR" sz="5400" b="1" cap="none" spc="0" dirty="0">
                <a:ln w="0"/>
                <a:solidFill>
                  <a:srgbClr val="002060"/>
                </a:solidFill>
                <a:effectLst>
                  <a:reflection blurRad="6350" stA="53000" endA="300" endPos="35500" dir="5400000" sy="-90000" algn="bl" rotWithShape="0"/>
                </a:effectLst>
                <a:latin typeface="Monotype Corsiva" panose="03010101010201010101" pitchFamily="66" charset="0"/>
              </a:rPr>
              <a:t>COMPUTERS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1FB9F6-D198-0C08-7A5F-C961F3443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109" y="10412"/>
            <a:ext cx="2099781" cy="2103627"/>
          </a:xfrm>
          <a:prstGeom prst="rect">
            <a:avLst/>
          </a:prstGeom>
        </p:spPr>
      </p:pic>
      <p:sp>
        <p:nvSpPr>
          <p:cNvPr id="4" name="Sous-titre 2">
            <a:extLst>
              <a:ext uri="{FF2B5EF4-FFF2-40B4-BE49-F238E27FC236}">
                <a16:creationId xmlns:a16="http://schemas.microsoft.com/office/drawing/2014/main" id="{FAFFB947-B629-D8C4-24B6-890764ACFBF1}"/>
              </a:ext>
            </a:extLst>
          </p:cNvPr>
          <p:cNvSpPr txBox="1">
            <a:spLocks/>
          </p:cNvSpPr>
          <p:nvPr/>
        </p:nvSpPr>
        <p:spPr>
          <a:xfrm>
            <a:off x="1241572" y="781213"/>
            <a:ext cx="2761894" cy="562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solidFill>
                  <a:srgbClr val="002060"/>
                </a:solidFill>
                <a:latin typeface="Monotype Corsiva" panose="03010101010201010101" pitchFamily="66" charset="0"/>
              </a:rPr>
              <a:t>ANGLAIS (STI-2003-1)</a:t>
            </a:r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32B5A54B-4203-3067-EA0D-FE5DB77BF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6217" y="2114039"/>
            <a:ext cx="6399564" cy="33219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1927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1C5C778B-9E80-9496-58B4-9EE6C7DD6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9768" y="1190655"/>
            <a:ext cx="3972455" cy="70805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Monotype Corsiva" panose="03010101010201010101" pitchFamily="66" charset="0"/>
              </a:rPr>
              <a:t>Group Members</a:t>
            </a:r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CA81A17B-D2E5-E556-47C6-F358F2456624}"/>
              </a:ext>
            </a:extLst>
          </p:cNvPr>
          <p:cNvSpPr txBox="1">
            <a:spLocks/>
          </p:cNvSpPr>
          <p:nvPr/>
        </p:nvSpPr>
        <p:spPr>
          <a:xfrm>
            <a:off x="3145870" y="2155971"/>
            <a:ext cx="5872296" cy="212241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2060"/>
                </a:solidFill>
                <a:latin typeface="Monotype Corsiva" panose="03010101010201010101" pitchFamily="66" charset="0"/>
              </a:rPr>
              <a:t>KAMDEM POUOKAM IVANN HAROLD. N°21P254</a:t>
            </a:r>
          </a:p>
          <a:p>
            <a:pPr algn="ctr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2060"/>
                </a:solidFill>
                <a:latin typeface="Monotype Corsiva" panose="03010101010201010101" pitchFamily="66" charset="0"/>
              </a:rPr>
              <a:t>KAMGA DEFO THIERRY JOEL. N°21P032</a:t>
            </a:r>
          </a:p>
          <a:p>
            <a:pPr algn="ctr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2060"/>
                </a:solidFill>
                <a:latin typeface="Monotype Corsiva" panose="03010101010201010101" pitchFamily="66" charset="0"/>
              </a:rPr>
              <a:t>KAMTE MOAFO AMSTRONG. N°21P017</a:t>
            </a:r>
          </a:p>
          <a:p>
            <a:pPr algn="ctr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rgbClr val="002060"/>
                </a:solidFill>
                <a:latin typeface="Monotype Corsiva" panose="03010101010201010101" pitchFamily="66" charset="0"/>
              </a:rPr>
              <a:t>KANGA MARTHE VANINA N</a:t>
            </a:r>
            <a:r>
              <a:rPr lang="fr-CM" dirty="0">
                <a:solidFill>
                  <a:srgbClr val="002060"/>
                </a:solidFill>
                <a:latin typeface="Monotype Corsiva" panose="03010101010201010101" pitchFamily="66" charset="0"/>
              </a:rPr>
              <a:t>°21p201</a:t>
            </a:r>
            <a:endParaRPr lang="en-GB" dirty="0">
              <a:solidFill>
                <a:srgbClr val="00206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916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7444ED91-3324-B610-20EC-5D5EE5ED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100" y="1111192"/>
            <a:ext cx="1289799" cy="6477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2060"/>
                </a:solidFill>
                <a:latin typeface="Monotype Corsiva" panose="03010101010201010101" pitchFamily="66" charset="0"/>
              </a:rPr>
              <a:t>Plan</a:t>
            </a:r>
          </a:p>
        </p:txBody>
      </p:sp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F5299C6C-482C-3575-9DA5-8F7CA7DDF721}"/>
              </a:ext>
            </a:extLst>
          </p:cNvPr>
          <p:cNvSpPr txBox="1">
            <a:spLocks/>
          </p:cNvSpPr>
          <p:nvPr/>
        </p:nvSpPr>
        <p:spPr>
          <a:xfrm>
            <a:off x="3290319" y="1834393"/>
            <a:ext cx="5611360" cy="39879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002060"/>
                </a:solidFill>
                <a:latin typeface="Monotype Corsiva" panose="03010101010201010101" pitchFamily="66" charset="0"/>
              </a:rPr>
              <a:t>Introduction</a:t>
            </a:r>
          </a:p>
          <a:p>
            <a:pPr algn="ctr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002060"/>
                </a:solidFill>
                <a:latin typeface="Monotype Corsiva" panose="03010101010201010101" pitchFamily="66" charset="0"/>
              </a:rPr>
              <a:t>I- History</a:t>
            </a:r>
          </a:p>
          <a:p>
            <a:pPr algn="ctr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002060"/>
                </a:solidFill>
                <a:latin typeface="Monotype Corsiva" panose="03010101010201010101" pitchFamily="66" charset="0"/>
              </a:rPr>
              <a:t>II- presentation of a computer</a:t>
            </a:r>
          </a:p>
          <a:p>
            <a:pPr algn="ctr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002060"/>
                </a:solidFill>
                <a:latin typeface="Monotype Corsiva" panose="03010101010201010101" pitchFamily="66" charset="0"/>
              </a:rPr>
              <a:t>III- Types of computers</a:t>
            </a:r>
          </a:p>
          <a:p>
            <a:pPr algn="ctr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002060"/>
                </a:solidFill>
                <a:latin typeface="Monotype Corsiva" panose="03010101010201010101" pitchFamily="66" charset="0"/>
              </a:rPr>
              <a:t>iV- Benefits of using a computer</a:t>
            </a:r>
          </a:p>
          <a:p>
            <a:pPr algn="ctr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002060"/>
                </a:solidFill>
                <a:latin typeface="Monotype Corsiva" panose="03010101010201010101" pitchFamily="66" charset="0"/>
              </a:rPr>
              <a:t>V- Some curiosities about computers</a:t>
            </a:r>
          </a:p>
          <a:p>
            <a:pPr algn="ctr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002060"/>
                </a:solidFill>
                <a:latin typeface="Monotype Corsiva" panose="03010101010201010101" pitchFamily="66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86092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49623" y="363510"/>
            <a:ext cx="5369459" cy="1040466"/>
          </a:xfrm>
        </p:spPr>
        <p:txBody>
          <a:bodyPr>
            <a:normAutofit/>
          </a:bodyPr>
          <a:lstStyle/>
          <a:p>
            <a:r>
              <a:rPr lang="fr-FR" sz="4000" b="1" u="sng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6E0211-B2B6-FEF9-523E-88714DB462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2185" y="1626485"/>
            <a:ext cx="9240147" cy="3042792"/>
          </a:xfrm>
        </p:spPr>
        <p:txBody>
          <a:bodyPr>
            <a:normAutofit/>
          </a:bodyPr>
          <a:lstStyle/>
          <a:p>
            <a:pPr marL="0" lvl="0" indent="0" algn="just" defTabSz="914400">
              <a:buNone/>
            </a:pPr>
            <a:r>
              <a:rPr kumimoji="0" lang="en-US" altLang="fr-FR" sz="2400" strike="noStrike" cap="none" normalizeH="0" baseline="0" dirty="0">
                <a:ln>
                  <a:noFill/>
                </a:ln>
                <a:latin typeface="Monotype Corsiva" panose="03010101010201010101" pitchFamily="66" charset="0"/>
                <a:cs typeface="Open Sans" panose="020B0606030504020204" pitchFamily="34" charset="0"/>
              </a:rPr>
              <a:t>	Since antiquity, men have tried to set up machines, in order to automate some recurring tasks, such as </a:t>
            </a:r>
            <a:r>
              <a:rPr kumimoji="0" lang="en-US" altLang="fr-FR" sz="2400" strike="noStrike" cap="none" normalizeH="0" baseline="0" dirty="0">
                <a:ln>
                  <a:noFill/>
                </a:ln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counting and math operations</a:t>
            </a:r>
            <a:r>
              <a:rPr kumimoji="0" lang="en-US" altLang="fr-FR" sz="2400" strike="noStrike" cap="none" normalizeH="0" baseline="0" dirty="0">
                <a:ln>
                  <a:noFill/>
                </a:ln>
                <a:latin typeface="Monotype Corsiva" panose="03010101010201010101" pitchFamily="66" charset="0"/>
                <a:cs typeface="Open Sans" panose="020B0606030504020204" pitchFamily="34" charset="0"/>
              </a:rPr>
              <a:t>. Starting with the </a:t>
            </a:r>
            <a:r>
              <a:rPr kumimoji="0" lang="en-US" altLang="fr-FR" sz="2400" strike="noStrike" cap="none" normalizeH="0" baseline="0" dirty="0">
                <a:ln>
                  <a:noFill/>
                </a:ln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Abacus</a:t>
            </a:r>
            <a:r>
              <a:rPr kumimoji="0" lang="en-US" altLang="fr-FR" sz="2400" strike="noStrike" cap="none" normalizeH="0" baseline="0" dirty="0">
                <a:ln>
                  <a:noFill/>
                </a:ln>
                <a:latin typeface="Monotype Corsiva" panose="03010101010201010101" pitchFamily="66" charset="0"/>
                <a:cs typeface="Open Sans" panose="020B0606030504020204" pitchFamily="34" charset="0"/>
              </a:rPr>
              <a:t>, the engineers have developed over centuries, more and more sophisticated machines, thanks to progress in </a:t>
            </a:r>
            <a:r>
              <a:rPr kumimoji="0" lang="en-US" altLang="fr-FR" sz="2400" strike="noStrike" cap="none" normalizeH="0" baseline="0" dirty="0">
                <a:ln>
                  <a:noFill/>
                </a:ln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mechanics and electronics</a:t>
            </a:r>
            <a:r>
              <a:rPr kumimoji="0" lang="en-US" altLang="fr-FR" sz="2400" strike="noStrike" cap="none" normalizeH="0" baseline="0" dirty="0">
                <a:ln>
                  <a:noFill/>
                </a:ln>
                <a:latin typeface="Monotype Corsiva" panose="03010101010201010101" pitchFamily="66" charset="0"/>
                <a:cs typeface="Open Sans" panose="020B0606030504020204" pitchFamily="34" charset="0"/>
              </a:rPr>
              <a:t>. Today, computers are true </a:t>
            </a:r>
            <a:r>
              <a:rPr kumimoji="0" lang="en-US" altLang="fr-FR" sz="2400" strike="noStrike" cap="none" normalizeH="0" baseline="0" dirty="0">
                <a:ln>
                  <a:noFill/>
                </a:ln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do-it-all</a:t>
            </a:r>
            <a:r>
              <a:rPr kumimoji="0" lang="en-US" altLang="fr-FR" sz="2400" strike="noStrike" cap="none" normalizeH="0" baseline="0" dirty="0">
                <a:ln>
                  <a:noFill/>
                </a:ln>
                <a:latin typeface="Monotype Corsiva" panose="03010101010201010101" pitchFamily="66" charset="0"/>
                <a:cs typeface="Open Sans" panose="020B0606030504020204" pitchFamily="34" charset="0"/>
              </a:rPr>
              <a:t> machines and are present in almost all domains of life. Exploring this essential tool of this world, will constitute the subject of this presentation.</a:t>
            </a:r>
            <a:endParaRPr kumimoji="0" lang="fr-FR" altLang="fr-FR" sz="2400" strike="noStrike" cap="none" normalizeH="0" baseline="0" dirty="0">
              <a:ln>
                <a:noFill/>
              </a:ln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900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06660" y="174215"/>
            <a:ext cx="2978679" cy="613282"/>
          </a:xfrm>
        </p:spPr>
        <p:txBody>
          <a:bodyPr>
            <a:normAutofit/>
          </a:bodyPr>
          <a:lstStyle/>
          <a:p>
            <a:pPr fontAlgn="base"/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I - </a:t>
            </a:r>
            <a:r>
              <a:rPr lang="en-GB" b="1" u="sng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History</a:t>
            </a:r>
            <a:endParaRPr lang="en-GB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67112" y="947956"/>
            <a:ext cx="12021424" cy="56964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400" cap="none" dirty="0">
                <a:latin typeface="Monotype Corsiva" panose="03010101010201010101" pitchFamily="66" charset="0"/>
              </a:rPr>
              <a:t>	</a:t>
            </a:r>
            <a:r>
              <a:rPr lang="en-GB" sz="2400" cap="none" dirty="0">
                <a:latin typeface="Monotype Corsiva" panose="03010101010201010101" pitchFamily="66" charset="0"/>
              </a:rPr>
              <a:t>Before</a:t>
            </a:r>
            <a:r>
              <a:rPr lang="fr-FR" sz="2400" cap="none" dirty="0">
                <a:latin typeface="Monotype Corsiva" panose="03010101010201010101" pitchFamily="66" charset="0"/>
              </a:rPr>
              <a:t> </a:t>
            </a:r>
            <a:r>
              <a:rPr lang="en-GB" sz="2400" cap="none" dirty="0">
                <a:latin typeface="Monotype Corsiva" panose="03010101010201010101" pitchFamily="66" charset="0"/>
              </a:rPr>
              <a:t>the</a:t>
            </a:r>
            <a:r>
              <a:rPr lang="fr-FR" sz="2400" cap="none" dirty="0">
                <a:latin typeface="Monotype Corsiva" panose="03010101010201010101" pitchFamily="66" charset="0"/>
              </a:rPr>
              <a:t> </a:t>
            </a:r>
            <a:r>
              <a:rPr lang="en-US" sz="2400" cap="none" dirty="0">
                <a:latin typeface="Monotype Corsiva" panose="03010101010201010101" pitchFamily="66" charset="0"/>
              </a:rPr>
              <a:t>invention of computers, people used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sticks, stones and bones</a:t>
            </a:r>
            <a:r>
              <a:rPr lang="en-US" sz="2400" cap="none" dirty="0">
                <a:latin typeface="Monotype Corsiva" panose="03010101010201010101" pitchFamily="66" charset="0"/>
              </a:rPr>
              <a:t> as counting tools. It all started with the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Abacus</a:t>
            </a:r>
            <a:r>
              <a:rPr lang="en-US" sz="2400" cap="none" dirty="0">
                <a:latin typeface="Monotype Corsiva" panose="03010101010201010101" pitchFamily="66" charset="0"/>
              </a:rPr>
              <a:t>, designed by the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Chinese</a:t>
            </a:r>
            <a:r>
              <a:rPr lang="en-US" sz="2400" cap="none" dirty="0">
                <a:latin typeface="Monotype Corsiva" panose="03010101010201010101" pitchFamily="66" charset="0"/>
              </a:rPr>
              <a:t> around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4000 </a:t>
            </a:r>
            <a:r>
              <a:rPr lang="en-US" sz="2400" cap="none" dirty="0">
                <a:latin typeface="Monotype Corsiva" panose="03010101010201010101" pitchFamily="66" charset="0"/>
              </a:rPr>
              <a:t>years ago, It’s a wooden rock with metal </a:t>
            </a:r>
            <a:r>
              <a:rPr lang="en-GB" sz="2400" cap="none" dirty="0">
                <a:latin typeface="Monotype Corsiva" panose="03010101010201010101" pitchFamily="66" charset="0"/>
              </a:rPr>
              <a:t>rods and beads attached to them. The operations were realised following some guidelines, on how to move the beads to complete arithmetic computations. The mayor advancement that follows, was the </a:t>
            </a:r>
            <a:r>
              <a:rPr lang="en-GB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Pascaline</a:t>
            </a:r>
            <a:r>
              <a:rPr lang="en-GB" sz="2400" cap="none" dirty="0">
                <a:latin typeface="Monotype Corsiva" panose="03010101010201010101" pitchFamily="66" charset="0"/>
              </a:rPr>
              <a:t>, invented by </a:t>
            </a:r>
            <a:r>
              <a:rPr lang="en-GB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Blaise Pascal in 1642</a:t>
            </a:r>
            <a:r>
              <a:rPr lang="en-GB" sz="2400" cap="none" dirty="0">
                <a:latin typeface="Monotype Corsiva" panose="03010101010201010101" pitchFamily="66" charset="0"/>
              </a:rPr>
              <a:t>. It is thought to be the first mechanical and automated calculator. Progress had followed  in this domain, until </a:t>
            </a:r>
            <a:r>
              <a:rPr lang="en-GB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1822</a:t>
            </a:r>
            <a:r>
              <a:rPr lang="en-GB" sz="2400" cap="none" dirty="0">
                <a:latin typeface="Monotype Corsiva" panose="03010101010201010101" pitchFamily="66" charset="0"/>
              </a:rPr>
              <a:t>, the year during which </a:t>
            </a:r>
            <a:r>
              <a:rPr lang="en-GB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Charles Babbage </a:t>
            </a:r>
            <a:r>
              <a:rPr lang="en-GB" sz="2400" cap="none" dirty="0">
                <a:latin typeface="Monotype Corsiva" panose="03010101010201010101" pitchFamily="66" charset="0"/>
              </a:rPr>
              <a:t>developed the first mechanical computer. This machine contained an </a:t>
            </a:r>
            <a:r>
              <a:rPr lang="en-GB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arithmetic and logical unit (ALU), some chart principles and the concept of integrated memory.</a:t>
            </a:r>
            <a:r>
              <a:rPr lang="en-GB" sz="2400" cap="none" dirty="0">
                <a:latin typeface="Monotype Corsiva" panose="03010101010201010101" pitchFamily="66" charset="0"/>
              </a:rPr>
              <a:t> Then, more than one century later, we got the first Electronic computer : it is the </a:t>
            </a:r>
            <a:r>
              <a:rPr lang="en-GB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ENIAC (Electronic Numerical Integrator and Computer), </a:t>
            </a:r>
            <a:r>
              <a:rPr lang="en-GB" sz="2400" cap="none" dirty="0">
                <a:latin typeface="Monotype Corsiva" panose="03010101010201010101" pitchFamily="66" charset="0"/>
              </a:rPr>
              <a:t>which was designed by </a:t>
            </a:r>
            <a:r>
              <a:rPr lang="en-GB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John Mauchly and Eckert</a:t>
            </a:r>
            <a:r>
              <a:rPr lang="en-GB" sz="2400" cap="none" dirty="0">
                <a:latin typeface="Monotype Corsiva" panose="03010101010201010101" pitchFamily="66" charset="0"/>
              </a:rPr>
              <a:t>. </a:t>
            </a:r>
            <a:r>
              <a:rPr lang="en-US" sz="2400" cap="none" dirty="0">
                <a:latin typeface="Monotype Corsiva" panose="03010101010201010101" pitchFamily="66" charset="0"/>
              </a:rPr>
              <a:t>With time, technology  evolved, and computers became smaller, thanks to the invention of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transistors, to the modern theory of information of Claude Shannon, and to the notion of bit (binary digit), </a:t>
            </a:r>
            <a:r>
              <a:rPr lang="en-US" sz="2400" cap="none" dirty="0">
                <a:latin typeface="Monotype Corsiva" panose="03010101010201010101" pitchFamily="66" charset="0"/>
              </a:rPr>
              <a:t>introduced by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Alan Turing</a:t>
            </a:r>
            <a:r>
              <a:rPr lang="en-US" sz="2400" cap="none" dirty="0">
                <a:latin typeface="Monotype Corsiva" panose="03010101010201010101" pitchFamily="66" charset="0"/>
              </a:rPr>
              <a:t>. This process of evolution reached its peak, with the creation of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Programming Languages</a:t>
            </a:r>
            <a:r>
              <a:rPr lang="en-US" sz="2400" cap="none" dirty="0">
                <a:latin typeface="Monotype Corsiva" panose="03010101010201010101" pitchFamily="66" charset="0"/>
              </a:rPr>
              <a:t>, the advent of the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Internet</a:t>
            </a:r>
            <a:r>
              <a:rPr lang="en-US" sz="2400" cap="none" dirty="0">
                <a:latin typeface="Monotype Corsiva" panose="03010101010201010101" pitchFamily="66" charset="0"/>
              </a:rPr>
              <a:t> and more recently the birth of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Artificial Intelligence.</a:t>
            </a:r>
            <a:endParaRPr lang="en-GB" sz="2400" cap="none" dirty="0">
              <a:solidFill>
                <a:srgbClr val="002060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677871"/>
      </p:ext>
    </p:extLst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7000">
              <a:schemeClr val="accent1">
                <a:lumMod val="5000"/>
                <a:lumOff val="95000"/>
                <a:alpha val="2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ee the source image">
            <a:extLst>
              <a:ext uri="{FF2B5EF4-FFF2-40B4-BE49-F238E27FC236}">
                <a16:creationId xmlns:a16="http://schemas.microsoft.com/office/drawing/2014/main" id="{C94312E4-8D37-6E19-0C22-A5C610489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637" y="603354"/>
            <a:ext cx="3676395" cy="275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538028E8-7F2C-F37E-601F-85724D5913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724540" y="2897878"/>
            <a:ext cx="1300744" cy="612568"/>
          </a:xfrm>
        </p:spPr>
        <p:txBody>
          <a:bodyPr>
            <a:normAutofit/>
          </a:bodyPr>
          <a:lstStyle/>
          <a:p>
            <a:pPr marL="0" lvl="0" indent="0" algn="just" defTabSz="914400">
              <a:buNone/>
            </a:pPr>
            <a:r>
              <a:rPr kumimoji="0" lang="en-US" altLang="fr-FR" sz="2400" b="1" strike="noStrike" cap="none" normalizeH="0" baseline="0" dirty="0">
                <a:ln>
                  <a:noFill/>
                </a:ln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Abacus</a:t>
            </a:r>
            <a:endParaRPr kumimoji="0" lang="fr-FR" altLang="fr-FR" sz="2400" b="1" strike="noStrike" cap="none" normalizeH="0" baseline="0" dirty="0">
              <a:ln>
                <a:noFill/>
              </a:ln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  <p:pic>
        <p:nvPicPr>
          <p:cNvPr id="1030" name="Picture 6" descr="See the source image">
            <a:extLst>
              <a:ext uri="{FF2B5EF4-FFF2-40B4-BE49-F238E27FC236}">
                <a16:creationId xmlns:a16="http://schemas.microsoft.com/office/drawing/2014/main" id="{E8EA0607-0305-BA7E-2027-D7ED15483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411" y="603354"/>
            <a:ext cx="4290424" cy="2349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eniac">
            <a:extLst>
              <a:ext uri="{FF2B5EF4-FFF2-40B4-BE49-F238E27FC236}">
                <a16:creationId xmlns:a16="http://schemas.microsoft.com/office/drawing/2014/main" id="{C818BE13-3A60-856B-55D1-06B0E847E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801" y="3360650"/>
            <a:ext cx="3676395" cy="2641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ee the source image">
            <a:extLst>
              <a:ext uri="{FF2B5EF4-FFF2-40B4-BE49-F238E27FC236}">
                <a16:creationId xmlns:a16="http://schemas.microsoft.com/office/drawing/2014/main" id="{2201B1A1-D582-8D92-421D-5747D0B55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353" y="3441477"/>
            <a:ext cx="3163118" cy="2711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6732B8E-CC23-5BB3-941B-FD00D2FB76F0}"/>
              </a:ext>
            </a:extLst>
          </p:cNvPr>
          <p:cNvSpPr txBox="1">
            <a:spLocks/>
          </p:cNvSpPr>
          <p:nvPr/>
        </p:nvSpPr>
        <p:spPr>
          <a:xfrm>
            <a:off x="8041835" y="2828871"/>
            <a:ext cx="1488328" cy="531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fr-FR" sz="2400" b="1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Pascaline</a:t>
            </a:r>
            <a:endParaRPr lang="fr-FR" altLang="fr-FR" sz="2400" b="1" cap="none" dirty="0"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78227115-6D14-7613-4AFD-1186BCF00C24}"/>
              </a:ext>
            </a:extLst>
          </p:cNvPr>
          <p:cNvSpPr txBox="1">
            <a:spLocks/>
          </p:cNvSpPr>
          <p:nvPr/>
        </p:nvSpPr>
        <p:spPr>
          <a:xfrm>
            <a:off x="8358442" y="5967658"/>
            <a:ext cx="1171721" cy="5317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fr-FR" sz="2400" b="1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ENIAC</a:t>
            </a:r>
            <a:endParaRPr lang="fr-FR" altLang="fr-FR" sz="2400" b="1" cap="none" dirty="0"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4ACEF3CB-3185-7B8B-97C3-20207A255692}"/>
              </a:ext>
            </a:extLst>
          </p:cNvPr>
          <p:cNvSpPr txBox="1">
            <a:spLocks/>
          </p:cNvSpPr>
          <p:nvPr/>
        </p:nvSpPr>
        <p:spPr>
          <a:xfrm>
            <a:off x="1273559" y="6233548"/>
            <a:ext cx="4351615" cy="45991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fr-FR" sz="2400" b="1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First Mechanical Computer of Babbage</a:t>
            </a:r>
            <a:endParaRPr lang="fr-FR" altLang="fr-FR" sz="2400" b="1" cap="none" dirty="0"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405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75033" y="213569"/>
            <a:ext cx="9771642" cy="700832"/>
          </a:xfrm>
        </p:spPr>
        <p:txBody>
          <a:bodyPr>
            <a:normAutofit/>
          </a:bodyPr>
          <a:lstStyle/>
          <a:p>
            <a:pPr fontAlgn="base"/>
            <a:r>
              <a:rPr lang="fr-FR" sz="3200" b="1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ii - </a:t>
            </a:r>
            <a:r>
              <a:rPr lang="en-GB" sz="3200" b="1" u="sng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Presentation of a computer</a:t>
            </a:r>
            <a:endParaRPr lang="en-GB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478746" y="1273884"/>
            <a:ext cx="7968969" cy="473263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	Today, a </a:t>
            </a:r>
            <a:r>
              <a:rPr lang="en-GB" altLang="fr-FR" sz="24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Computer</a:t>
            </a:r>
            <a:r>
              <a:rPr lang="en-GB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 is an electronic machine, which </a:t>
            </a:r>
            <a:r>
              <a:rPr lang="en-GB" altLang="fr-FR" sz="24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collects information, stores it, processes it according to user instructions, and then returns results</a:t>
            </a:r>
            <a:r>
              <a:rPr lang="en-GB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. In other words, it is a </a:t>
            </a:r>
            <a:r>
              <a:rPr lang="en-GB" altLang="fr-FR" sz="24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programmable electronic device, </a:t>
            </a:r>
            <a:r>
              <a:rPr lang="en-GB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that performs </a:t>
            </a:r>
            <a:r>
              <a:rPr lang="en-US" altLang="fr-FR" sz="24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arithmetic and logical operations automatically, </a:t>
            </a:r>
            <a:r>
              <a:rPr lang="en-US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using a set of instructions provided by the user. In general, a computer functions following the process on the </a:t>
            </a:r>
            <a:r>
              <a:rPr lang="fr-CM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right.</a:t>
            </a:r>
            <a:endParaRPr lang="en-GB" altLang="fr-FR" sz="2400" cap="none" dirty="0">
              <a:latin typeface="Monotype Corsiva" panose="03010101010201010101" pitchFamily="66" charset="0"/>
              <a:cs typeface="Open Sans" panose="020B0606030504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GB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	Modern computers are made up of a </a:t>
            </a:r>
            <a:r>
              <a:rPr lang="en-GB" altLang="fr-FR" sz="24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hardware part and a software part</a:t>
            </a:r>
            <a:r>
              <a:rPr lang="en-GB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, managed by an </a:t>
            </a:r>
            <a:r>
              <a:rPr lang="en-GB" altLang="fr-FR" sz="24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operating system </a:t>
            </a:r>
            <a:r>
              <a:rPr lang="en-GB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which establishes the connection with the user. To expand its </a:t>
            </a:r>
            <a:r>
              <a:rPr lang="en-US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functionalities, a modern computer can count on external input and output devices such as a </a:t>
            </a:r>
            <a:r>
              <a:rPr lang="en-US" altLang="fr-FR" sz="24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printer, a mouse, a keyboard </a:t>
            </a:r>
            <a:r>
              <a:rPr lang="en-US" altLang="fr-FR" sz="24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and so on</a:t>
            </a:r>
            <a:r>
              <a:rPr lang="en-US" altLang="fr-FR" sz="24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.</a:t>
            </a:r>
          </a:p>
        </p:txBody>
      </p:sp>
      <p:pic>
        <p:nvPicPr>
          <p:cNvPr id="1030" name="Picture 6" descr="See the source image">
            <a:extLst>
              <a:ext uri="{FF2B5EF4-FFF2-40B4-BE49-F238E27FC236}">
                <a16:creationId xmlns:a16="http://schemas.microsoft.com/office/drawing/2014/main" id="{622347CA-166E-4A4D-CC1C-157A427AA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627" y="1273884"/>
            <a:ext cx="3081302" cy="1284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See the source image">
            <a:extLst>
              <a:ext uri="{FF2B5EF4-FFF2-40B4-BE49-F238E27FC236}">
                <a16:creationId xmlns:a16="http://schemas.microsoft.com/office/drawing/2014/main" id="{D0DE0FD4-3A70-D72E-2114-A7FA432540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9" r="1119"/>
          <a:stretch/>
        </p:blipFill>
        <p:spPr bwMode="auto">
          <a:xfrm>
            <a:off x="8697650" y="2715474"/>
            <a:ext cx="2333515" cy="341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4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 descr="See the source image">
            <a:extLst>
              <a:ext uri="{FF2B5EF4-FFF2-40B4-BE49-F238E27FC236}">
                <a16:creationId xmlns:a16="http://schemas.microsoft.com/office/drawing/2014/main" id="{E89BE381-D73B-1E50-8897-94D35CBCC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61913"/>
            <a:ext cx="9525000" cy="67341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53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09688" y="67901"/>
            <a:ext cx="4745079" cy="629174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Iii - </a:t>
            </a:r>
            <a:r>
              <a:rPr lang="fr-FR" sz="3200" b="1" u="sng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Types of computer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556666" y="681086"/>
            <a:ext cx="10829733" cy="593019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altLang="fr-FR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	Computers can be categorised into many different types :</a:t>
            </a:r>
          </a:p>
          <a:p>
            <a:pPr algn="just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GB" sz="2200" u="sng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Microcomputer </a:t>
            </a:r>
            <a:r>
              <a:rPr lang="en-GB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: It is a single user computer, which has less speed and storage than the other types. It includes </a:t>
            </a:r>
            <a:r>
              <a:rPr lang="en-GB" sz="22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Laptops, </a:t>
            </a:r>
            <a:r>
              <a:rPr lang="en-US" sz="22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Desktops, Tablets and Smartphones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. This type of computer is used for general usage like </a:t>
            </a:r>
            <a:r>
              <a:rPr lang="en-US" sz="22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browsing, office automation and entertainment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sz="2200" u="sng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Minicomputer 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: It is designed to support multiple users simultaneously ; so they are generally used by small businesses like </a:t>
            </a:r>
            <a:r>
              <a:rPr lang="en-US" sz="22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schools and hospitals, 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in order to manage the staff.</a:t>
            </a:r>
          </a:p>
          <a:p>
            <a:pPr algn="just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sz="2200" u="sng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Mainframe computer 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: It is also a multi-user computer able of supporting thousands of users simultaneously. They are used by large </a:t>
            </a:r>
            <a:r>
              <a:rPr lang="en-US" sz="22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firms and governments like banks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, in order to store their customer’s data.</a:t>
            </a:r>
          </a:p>
          <a:p>
            <a:pPr algn="just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sz="2200" u="sng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Supercomputers 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: They are the fastest and the most expensive computers among all types. They can perform millions of instructions per sec. They are used in </a:t>
            </a:r>
            <a:r>
              <a:rPr lang="en-US" sz="22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scientific and engineering domains like research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. For example, the </a:t>
            </a:r>
            <a:r>
              <a:rPr lang="en-US" sz="22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NASA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 uses supercomputers for launching space satellites.</a:t>
            </a:r>
          </a:p>
          <a:p>
            <a:pPr algn="just">
              <a:lnSpc>
                <a:spcPct val="100000"/>
              </a:lnSpc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en-US" sz="2200" u="sng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Workstation </a:t>
            </a:r>
            <a:r>
              <a:rPr lang="en-US" sz="2200" kern="1200" baseline="0" dirty="0">
                <a:solidFill>
                  <a:srgbClr val="000000"/>
                </a:solidFill>
                <a:effectLst/>
                <a:latin typeface="Monotype Corsiva" panose="03010101010201010101" pitchFamily="66" charset="0"/>
                <a:ea typeface="+mn-ea"/>
                <a:cs typeface="Open Sans" panose="020B0606030504020204" pitchFamily="34" charset="0"/>
              </a:rPr>
              <a:t>: 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It is similar to a personal computer ; however, it has a more powerful microprocessor. In terms of storage capacity and speed, it comes between a personal computer and a minicomputer. Workstations are generally used </a:t>
            </a:r>
            <a:r>
              <a:rPr lang="en-GB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for specialised  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applications such as </a:t>
            </a:r>
            <a:r>
              <a:rPr lang="en-US" sz="2200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software development</a:t>
            </a:r>
            <a:r>
              <a:rPr lang="en-US" sz="2200" cap="none" dirty="0">
                <a:latin typeface="Monotype Corsiva" panose="03010101010201010101" pitchFamily="66" charset="0"/>
                <a:cs typeface="Open Sans" panose="020B0606030504020204" pitchFamily="34" charset="0"/>
              </a:rPr>
              <a:t>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US" sz="2200" cap="none" dirty="0"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74711"/>
            <a:ext cx="27443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fr-FR" altLang="fr-FR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7234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8" name="Picture 12" descr="Which is faster, a minicomputer or a microcomputer? - Quora">
            <a:extLst>
              <a:ext uri="{FF2B5EF4-FFF2-40B4-BE49-F238E27FC236}">
                <a16:creationId xmlns:a16="http://schemas.microsoft.com/office/drawing/2014/main" id="{CAF43282-A3CD-AEA9-D188-E60D7E7366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792" y="624561"/>
            <a:ext cx="4916737" cy="2442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2" name="Picture 16" descr="Different Types of computer">
            <a:extLst>
              <a:ext uri="{FF2B5EF4-FFF2-40B4-BE49-F238E27FC236}">
                <a16:creationId xmlns:a16="http://schemas.microsoft.com/office/drawing/2014/main" id="{59F20520-2E92-84E2-EE52-9B5C8EBC5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314" y="3168689"/>
            <a:ext cx="5456574" cy="3069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Windows 11 Pro for Workstations | Microsoft">
            <a:extLst>
              <a:ext uri="{FF2B5EF4-FFF2-40B4-BE49-F238E27FC236}">
                <a16:creationId xmlns:a16="http://schemas.microsoft.com/office/drawing/2014/main" id="{6F817F3D-EC39-C5AD-A86E-7472CFDD5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800" y="1634028"/>
            <a:ext cx="4620187" cy="30693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404F4A0-4634-6DEB-C928-AD7EFB2097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87775" y="4860889"/>
            <a:ext cx="1579013" cy="726166"/>
          </a:xfrm>
        </p:spPr>
        <p:txBody>
          <a:bodyPr>
            <a:normAutofit/>
          </a:bodyPr>
          <a:lstStyle/>
          <a:p>
            <a:pPr marL="0" lvl="0" indent="0" algn="just" defTabSz="914400">
              <a:buNone/>
            </a:pPr>
            <a:r>
              <a:rPr kumimoji="0" lang="en-US" altLang="fr-FR" sz="2400" b="1" strike="noStrike" cap="none" normalizeH="0" baseline="0" dirty="0">
                <a:ln>
                  <a:noFill/>
                </a:ln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Workstation</a:t>
            </a:r>
            <a:endParaRPr kumimoji="0" lang="fr-FR" altLang="fr-FR" sz="2400" b="1" strike="noStrike" cap="none" normalizeH="0" baseline="0" dirty="0">
              <a:ln>
                <a:noFill/>
              </a:ln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05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2070" y="352697"/>
            <a:ext cx="11756570" cy="108421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Iv - </a:t>
            </a:r>
            <a:r>
              <a:rPr lang="en-US" sz="3200" b="1" u="sng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Benefits of using a computer</a:t>
            </a:r>
            <a:endParaRPr lang="en-US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14087" y="1436915"/>
            <a:ext cx="10363826" cy="4898805"/>
          </a:xfrm>
        </p:spPr>
        <p:txBody>
          <a:bodyPr>
            <a:normAutofit/>
          </a:bodyPr>
          <a:lstStyle/>
          <a:p>
            <a:pPr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fr-FR" sz="2400" cap="none" dirty="0">
                <a:latin typeface="Monotype Corsiva" panose="03010101010201010101" pitchFamily="66" charset="0"/>
              </a:rPr>
              <a:t>Computers </a:t>
            </a:r>
            <a:r>
              <a:rPr lang="en-GB" sz="2400" cap="none" dirty="0">
                <a:latin typeface="Monotype Corsiva" panose="03010101010201010101" pitchFamily="66" charset="0"/>
              </a:rPr>
              <a:t>increases your </a:t>
            </a:r>
            <a:r>
              <a:rPr lang="en-GB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productivity</a:t>
            </a:r>
            <a:r>
              <a:rPr lang="en-GB" sz="2400" cap="none" dirty="0">
                <a:latin typeface="Monotype Corsiva" panose="03010101010201010101" pitchFamily="66" charset="0"/>
              </a:rPr>
              <a:t> ; for instance, you can create, edit and print  documents easily with them.</a:t>
            </a:r>
          </a:p>
          <a:p>
            <a:pPr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GB" sz="2400" cap="none" dirty="0">
                <a:latin typeface="Monotype Corsiva" panose="03010101010201010101" pitchFamily="66" charset="0"/>
              </a:rPr>
              <a:t>Computers connect you to the </a:t>
            </a:r>
            <a:r>
              <a:rPr lang="en-GB" sz="2400" i="1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Internet</a:t>
            </a:r>
            <a:r>
              <a:rPr lang="en-GB" sz="2400" cap="none" dirty="0">
                <a:latin typeface="Monotype Corsiva" panose="03010101010201010101" pitchFamily="66" charset="0"/>
              </a:rPr>
              <a:t> ; </a:t>
            </a:r>
            <a:r>
              <a:rPr lang="en-US" sz="2400" cap="none" dirty="0">
                <a:latin typeface="Monotype Corsiva" panose="03010101010201010101" pitchFamily="66" charset="0"/>
              </a:rPr>
              <a:t>thanks to them, you can send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emails</a:t>
            </a:r>
            <a:r>
              <a:rPr lang="en-US" sz="2400" cap="none" dirty="0">
                <a:latin typeface="Monotype Corsiva" panose="03010101010201010101" pitchFamily="66" charset="0"/>
              </a:rPr>
              <a:t>, gain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information, browse content, communicate </a:t>
            </a:r>
            <a:r>
              <a:rPr lang="en-US" sz="2400" cap="none" dirty="0">
                <a:latin typeface="Monotype Corsiva" panose="03010101010201010101" pitchFamily="66" charset="0"/>
              </a:rPr>
              <a:t>through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social medias </a:t>
            </a:r>
            <a:r>
              <a:rPr lang="en-US" sz="2400" cap="none" dirty="0">
                <a:latin typeface="Monotype Corsiva" panose="03010101010201010101" pitchFamily="66" charset="0"/>
              </a:rPr>
              <a:t>and so on.</a:t>
            </a:r>
          </a:p>
          <a:p>
            <a:pPr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cap="none" dirty="0">
                <a:latin typeface="Monotype Corsiva" panose="03010101010201010101" pitchFamily="66" charset="0"/>
              </a:rPr>
              <a:t>At the level of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storage,</a:t>
            </a:r>
            <a:r>
              <a:rPr lang="en-US" sz="2400" cap="none" dirty="0">
                <a:latin typeface="Monotype Corsiva" panose="03010101010201010101" pitchFamily="66" charset="0"/>
              </a:rPr>
              <a:t> computers allow you to store a large amount of information, like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movies, pictures and documents indefinitely and without deterioration.</a:t>
            </a:r>
            <a:endParaRPr lang="en-US" sz="2400" cap="none" dirty="0">
              <a:latin typeface="Monotype Corsiva" panose="03010101010201010101" pitchFamily="66" charset="0"/>
            </a:endParaRPr>
          </a:p>
          <a:p>
            <a:pPr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cap="none" dirty="0">
                <a:latin typeface="Monotype Corsiva" panose="03010101010201010101" pitchFamily="66" charset="0"/>
              </a:rPr>
              <a:t>Computers keep you entertained with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movies and games</a:t>
            </a:r>
            <a:r>
              <a:rPr lang="en-US" sz="2400" cap="none" dirty="0">
                <a:latin typeface="Monotype Corsiva" panose="03010101010201010101" pitchFamily="66" charset="0"/>
              </a:rPr>
              <a:t>.</a:t>
            </a:r>
          </a:p>
          <a:p>
            <a:pPr fontAlgn="base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cap="none" dirty="0">
                <a:latin typeface="Monotype Corsiva" panose="03010101010201010101" pitchFamily="66" charset="0"/>
              </a:rPr>
              <a:t>They helps you to </a:t>
            </a:r>
            <a:r>
              <a:rPr lang="en-GB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organise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 your data and information </a:t>
            </a:r>
            <a:r>
              <a:rPr lang="en-US" sz="2400" cap="none" dirty="0">
                <a:latin typeface="Monotype Corsiva" panose="03010101010201010101" pitchFamily="66" charset="0"/>
              </a:rPr>
              <a:t>; for example, you have the possibility to create </a:t>
            </a:r>
            <a:r>
              <a:rPr lang="en-US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folders </a:t>
            </a:r>
            <a:r>
              <a:rPr lang="en-US" sz="2400" cap="none" dirty="0">
                <a:latin typeface="Monotype Corsiva" panose="03010101010201010101" pitchFamily="66" charset="0"/>
              </a:rPr>
              <a:t>in order to classify your information, with a computer.</a:t>
            </a:r>
          </a:p>
          <a:p>
            <a:pPr fontAlgn="base">
              <a:buFont typeface="Wingdings" panose="05000000000000000000" pitchFamily="2" charset="2"/>
              <a:buChar char="Ø"/>
            </a:pPr>
            <a:endParaRPr lang="fr-FR" sz="2400" cap="none" dirty="0"/>
          </a:p>
        </p:txBody>
      </p:sp>
      <p:sp>
        <p:nvSpPr>
          <p:cNvPr id="4" name="AutoShape 2" descr="Un système de télécommunications optimisé pour une entreprise performante -  Synoméga - Ile de Fran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13204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91536" y="0"/>
            <a:ext cx="10477035" cy="988214"/>
          </a:xfrm>
        </p:spPr>
        <p:txBody>
          <a:bodyPr>
            <a:normAutofit/>
          </a:bodyPr>
          <a:lstStyle/>
          <a:p>
            <a:r>
              <a:rPr lang="en-GB" sz="3200" b="1" u="sng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Some curiosities about computers </a:t>
            </a:r>
            <a:endParaRPr lang="en-GB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/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60727" y="915076"/>
                <a:ext cx="11316747" cy="5737393"/>
              </a:xfrm>
            </p:spPr>
            <p:txBody>
              <a:bodyPr>
                <a:noAutofit/>
              </a:bodyPr>
              <a:lstStyle/>
              <a:p>
                <a:pPr marL="0" indent="0" algn="just" fontAlgn="base">
                  <a:lnSpc>
                    <a:spcPct val="100000"/>
                  </a:lnSpc>
                  <a:buNone/>
                </a:pPr>
                <a:r>
                  <a:rPr lang="en-US" sz="2400" cap="none" dirty="0">
                    <a:latin typeface="Monotype Corsiva" panose="03010101010201010101" pitchFamily="66" charset="0"/>
                  </a:rPr>
                  <a:t>	T</a:t>
                </a:r>
                <a:r>
                  <a:rPr lang="en-GB" sz="2400" cap="none" dirty="0">
                    <a:latin typeface="Monotype Corsiva" panose="03010101010201010101" pitchFamily="66" charset="0"/>
                  </a:rPr>
                  <a:t>he development of computers has been greatly influenced by :</a:t>
                </a:r>
              </a:p>
              <a:p>
                <a:pPr algn="just" fontAlgn="base">
                  <a:lnSpc>
                    <a:spcPct val="100000"/>
                  </a:lnSpc>
                  <a:buClr>
                    <a:srgbClr val="002060"/>
                  </a:buClr>
                  <a:buFont typeface="Courier New" panose="02070309020205020404" pitchFamily="49" charset="0"/>
                  <a:buChar char="o"/>
                </a:pP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Blaise Pascal</a:t>
                </a:r>
                <a:r>
                  <a:rPr lang="en-GB" sz="2400" cap="none" dirty="0">
                    <a:latin typeface="Monotype Corsiva" panose="03010101010201010101" pitchFamily="66" charset="0"/>
                  </a:rPr>
                  <a:t>, who invented the first automatic calculator : </a:t>
                </a: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The Pascaline.</a:t>
                </a:r>
                <a:endParaRPr lang="en-GB" sz="2400" cap="none" dirty="0">
                  <a:latin typeface="Monotype Corsiva" panose="03010101010201010101" pitchFamily="66" charset="0"/>
                </a:endParaRPr>
              </a:p>
              <a:p>
                <a:pPr algn="just" fontAlgn="base">
                  <a:lnSpc>
                    <a:spcPct val="100000"/>
                  </a:lnSpc>
                  <a:buClr>
                    <a:srgbClr val="002060"/>
                  </a:buClr>
                  <a:buFont typeface="Courier New" panose="02070309020205020404" pitchFamily="49" charset="0"/>
                  <a:buChar char="o"/>
                </a:pP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Alan Turing</a:t>
                </a:r>
                <a:r>
                  <a:rPr lang="en-GB" sz="2400" cap="none" dirty="0">
                    <a:latin typeface="Monotype Corsiva" panose="03010101010201010101" pitchFamily="66" charset="0"/>
                  </a:rPr>
                  <a:t>, who developed the concept of </a:t>
                </a: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modern computers and Artificial Intelligence.</a:t>
                </a:r>
              </a:p>
              <a:p>
                <a:pPr algn="just" fontAlgn="base">
                  <a:lnSpc>
                    <a:spcPct val="100000"/>
                  </a:lnSpc>
                  <a:buClr>
                    <a:srgbClr val="002060"/>
                  </a:buClr>
                  <a:buFont typeface="Courier New" panose="02070309020205020404" pitchFamily="49" charset="0"/>
                  <a:buChar char="o"/>
                </a:pP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IBM</a:t>
                </a:r>
                <a:r>
                  <a:rPr lang="en-GB" sz="2400" cap="none" dirty="0">
                    <a:latin typeface="Monotype Corsiva" panose="03010101010201010101" pitchFamily="66" charset="0"/>
                  </a:rPr>
                  <a:t>, the American firm which invented the first best modern computers.</a:t>
                </a:r>
              </a:p>
              <a:p>
                <a:pPr algn="just" fontAlgn="base">
                  <a:lnSpc>
                    <a:spcPct val="100000"/>
                  </a:lnSpc>
                  <a:buClr>
                    <a:srgbClr val="002060"/>
                  </a:buClr>
                  <a:buFont typeface="Courier New" panose="02070309020205020404" pitchFamily="49" charset="0"/>
                  <a:buChar char="o"/>
                </a:pP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Steeve Jobs and Bill Gates</a:t>
                </a:r>
                <a:r>
                  <a:rPr lang="en-GB" sz="2400" cap="none" dirty="0">
                    <a:latin typeface="Monotype Corsiva" panose="03010101010201010101" pitchFamily="66" charset="0"/>
                  </a:rPr>
                  <a:t>, who designed individually the best OS of all time : </a:t>
                </a: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the macOS and windows families.</a:t>
                </a:r>
              </a:p>
              <a:p>
                <a:pPr algn="just" fontAlgn="base">
                  <a:lnSpc>
                    <a:spcPct val="100000"/>
                  </a:lnSpc>
                  <a:buClr>
                    <a:srgbClr val="002060"/>
                  </a:buClr>
                  <a:buFont typeface="Courier New" panose="02070309020205020404" pitchFamily="49" charset="0"/>
                  <a:buChar char="o"/>
                </a:pP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Google and Apple</a:t>
                </a:r>
                <a:r>
                  <a:rPr lang="en-GB" sz="2400" cap="none" dirty="0">
                    <a:latin typeface="Monotype Corsiva" panose="03010101010201010101" pitchFamily="66" charset="0"/>
                  </a:rPr>
                  <a:t>, which dominate today, the world of smartphones with the OS : </a:t>
                </a: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Android and IOS.</a:t>
                </a:r>
              </a:p>
              <a:p>
                <a:pPr algn="just" fontAlgn="base">
                  <a:lnSpc>
                    <a:spcPct val="100000"/>
                  </a:lnSpc>
                  <a:buClr>
                    <a:srgbClr val="002060"/>
                  </a:buClr>
                  <a:buFont typeface="Courier New" panose="02070309020205020404" pitchFamily="49" charset="0"/>
                  <a:buChar char="o"/>
                </a:pPr>
                <a:r>
                  <a:rPr lang="en-GB" sz="2400" cap="none" dirty="0">
                    <a:latin typeface="Monotype Corsiva" panose="03010101010201010101" pitchFamily="66" charset="0"/>
                  </a:rPr>
                  <a:t>The greatest computer manufacturing companies of </a:t>
                </a:r>
                <a:r>
                  <a:rPr lang="en-US" sz="2400" cap="none" dirty="0">
                    <a:latin typeface="Monotype Corsiva" panose="03010101010201010101" pitchFamily="66" charset="0"/>
                  </a:rPr>
                  <a:t>today</a:t>
                </a:r>
                <a:r>
                  <a:rPr lang="en-GB" sz="2400" cap="none" dirty="0">
                    <a:latin typeface="Monotype Corsiva" panose="03010101010201010101" pitchFamily="66" charset="0"/>
                  </a:rPr>
                  <a:t> are : </a:t>
                </a: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Dell, Acer, Asus, Lenovo, Samsung, Apple, Google, NVDIA (for graphic cards), Intel and AMD (both for the manufacture of processors).</a:t>
                </a:r>
              </a:p>
              <a:p>
                <a:pPr algn="just" fontAlgn="base">
                  <a:lnSpc>
                    <a:spcPct val="100000"/>
                  </a:lnSpc>
                  <a:buClr>
                    <a:srgbClr val="002060"/>
                  </a:buClr>
                  <a:buFont typeface="Courier New" panose="02070309020205020404" pitchFamily="49" charset="0"/>
                  <a:buChar char="o"/>
                </a:pPr>
                <a:r>
                  <a:rPr lang="en-GB" sz="2400" cap="none" dirty="0">
                    <a:latin typeface="Monotype Corsiva" panose="03010101010201010101" pitchFamily="66" charset="0"/>
                  </a:rPr>
                  <a:t>To take the full measure of the power of today’s computers, it should be noted that the most powerful computer in the world today, is the super calculator </a:t>
                </a: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FUGAKU</a:t>
                </a:r>
                <a:r>
                  <a:rPr lang="en-GB" sz="2400" cap="none" dirty="0">
                    <a:latin typeface="Monotype Corsiva" panose="03010101010201010101" pitchFamily="66" charset="0"/>
                  </a:rPr>
                  <a:t> developed in </a:t>
                </a: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Japan, between 2014 and 2020</a:t>
                </a:r>
                <a:r>
                  <a:rPr lang="en-GB" sz="2400" cap="none" dirty="0">
                    <a:latin typeface="Monotype Corsiva" panose="03010101010201010101" pitchFamily="66" charset="0"/>
                  </a:rPr>
                  <a:t>. It has a score of </a:t>
                </a:r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442 petaflops</a:t>
                </a:r>
                <a:r>
                  <a:rPr lang="en-GB" sz="2400" cap="none" dirty="0">
                    <a:latin typeface="Monotype Corsiva" panose="03010101010201010101" pitchFamily="66" charset="0"/>
                  </a:rPr>
                  <a:t>, meaning that it can do about </a:t>
                </a:r>
                <a14:m>
                  <m:oMath xmlns:m="http://schemas.openxmlformats.org/officeDocument/2006/math">
                    <m:r>
                      <a:rPr lang="en-US" sz="2400" b="0" i="1" cap="none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442</m:t>
                    </m:r>
                    <m:r>
                      <a:rPr lang="en-US" sz="2400" b="0" i="1" cap="none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b="0" i="1" cap="none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cap="none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cap="none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lang="en-GB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 operations in one </a:t>
                </a:r>
                <a:r>
                  <a:rPr lang="en-US" sz="2400" cap="none" dirty="0">
                    <a:solidFill>
                      <a:srgbClr val="002060"/>
                    </a:solidFill>
                    <a:latin typeface="Monotype Corsiva" panose="03010101010201010101" pitchFamily="66" charset="0"/>
                  </a:rPr>
                  <a:t>second.</a:t>
                </a:r>
                <a:endParaRPr lang="en-GB" sz="2400" cap="none" dirty="0">
                  <a:latin typeface="Monotype Corsiva" panose="03010101010201010101" pitchFamily="66" charset="0"/>
                </a:endParaRPr>
              </a:p>
            </p:txBody>
          </p:sp>
        </mc:Choice>
        <mc:Fallback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60727" y="915076"/>
                <a:ext cx="11316747" cy="5737393"/>
              </a:xfrm>
              <a:blipFill>
                <a:blip r:embed="rId2"/>
                <a:stretch>
                  <a:fillRect l="-754" t="-956" r="-808" b="-2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4541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op 10 Computer Companies in the world – Leading online web reviews">
            <a:extLst>
              <a:ext uri="{FF2B5EF4-FFF2-40B4-BE49-F238E27FC236}">
                <a16:creationId xmlns:a16="http://schemas.microsoft.com/office/drawing/2014/main" id="{D9043A6D-DD65-138E-1DD6-0AB3F0BB8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815" y="389485"/>
            <a:ext cx="3903341" cy="292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éduire le pouvoir des GAFAM, ici et maintenant. - CréaTech-Plescop">
            <a:extLst>
              <a:ext uri="{FF2B5EF4-FFF2-40B4-BE49-F238E27FC236}">
                <a16:creationId xmlns:a16="http://schemas.microsoft.com/office/drawing/2014/main" id="{E09931DE-508F-8663-982F-7F2CC9E22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555" y="899491"/>
            <a:ext cx="3876675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9FC9A384-40A4-CB52-20C2-2570BC8219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53818" y="4619668"/>
            <a:ext cx="5306367" cy="608733"/>
          </a:xfrm>
        </p:spPr>
        <p:txBody>
          <a:bodyPr>
            <a:normAutofit/>
          </a:bodyPr>
          <a:lstStyle/>
          <a:p>
            <a:pPr marL="0" lvl="0" indent="0" algn="just" defTabSz="914400">
              <a:buNone/>
            </a:pPr>
            <a:r>
              <a:rPr kumimoji="0" lang="en-US" altLang="fr-FR" sz="2400" b="1" strike="noStrike" cap="none" normalizeH="0" baseline="0" dirty="0">
                <a:ln>
                  <a:noFill/>
                </a:ln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BIG 5 TECH GIANTS : GAFAM - FAAMG</a:t>
            </a:r>
            <a:endParaRPr kumimoji="0" lang="fr-FR" altLang="fr-FR" sz="2400" b="1" strike="noStrike" cap="none" normalizeH="0" baseline="0" dirty="0">
              <a:ln>
                <a:noFill/>
              </a:ln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  <p:pic>
        <p:nvPicPr>
          <p:cNvPr id="5128" name="Picture 8" descr="Computer brand Logos">
            <a:extLst>
              <a:ext uri="{FF2B5EF4-FFF2-40B4-BE49-F238E27FC236}">
                <a16:creationId xmlns:a16="http://schemas.microsoft.com/office/drawing/2014/main" id="{B6B295BE-5845-8D7C-259A-C8AF1FB3A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313223"/>
            <a:ext cx="4897276" cy="296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2606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2" name="Picture 8" descr="See the source image">
            <a:extLst>
              <a:ext uri="{FF2B5EF4-FFF2-40B4-BE49-F238E27FC236}">
                <a16:creationId xmlns:a16="http://schemas.microsoft.com/office/drawing/2014/main" id="{9378EFE9-E229-E544-1D19-82D7400B1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515" y="773366"/>
            <a:ext cx="3905780" cy="24097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See the source image">
            <a:extLst>
              <a:ext uri="{FF2B5EF4-FFF2-40B4-BE49-F238E27FC236}">
                <a16:creationId xmlns:a16="http://schemas.microsoft.com/office/drawing/2014/main" id="{96FC7AF4-55F9-EC8D-A167-DC7431391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2575" y="576177"/>
            <a:ext cx="2058341" cy="27043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See the source image">
            <a:extLst>
              <a:ext uri="{FF2B5EF4-FFF2-40B4-BE49-F238E27FC236}">
                <a16:creationId xmlns:a16="http://schemas.microsoft.com/office/drawing/2014/main" id="{29A35040-E03B-5AC0-FCD9-D752CC24D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285" y="3684529"/>
            <a:ext cx="3788530" cy="26544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 descr="See the source image">
            <a:extLst>
              <a:ext uri="{FF2B5EF4-FFF2-40B4-BE49-F238E27FC236}">
                <a16:creationId xmlns:a16="http://schemas.microsoft.com/office/drawing/2014/main" id="{342730F2-3825-1193-137D-EDA7A3B91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85" y="3722097"/>
            <a:ext cx="4283977" cy="24097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4" name="Picture 20" descr="See the source image">
            <a:extLst>
              <a:ext uri="{FF2B5EF4-FFF2-40B4-BE49-F238E27FC236}">
                <a16:creationId xmlns:a16="http://schemas.microsoft.com/office/drawing/2014/main" id="{BEECEC4F-955A-E4C5-E3F9-6EBE07794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914" y="705295"/>
            <a:ext cx="1879353" cy="254587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D98AA5E-446E-2231-89A7-238DA27578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42664" y="6131834"/>
            <a:ext cx="1579013" cy="726166"/>
          </a:xfrm>
        </p:spPr>
        <p:txBody>
          <a:bodyPr>
            <a:normAutofit/>
          </a:bodyPr>
          <a:lstStyle/>
          <a:p>
            <a:pPr marL="0" lvl="0" indent="0" algn="just" defTabSz="914400">
              <a:buNone/>
            </a:pPr>
            <a:r>
              <a:rPr kumimoji="0" lang="en-US" altLang="fr-FR" sz="2400" b="1" strike="noStrike" cap="none" normalizeH="0" baseline="0" dirty="0">
                <a:ln>
                  <a:noFill/>
                </a:ln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Bill Gates</a:t>
            </a:r>
            <a:endParaRPr kumimoji="0" lang="fr-FR" altLang="fr-FR" sz="2400" b="1" strike="noStrike" cap="none" normalizeH="0" baseline="0" dirty="0">
              <a:ln>
                <a:noFill/>
              </a:ln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0C7803CC-5BCB-7177-433F-94AD1D74EF3F}"/>
              </a:ext>
            </a:extLst>
          </p:cNvPr>
          <p:cNvSpPr txBox="1">
            <a:spLocks/>
          </p:cNvSpPr>
          <p:nvPr/>
        </p:nvSpPr>
        <p:spPr>
          <a:xfrm>
            <a:off x="9052713" y="3222284"/>
            <a:ext cx="1579013" cy="72616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fr-FR" sz="2400" b="1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Blaise Pascal </a:t>
            </a:r>
            <a:endParaRPr lang="fr-FR" altLang="fr-FR" sz="2400" b="1" cap="none" dirty="0"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34384A27-8200-B693-BD26-F4FE70B3CDB2}"/>
              </a:ext>
            </a:extLst>
          </p:cNvPr>
          <p:cNvSpPr txBox="1">
            <a:spLocks/>
          </p:cNvSpPr>
          <p:nvPr/>
        </p:nvSpPr>
        <p:spPr>
          <a:xfrm>
            <a:off x="3723185" y="6187646"/>
            <a:ext cx="1579013" cy="726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fr-FR" sz="2400" b="1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Steeve Jobs</a:t>
            </a:r>
            <a:endParaRPr lang="fr-FR" altLang="fr-FR" sz="2400" b="1" cap="none" dirty="0"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27E7B306-A5CF-A973-711C-0FB2B8B3B190}"/>
              </a:ext>
            </a:extLst>
          </p:cNvPr>
          <p:cNvSpPr txBox="1">
            <a:spLocks/>
          </p:cNvSpPr>
          <p:nvPr/>
        </p:nvSpPr>
        <p:spPr>
          <a:xfrm>
            <a:off x="5791958" y="3240687"/>
            <a:ext cx="1229627" cy="595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fr-FR" sz="2400" b="1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Fugaku</a:t>
            </a:r>
            <a:endParaRPr lang="fr-FR" altLang="fr-FR" sz="2400" b="1" cap="none" dirty="0"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20B9B289-FDFE-5D9D-D6BB-C7BB581F50DF}"/>
              </a:ext>
            </a:extLst>
          </p:cNvPr>
          <p:cNvSpPr txBox="1">
            <a:spLocks/>
          </p:cNvSpPr>
          <p:nvPr/>
        </p:nvSpPr>
        <p:spPr>
          <a:xfrm>
            <a:off x="1786534" y="3240687"/>
            <a:ext cx="1579013" cy="726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fr-FR" sz="2400" b="1" cap="none" dirty="0">
                <a:solidFill>
                  <a:srgbClr val="002060"/>
                </a:solidFill>
                <a:latin typeface="Monotype Corsiva" panose="03010101010201010101" pitchFamily="66" charset="0"/>
                <a:cs typeface="Open Sans" panose="020B0606030504020204" pitchFamily="34" charset="0"/>
              </a:rPr>
              <a:t>Alan Turing </a:t>
            </a:r>
            <a:endParaRPr lang="fr-FR" altLang="fr-FR" sz="2400" b="1" cap="none" dirty="0">
              <a:solidFill>
                <a:srgbClr val="002060"/>
              </a:solidFill>
              <a:latin typeface="Monotype Corsiva" panose="03010101010201010101" pitchFamily="66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21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48009" y="83242"/>
            <a:ext cx="3295981" cy="800910"/>
          </a:xfrm>
        </p:spPr>
        <p:txBody>
          <a:bodyPr/>
          <a:lstStyle/>
          <a:p>
            <a:r>
              <a:rPr lang="fr-FR" b="1" u="sng" dirty="0">
                <a:solidFill>
                  <a:schemeClr val="accent1">
                    <a:lumMod val="50000"/>
                  </a:schemeClr>
                </a:solidFill>
                <a:latin typeface="Monotype Corsiva" panose="03010101010201010101" pitchFamily="66" charset="0"/>
              </a:rPr>
              <a:t>Conclusion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928225" y="884152"/>
            <a:ext cx="10335550" cy="5214645"/>
          </a:xfrm>
        </p:spPr>
        <p:txBody>
          <a:bodyPr>
            <a:normAutofit lnSpcReduction="10000"/>
          </a:bodyPr>
          <a:lstStyle/>
          <a:p>
            <a:pPr marL="0" indent="0" algn="just" fontAlgn="base">
              <a:buNone/>
            </a:pPr>
            <a:r>
              <a:rPr lang="fr-FR" sz="2400" cap="none" dirty="0">
                <a:latin typeface="Monotype Corsiva" panose="03010101010201010101" pitchFamily="66" charset="0"/>
              </a:rPr>
              <a:t>	</a:t>
            </a:r>
            <a:r>
              <a:rPr lang="en-GB" sz="2400" cap="none" dirty="0">
                <a:latin typeface="Monotype Corsiva" panose="03010101010201010101" pitchFamily="66" charset="0"/>
              </a:rPr>
              <a:t>In short, computers are the most indispensable gadgets of this century. They allow us to automate and quickly perform almost any type of task. To end, it is rightly said that : </a:t>
            </a:r>
            <a:r>
              <a:rPr lang="en-GB" sz="2400" cap="none" dirty="0">
                <a:solidFill>
                  <a:srgbClr val="002060"/>
                </a:solidFill>
                <a:latin typeface="Monotype Corsiva" panose="03010101010201010101" pitchFamily="66" charset="0"/>
              </a:rPr>
              <a:t>“The illiterate of this century is the one who does not master the computer devices.</a:t>
            </a:r>
          </a:p>
          <a:p>
            <a:pPr marL="0" indent="0" algn="just" fontAlgn="base">
              <a:buNone/>
            </a:pPr>
            <a:r>
              <a:rPr lang="en-GB" sz="2400" cap="none" dirty="0">
                <a:latin typeface="Monotype Corsiva" panose="03010101010201010101" pitchFamily="66" charset="0"/>
              </a:rPr>
              <a:t>	</a:t>
            </a:r>
            <a:r>
              <a:rPr lang="en-US" sz="2400" cap="none" dirty="0">
                <a:latin typeface="Monotype Corsiva" panose="03010101010201010101" pitchFamily="66" charset="0"/>
              </a:rPr>
              <a:t>This presentation benefited mainly from the valuable information of the websites and search engines :</a:t>
            </a:r>
          </a:p>
          <a:p>
            <a:pPr lvl="1" algn="just" fontAlgn="base">
              <a:buFont typeface="Wingdings" panose="05000000000000000000" pitchFamily="2" charset="2"/>
              <a:buChar char="Ø"/>
            </a:pPr>
            <a:r>
              <a:rPr lang="en-US" sz="2200" cap="none" dirty="0">
                <a:solidFill>
                  <a:schemeClr val="accent1">
                    <a:lumMod val="75000"/>
                  </a:schemeClr>
                </a:solidFill>
                <a:latin typeface="Monotype Corsiva" panose="03010101010201010101" pitchFamily="66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https://www.bing.com</a:t>
            </a:r>
            <a:r>
              <a:rPr lang="en-US" sz="2200" cap="none" dirty="0">
                <a:solidFill>
                  <a:schemeClr val="accent1">
                    <a:lumMod val="75000"/>
                  </a:schemeClr>
                </a:solidFill>
                <a:latin typeface="Monotype Corsiva" panose="03010101010201010101" pitchFamily="66" charset="0"/>
              </a:rPr>
              <a:t>/</a:t>
            </a:r>
          </a:p>
          <a:p>
            <a:pPr lvl="1" algn="just" fontAlgn="base">
              <a:buFont typeface="Wingdings" panose="05000000000000000000" pitchFamily="2" charset="2"/>
              <a:buChar char="Ø"/>
            </a:pPr>
            <a:r>
              <a:rPr lang="en-US" sz="2200" u="sng" cap="none" dirty="0">
                <a:solidFill>
                  <a:schemeClr val="accent1">
                    <a:lumMod val="75000"/>
                  </a:schemeClr>
                </a:solidFill>
                <a:latin typeface="Monotype Corsiva" panose="03010101010201010101" pitchFamily="66" charset="0"/>
              </a:rPr>
              <a:t>https://www.google.com/</a:t>
            </a:r>
          </a:p>
          <a:p>
            <a:pPr lvl="1" algn="just" fontAlgn="base">
              <a:buFont typeface="Wingdings" panose="05000000000000000000" pitchFamily="2" charset="2"/>
              <a:buChar char="Ø"/>
            </a:pPr>
            <a:r>
              <a:rPr lang="en-US" sz="2200" cap="none" dirty="0">
                <a:solidFill>
                  <a:schemeClr val="accent1">
                    <a:lumMod val="75000"/>
                  </a:schemeClr>
                </a:solidFill>
                <a:latin typeface="Monotype Corsiva" panose="03010101010201010101" pitchFamily="66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https://edu.gcfglobal.org/en/computerbasics/what-is-a-computer/1/</a:t>
            </a:r>
            <a:endParaRPr lang="en-US" sz="2200" cap="none" dirty="0">
              <a:solidFill>
                <a:schemeClr val="accent1">
                  <a:lumMod val="75000"/>
                </a:schemeClr>
              </a:solidFill>
              <a:latin typeface="Monotype Corsiva" panose="03010101010201010101" pitchFamily="66" charset="0"/>
            </a:endParaRPr>
          </a:p>
          <a:p>
            <a:pPr lvl="1" algn="just" fontAlgn="base">
              <a:buFont typeface="Wingdings" panose="05000000000000000000" pitchFamily="2" charset="2"/>
              <a:buChar char="Ø"/>
            </a:pPr>
            <a:r>
              <a:rPr lang="en-US" sz="2200" cap="none" dirty="0">
                <a:solidFill>
                  <a:schemeClr val="accent1">
                    <a:lumMod val="75000"/>
                  </a:schemeClr>
                </a:solidFill>
                <a:latin typeface="Monotype Corsiva" panose="03010101010201010101" pitchFamily="66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https://www.toppr.com/guides/computer-aptitude-and-knowledge/basics-of-computers/history-of-computers/</a:t>
            </a:r>
            <a:endParaRPr lang="en-US" sz="2200" cap="none" dirty="0">
              <a:solidFill>
                <a:schemeClr val="accent1">
                  <a:lumMod val="75000"/>
                </a:schemeClr>
              </a:solidFill>
              <a:latin typeface="Monotype Corsiva" panose="03010101010201010101" pitchFamily="66" charset="0"/>
            </a:endParaRPr>
          </a:p>
          <a:p>
            <a:pPr lvl="1" algn="just" fontAlgn="base">
              <a:buFont typeface="Wingdings" panose="05000000000000000000" pitchFamily="2" charset="2"/>
              <a:buChar char="Ø"/>
            </a:pPr>
            <a:r>
              <a:rPr lang="en-US" sz="2200" u="sng" cap="none" dirty="0">
                <a:solidFill>
                  <a:schemeClr val="accent1">
                    <a:lumMod val="75000"/>
                  </a:schemeClr>
                </a:solidFill>
                <a:latin typeface="Monotype Corsiva" panose="03010101010201010101" pitchFamily="66" charset="0"/>
              </a:rPr>
              <a:t>https://www.rtbf.be/article/l-ordinateur-le-plus-puissant-du-monde-peut-calculer-44201-millions-de-milliards-d-operations-a-la-seconde-10881878</a:t>
            </a:r>
            <a:endParaRPr lang="en-US" sz="2200" cap="none" dirty="0">
              <a:latin typeface="Monotype Corsiva" panose="03010101010201010101" pitchFamily="66" charset="0"/>
            </a:endParaRPr>
          </a:p>
          <a:p>
            <a:pPr marL="0" indent="0" algn="just" fontAlgn="base">
              <a:buNone/>
            </a:pPr>
            <a:endParaRPr lang="en-US" sz="2400" cap="none" dirty="0">
              <a:latin typeface="Monotype Corsiva" panose="03010101010201010101" pitchFamily="66" charset="0"/>
            </a:endParaRPr>
          </a:p>
          <a:p>
            <a:pPr algn="just" fontAlgn="base">
              <a:buFont typeface="Wingdings" panose="05000000000000000000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65437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Ronds dans l’eau">
  <a:themeElements>
    <a:clrScheme name="Ronds dans l’eau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Ronds dans l’eau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onds dans l’eau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Ronds dans l’eau</Template>
  <TotalTime>4545</TotalTime>
  <Words>1242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Cambria Math</vt:lpstr>
      <vt:lpstr>Courier New</vt:lpstr>
      <vt:lpstr>Monotype Corsiva</vt:lpstr>
      <vt:lpstr>Times New Roman</vt:lpstr>
      <vt:lpstr>Tw Cen MT</vt:lpstr>
      <vt:lpstr>Wingdings</vt:lpstr>
      <vt:lpstr>Ronds dans l’eau</vt:lpstr>
      <vt:lpstr>PowerPoint Presentation</vt:lpstr>
      <vt:lpstr>Group Members</vt:lpstr>
      <vt:lpstr>Plan</vt:lpstr>
      <vt:lpstr>Introduction</vt:lpstr>
      <vt:lpstr>I - History</vt:lpstr>
      <vt:lpstr>PowerPoint Presentation</vt:lpstr>
      <vt:lpstr>ii - Presentation of a computer</vt:lpstr>
      <vt:lpstr>PowerPoint Presentation</vt:lpstr>
      <vt:lpstr>Iii - Types of computer</vt:lpstr>
      <vt:lpstr>PowerPoint Presentation</vt:lpstr>
      <vt:lpstr>Iv - Benefits of using a computer</vt:lpstr>
      <vt:lpstr>Some curiosities about computers 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IVANN</dc:creator>
  <cp:lastModifiedBy>Ivann</cp:lastModifiedBy>
  <cp:revision>48</cp:revision>
  <dcterms:created xsi:type="dcterms:W3CDTF">2021-04-10T20:21:11Z</dcterms:created>
  <dcterms:modified xsi:type="dcterms:W3CDTF">2022-11-15T18:56:24Z</dcterms:modified>
</cp:coreProperties>
</file>