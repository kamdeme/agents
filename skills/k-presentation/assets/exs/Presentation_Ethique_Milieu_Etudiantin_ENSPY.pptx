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1" r:id="rId1"/>
  </p:sldMasterIdLst>
  <p:sldIdLst>
    <p:sldId id="257" r:id="rId2"/>
    <p:sldId id="258" r:id="rId3"/>
    <p:sldId id="259" r:id="rId4"/>
    <p:sldId id="260" r:id="rId5"/>
    <p:sldId id="262" r:id="rId6"/>
    <p:sldId id="263" r:id="rId7"/>
    <p:sldId id="267" r:id="rId8"/>
    <p:sldId id="265" r:id="rId9"/>
    <p:sldId id="266" r:id="rId10"/>
  </p:sldIdLst>
  <p:sldSz cx="10691813"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98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ctrTitle"/>
          </p:nvPr>
        </p:nvSpPr>
        <p:spPr>
          <a:xfrm>
            <a:off x="1535556" y="1433876"/>
            <a:ext cx="7620702" cy="2765943"/>
          </a:xfrm>
        </p:spPr>
        <p:txBody>
          <a:bodyPr anchor="b">
            <a:normAutofit/>
          </a:bodyPr>
          <a:lstStyle>
            <a:lvl1pPr algn="ctr">
              <a:defRPr sz="5291"/>
            </a:lvl1pPr>
          </a:lstStyle>
          <a:p>
            <a:r>
              <a:rPr lang="fr-FR"/>
              <a:t>Modifiez le style du titre</a:t>
            </a:r>
            <a:endParaRPr lang="en-US" dirty="0"/>
          </a:p>
        </p:txBody>
      </p:sp>
      <p:sp>
        <p:nvSpPr>
          <p:cNvPr id="3" name="Subtitle 2"/>
          <p:cNvSpPr>
            <a:spLocks noGrp="1"/>
          </p:cNvSpPr>
          <p:nvPr>
            <p:ph type="subTitle" idx="1"/>
          </p:nvPr>
        </p:nvSpPr>
        <p:spPr>
          <a:xfrm>
            <a:off x="1535556" y="4283817"/>
            <a:ext cx="7620702" cy="1511934"/>
          </a:xfrm>
        </p:spPr>
        <p:txBody>
          <a:bodyPr>
            <a:normAutofit/>
          </a:bodyPr>
          <a:lstStyle>
            <a:lvl1pPr marL="0" indent="0" algn="ctr">
              <a:buNone/>
              <a:defRPr sz="2425">
                <a:solidFill>
                  <a:schemeClr val="bg1">
                    <a:lumMod val="50000"/>
                  </a:schemeClr>
                </a:solidFill>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93138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2" name="Content Placeholder 2"/>
          <p:cNvSpPr>
            <a:spLocks noGrp="1"/>
          </p:cNvSpPr>
          <p:nvPr>
            <p:ph sz="quarter" idx="13"/>
          </p:nvPr>
        </p:nvSpPr>
        <p:spPr>
          <a:xfrm>
            <a:off x="801336" y="2609282"/>
            <a:ext cx="9088591" cy="37744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724226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a:xfrm>
            <a:off x="801337" y="913339"/>
            <a:ext cx="9078002" cy="3016836"/>
          </a:xfrm>
        </p:spPr>
        <p:txBody>
          <a:bodyPr anchor="b">
            <a:normAutofit/>
          </a:bodyPr>
          <a:lstStyle>
            <a:lvl1pPr>
              <a:defRPr sz="4409"/>
            </a:lvl1pPr>
          </a:lstStyle>
          <a:p>
            <a:r>
              <a:rPr lang="fr-FR"/>
              <a:t>Modifiez le style du titre</a:t>
            </a:r>
            <a:endParaRPr lang="en-US" dirty="0"/>
          </a:p>
        </p:txBody>
      </p:sp>
      <p:sp>
        <p:nvSpPr>
          <p:cNvPr id="3" name="Text Placeholder 2"/>
          <p:cNvSpPr>
            <a:spLocks noGrp="1"/>
          </p:cNvSpPr>
          <p:nvPr>
            <p:ph type="body" idx="1"/>
          </p:nvPr>
        </p:nvSpPr>
        <p:spPr>
          <a:xfrm>
            <a:off x="801337" y="4031671"/>
            <a:ext cx="9078002" cy="1508168"/>
          </a:xfrm>
        </p:spPr>
        <p:txBody>
          <a:bodyPr>
            <a:normAutofit/>
          </a:bodyPr>
          <a:lstStyle>
            <a:lvl1pPr marL="0" indent="0" algn="ctr">
              <a:buNone/>
              <a:defRPr sz="2205">
                <a:solidFill>
                  <a:schemeClr val="bg1">
                    <a:lumMod val="50000"/>
                  </a:schemeClr>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348155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14" name="Title 1"/>
          <p:cNvSpPr>
            <a:spLocks noGrp="1"/>
          </p:cNvSpPr>
          <p:nvPr>
            <p:ph type="title"/>
          </p:nvPr>
        </p:nvSpPr>
        <p:spPr>
          <a:xfrm>
            <a:off x="801339" y="681802"/>
            <a:ext cx="9089138" cy="1759490"/>
          </a:xfrm>
        </p:spPr>
        <p:txBody>
          <a:bodyPr/>
          <a:lstStyle/>
          <a:p>
            <a:r>
              <a:rPr lang="fr-FR"/>
              <a:t>Modifiez le style du titre</a:t>
            </a:r>
            <a:endParaRPr lang="en-US" dirty="0"/>
          </a:p>
        </p:txBody>
      </p:sp>
      <p:sp>
        <p:nvSpPr>
          <p:cNvPr id="12" name="Content Placeholder 2"/>
          <p:cNvSpPr>
            <a:spLocks noGrp="1"/>
          </p:cNvSpPr>
          <p:nvPr>
            <p:ph sz="quarter" idx="13"/>
          </p:nvPr>
        </p:nvSpPr>
        <p:spPr>
          <a:xfrm>
            <a:off x="801337" y="2609282"/>
            <a:ext cx="4477746" cy="37744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3" name="Content Placeholder 3"/>
          <p:cNvSpPr>
            <a:spLocks noGrp="1"/>
          </p:cNvSpPr>
          <p:nvPr>
            <p:ph sz="quarter" idx="14"/>
          </p:nvPr>
        </p:nvSpPr>
        <p:spPr>
          <a:xfrm>
            <a:off x="5412730" y="2609282"/>
            <a:ext cx="4477197" cy="37744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180988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14" name="Title 1"/>
          <p:cNvSpPr>
            <a:spLocks noGrp="1"/>
          </p:cNvSpPr>
          <p:nvPr>
            <p:ph type="title"/>
          </p:nvPr>
        </p:nvSpPr>
        <p:spPr>
          <a:xfrm>
            <a:off x="801339" y="681802"/>
            <a:ext cx="9089138" cy="1759490"/>
          </a:xfrm>
        </p:spPr>
        <p:txBody>
          <a:bodyPr/>
          <a:lstStyle/>
          <a:p>
            <a:r>
              <a:rPr lang="fr-FR"/>
              <a:t>Modifiez le style du titre</a:t>
            </a:r>
            <a:endParaRPr lang="en-US" dirty="0"/>
          </a:p>
        </p:txBody>
      </p:sp>
      <p:sp>
        <p:nvSpPr>
          <p:cNvPr id="3" name="Text Placeholder 2"/>
          <p:cNvSpPr>
            <a:spLocks noGrp="1"/>
          </p:cNvSpPr>
          <p:nvPr>
            <p:ph type="body" idx="1"/>
          </p:nvPr>
        </p:nvSpPr>
        <p:spPr>
          <a:xfrm>
            <a:off x="1005276" y="2613608"/>
            <a:ext cx="4273809" cy="749567"/>
          </a:xfrm>
        </p:spPr>
        <p:txBody>
          <a:bodyPr anchor="b">
            <a:noAutofit/>
          </a:bodyPr>
          <a:lstStyle>
            <a:lvl1pPr marL="0" indent="0">
              <a:lnSpc>
                <a:spcPct val="75000"/>
              </a:lnSpc>
              <a:buNone/>
              <a:defRPr sz="2866"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12" name="Content Placeholder 3"/>
          <p:cNvSpPr>
            <a:spLocks noGrp="1"/>
          </p:cNvSpPr>
          <p:nvPr>
            <p:ph sz="quarter" idx="13"/>
          </p:nvPr>
        </p:nvSpPr>
        <p:spPr>
          <a:xfrm>
            <a:off x="801338" y="3363177"/>
            <a:ext cx="4477746" cy="302054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609364" y="2613608"/>
            <a:ext cx="4281113" cy="749567"/>
          </a:xfrm>
        </p:spPr>
        <p:txBody>
          <a:bodyPr anchor="b">
            <a:noAutofit/>
          </a:bodyPr>
          <a:lstStyle>
            <a:lvl1pPr marL="0" indent="0">
              <a:lnSpc>
                <a:spcPct val="75000"/>
              </a:lnSpc>
              <a:buNone/>
              <a:defRPr sz="2866"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13" name="Content Placeholder 5"/>
          <p:cNvSpPr>
            <a:spLocks noGrp="1"/>
          </p:cNvSpPr>
          <p:nvPr>
            <p:ph sz="quarter" idx="14"/>
          </p:nvPr>
        </p:nvSpPr>
        <p:spPr>
          <a:xfrm>
            <a:off x="5412731" y="3363177"/>
            <a:ext cx="4477198" cy="302054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363667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332507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521998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a:xfrm>
            <a:off x="801338" y="671971"/>
            <a:ext cx="3451414" cy="2230261"/>
          </a:xfrm>
        </p:spPr>
        <p:txBody>
          <a:bodyPr anchor="b"/>
          <a:lstStyle>
            <a:lvl1pPr algn="ctr">
              <a:defRPr sz="3527"/>
            </a:lvl1pPr>
          </a:lstStyle>
          <a:p>
            <a:r>
              <a:rPr lang="fr-FR"/>
              <a:t>Modifiez le style du titre</a:t>
            </a:r>
            <a:endParaRPr lang="en-US" dirty="0"/>
          </a:p>
        </p:txBody>
      </p:sp>
      <p:sp>
        <p:nvSpPr>
          <p:cNvPr id="10" name="Content Placeholder 2"/>
          <p:cNvSpPr>
            <a:spLocks noGrp="1"/>
          </p:cNvSpPr>
          <p:nvPr>
            <p:ph sz="quarter" idx="13"/>
          </p:nvPr>
        </p:nvSpPr>
        <p:spPr>
          <a:xfrm>
            <a:off x="4453223" y="671973"/>
            <a:ext cx="5437252" cy="57117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01338" y="2902232"/>
            <a:ext cx="3451415" cy="3481494"/>
          </a:xfrm>
        </p:spPr>
        <p:txBody>
          <a:bodyPr/>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489556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a:xfrm>
            <a:off x="801339" y="671971"/>
            <a:ext cx="4828642" cy="2230263"/>
          </a:xfrm>
        </p:spPr>
        <p:txBody>
          <a:bodyPr anchor="b"/>
          <a:lstStyle>
            <a:lvl1pPr algn="ctr">
              <a:defRPr sz="3527"/>
            </a:lvl1pPr>
          </a:lstStyle>
          <a:p>
            <a:r>
              <a:rPr lang="fr-FR"/>
              <a:t>Modifiez le style du titre</a:t>
            </a:r>
            <a:endParaRPr lang="en-US" dirty="0"/>
          </a:p>
        </p:txBody>
      </p:sp>
      <p:sp>
        <p:nvSpPr>
          <p:cNvPr id="3" name="Picture Placeholder 2"/>
          <p:cNvSpPr>
            <a:spLocks noGrp="1" noChangeAspect="1"/>
          </p:cNvSpPr>
          <p:nvPr>
            <p:ph type="pic" idx="1"/>
          </p:nvPr>
        </p:nvSpPr>
        <p:spPr>
          <a:xfrm>
            <a:off x="5851348" y="671972"/>
            <a:ext cx="3514654" cy="5711754"/>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fr-FR"/>
              <a:t>Cliquez sur l'icône pour ajouter une image</a:t>
            </a:r>
            <a:endParaRPr lang="en-US" dirty="0"/>
          </a:p>
        </p:txBody>
      </p:sp>
      <p:sp>
        <p:nvSpPr>
          <p:cNvPr id="4" name="Text Placeholder 3"/>
          <p:cNvSpPr>
            <a:spLocks noGrp="1"/>
          </p:cNvSpPr>
          <p:nvPr>
            <p:ph type="body" sz="half" idx="2"/>
          </p:nvPr>
        </p:nvSpPr>
        <p:spPr>
          <a:xfrm>
            <a:off x="801355" y="2902233"/>
            <a:ext cx="4828626" cy="3481493"/>
          </a:xfrm>
        </p:spPr>
        <p:txBody>
          <a:bodyPr/>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270578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a:xfrm>
            <a:off x="801355" y="4728240"/>
            <a:ext cx="9089121" cy="894650"/>
          </a:xfrm>
        </p:spPr>
        <p:txBody>
          <a:bodyPr anchor="b"/>
          <a:lstStyle>
            <a:lvl1pPr>
              <a:defRPr sz="3527"/>
            </a:lvl1pPr>
          </a:lstStyle>
          <a:p>
            <a:r>
              <a:rPr lang="fr-FR"/>
              <a:t>Modifiez le style du titre</a:t>
            </a:r>
            <a:endParaRPr lang="en-US" dirty="0"/>
          </a:p>
        </p:txBody>
      </p:sp>
      <p:sp>
        <p:nvSpPr>
          <p:cNvPr id="3" name="Picture Placeholder 2"/>
          <p:cNvSpPr>
            <a:spLocks noGrp="1" noChangeAspect="1"/>
          </p:cNvSpPr>
          <p:nvPr>
            <p:ph type="pic" idx="1"/>
          </p:nvPr>
        </p:nvSpPr>
        <p:spPr>
          <a:xfrm>
            <a:off x="1038965" y="769703"/>
            <a:ext cx="8613901" cy="3542990"/>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fr-FR"/>
              <a:t>Cliquez sur l'icône pour ajouter une image</a:t>
            </a:r>
            <a:endParaRPr lang="en-US" dirty="0"/>
          </a:p>
        </p:txBody>
      </p:sp>
      <p:sp>
        <p:nvSpPr>
          <p:cNvPr id="4" name="Text Placeholder 3"/>
          <p:cNvSpPr>
            <a:spLocks noGrp="1"/>
          </p:cNvSpPr>
          <p:nvPr>
            <p:ph type="body" sz="half" idx="2"/>
          </p:nvPr>
        </p:nvSpPr>
        <p:spPr>
          <a:xfrm>
            <a:off x="801338" y="5631427"/>
            <a:ext cx="9089139" cy="752299"/>
          </a:xfrm>
        </p:spPr>
        <p:txBody>
          <a:bodyPr/>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393671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a:xfrm>
            <a:off x="801338" y="671972"/>
            <a:ext cx="9089139" cy="3777903"/>
          </a:xfrm>
        </p:spPr>
        <p:txBody>
          <a:bodyPr anchor="ctr"/>
          <a:lstStyle>
            <a:lvl1pPr algn="ctr">
              <a:defRPr sz="3527"/>
            </a:lvl1pPr>
          </a:lstStyle>
          <a:p>
            <a:r>
              <a:rPr lang="fr-FR"/>
              <a:t>Modifiez le style du titre</a:t>
            </a:r>
            <a:endParaRPr lang="en-US" dirty="0"/>
          </a:p>
        </p:txBody>
      </p:sp>
      <p:sp>
        <p:nvSpPr>
          <p:cNvPr id="4" name="Text Placeholder 3"/>
          <p:cNvSpPr>
            <a:spLocks noGrp="1"/>
          </p:cNvSpPr>
          <p:nvPr>
            <p:ph type="body" sz="half" idx="2"/>
          </p:nvPr>
        </p:nvSpPr>
        <p:spPr>
          <a:xfrm>
            <a:off x="801338" y="4635037"/>
            <a:ext cx="9089139" cy="1748690"/>
          </a:xfrm>
        </p:spPr>
        <p:txBody>
          <a:bodyPr anchor="ctr"/>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706440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a:xfrm>
            <a:off x="1268260" y="961867"/>
            <a:ext cx="8158078" cy="3009226"/>
          </a:xfrm>
        </p:spPr>
        <p:txBody>
          <a:bodyPr anchor="ctr"/>
          <a:lstStyle>
            <a:lvl1pPr>
              <a:defRPr sz="3527"/>
            </a:lvl1pPr>
          </a:lstStyle>
          <a:p>
            <a:r>
              <a:rPr lang="fr-FR"/>
              <a:t>Modifiez le style du titre</a:t>
            </a:r>
            <a:endParaRPr lang="en-US" dirty="0"/>
          </a:p>
        </p:txBody>
      </p:sp>
      <p:sp>
        <p:nvSpPr>
          <p:cNvPr id="12" name="Text Placeholder 3"/>
          <p:cNvSpPr>
            <a:spLocks noGrp="1"/>
          </p:cNvSpPr>
          <p:nvPr>
            <p:ph type="body" sz="half" idx="13"/>
          </p:nvPr>
        </p:nvSpPr>
        <p:spPr>
          <a:xfrm>
            <a:off x="1508925" y="3979392"/>
            <a:ext cx="7675356" cy="655644"/>
          </a:xfrm>
        </p:spPr>
        <p:txBody>
          <a:bodyPr anchor="t">
            <a:normAutofit/>
          </a:bodyPr>
          <a:lstStyle>
            <a:lvl1pPr marL="0" indent="0">
              <a:buNone/>
              <a:defRPr sz="1543"/>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4" name="Text Placeholder 3"/>
          <p:cNvSpPr>
            <a:spLocks noGrp="1"/>
          </p:cNvSpPr>
          <p:nvPr>
            <p:ph type="body" sz="half" idx="2"/>
          </p:nvPr>
        </p:nvSpPr>
        <p:spPr>
          <a:xfrm>
            <a:off x="801338" y="4820199"/>
            <a:ext cx="9089139" cy="1566448"/>
          </a:xfrm>
        </p:spPr>
        <p:txBody>
          <a:bodyPr anchor="ctr">
            <a:normAutofit/>
          </a:bodyPr>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
        <p:nvSpPr>
          <p:cNvPr id="11" name="TextBox 10"/>
          <p:cNvSpPr txBox="1"/>
          <p:nvPr/>
        </p:nvSpPr>
        <p:spPr>
          <a:xfrm>
            <a:off x="862485" y="978700"/>
            <a:ext cx="639460" cy="644607"/>
          </a:xfrm>
          <a:prstGeom prst="rect">
            <a:avLst/>
          </a:prstGeom>
        </p:spPr>
        <p:txBody>
          <a:bodyPr vert="horz" lIns="100796" tIns="50398" rIns="100796" bIns="5039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818" dirty="0">
                <a:solidFill>
                  <a:schemeClr val="tx1"/>
                </a:solidFill>
                <a:effectLst/>
              </a:rPr>
              <a:t>“</a:t>
            </a:r>
          </a:p>
        </p:txBody>
      </p:sp>
      <p:sp>
        <p:nvSpPr>
          <p:cNvPr id="14" name="TextBox 13"/>
          <p:cNvSpPr txBox="1"/>
          <p:nvPr/>
        </p:nvSpPr>
        <p:spPr>
          <a:xfrm>
            <a:off x="9178929" y="3439239"/>
            <a:ext cx="647356" cy="644607"/>
          </a:xfrm>
          <a:prstGeom prst="rect">
            <a:avLst/>
          </a:prstGeom>
        </p:spPr>
        <p:txBody>
          <a:bodyPr vert="horz" lIns="100796" tIns="50398" rIns="100796" bIns="5039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818" dirty="0">
                <a:solidFill>
                  <a:schemeClr val="tx1"/>
                </a:solidFill>
                <a:effectLst/>
              </a:rPr>
              <a:t>”</a:t>
            </a:r>
          </a:p>
        </p:txBody>
      </p:sp>
    </p:spTree>
    <p:extLst>
      <p:ext uri="{BB962C8B-B14F-4D97-AF65-F5344CB8AC3E}">
        <p14:creationId xmlns:p14="http://schemas.microsoft.com/office/powerpoint/2010/main" val="1561139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a:xfrm>
            <a:off x="801338" y="2357545"/>
            <a:ext cx="9089139" cy="2768833"/>
          </a:xfrm>
        </p:spPr>
        <p:txBody>
          <a:bodyPr anchor="b"/>
          <a:lstStyle>
            <a:lvl1pPr algn="ctr">
              <a:defRPr sz="3527"/>
            </a:lvl1pPr>
          </a:lstStyle>
          <a:p>
            <a:r>
              <a:rPr lang="fr-FR"/>
              <a:t>Modifiez le style du titre</a:t>
            </a:r>
            <a:endParaRPr lang="en-US" dirty="0"/>
          </a:p>
        </p:txBody>
      </p:sp>
      <p:sp>
        <p:nvSpPr>
          <p:cNvPr id="4" name="Text Placeholder 3"/>
          <p:cNvSpPr>
            <a:spLocks noGrp="1"/>
          </p:cNvSpPr>
          <p:nvPr>
            <p:ph type="body" sz="half" idx="2"/>
          </p:nvPr>
        </p:nvSpPr>
        <p:spPr>
          <a:xfrm>
            <a:off x="801338" y="5139361"/>
            <a:ext cx="9089139" cy="1257349"/>
          </a:xfrm>
        </p:spPr>
        <p:txBody>
          <a:bodyPr anchor="t"/>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644345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15" name="Title 1"/>
          <p:cNvSpPr>
            <a:spLocks noGrp="1"/>
          </p:cNvSpPr>
          <p:nvPr>
            <p:ph type="title"/>
          </p:nvPr>
        </p:nvSpPr>
        <p:spPr>
          <a:xfrm>
            <a:off x="801338" y="671971"/>
            <a:ext cx="9089139" cy="1769319"/>
          </a:xfrm>
        </p:spPr>
        <p:txBody>
          <a:bodyPr/>
          <a:lstStyle/>
          <a:p>
            <a:r>
              <a:rPr lang="fr-FR"/>
              <a:t>Modifiez le style du titre</a:t>
            </a:r>
            <a:endParaRPr lang="en-US" dirty="0"/>
          </a:p>
        </p:txBody>
      </p:sp>
      <p:sp>
        <p:nvSpPr>
          <p:cNvPr id="7" name="Text Placeholder 2"/>
          <p:cNvSpPr>
            <a:spLocks noGrp="1"/>
          </p:cNvSpPr>
          <p:nvPr>
            <p:ph type="body" idx="1"/>
          </p:nvPr>
        </p:nvSpPr>
        <p:spPr>
          <a:xfrm>
            <a:off x="801338" y="2609282"/>
            <a:ext cx="2893047" cy="635222"/>
          </a:xfrm>
        </p:spPr>
        <p:txBody>
          <a:bodyPr anchor="b">
            <a:noAutofit/>
          </a:bodyPr>
          <a:lstStyle>
            <a:lvl1pPr marL="0" indent="0" algn="ctr">
              <a:lnSpc>
                <a:spcPct val="75000"/>
              </a:lnSpc>
              <a:buNone/>
              <a:defRPr sz="2646"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8" name="Text Placeholder 3"/>
          <p:cNvSpPr>
            <a:spLocks noGrp="1"/>
          </p:cNvSpPr>
          <p:nvPr>
            <p:ph type="body" sz="half" idx="15"/>
          </p:nvPr>
        </p:nvSpPr>
        <p:spPr>
          <a:xfrm>
            <a:off x="801338" y="3244505"/>
            <a:ext cx="2893047" cy="3139222"/>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fr-FR"/>
              <a:t>Cliquez pour modifier les styles du texte du masque</a:t>
            </a:r>
          </a:p>
        </p:txBody>
      </p:sp>
      <p:sp>
        <p:nvSpPr>
          <p:cNvPr id="9" name="Text Placeholder 4"/>
          <p:cNvSpPr>
            <a:spLocks noGrp="1"/>
          </p:cNvSpPr>
          <p:nvPr>
            <p:ph type="body" sz="quarter" idx="3"/>
          </p:nvPr>
        </p:nvSpPr>
        <p:spPr>
          <a:xfrm>
            <a:off x="3904538" y="2609282"/>
            <a:ext cx="2886510" cy="635222"/>
          </a:xfrm>
        </p:spPr>
        <p:txBody>
          <a:bodyPr anchor="b">
            <a:noAutofit/>
          </a:bodyPr>
          <a:lstStyle>
            <a:lvl1pPr marL="0" indent="0" algn="ctr">
              <a:lnSpc>
                <a:spcPct val="75000"/>
              </a:lnSpc>
              <a:buNone/>
              <a:defRPr sz="2646"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10" name="Text Placeholder 3"/>
          <p:cNvSpPr>
            <a:spLocks noGrp="1"/>
          </p:cNvSpPr>
          <p:nvPr>
            <p:ph type="body" sz="half" idx="16"/>
          </p:nvPr>
        </p:nvSpPr>
        <p:spPr>
          <a:xfrm>
            <a:off x="3894856" y="3244505"/>
            <a:ext cx="2896884" cy="3139222"/>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fr-FR"/>
              <a:t>Cliquez pour modifier les styles du texte du masque</a:t>
            </a:r>
          </a:p>
        </p:txBody>
      </p:sp>
      <p:sp>
        <p:nvSpPr>
          <p:cNvPr id="11" name="Text Placeholder 4"/>
          <p:cNvSpPr>
            <a:spLocks noGrp="1"/>
          </p:cNvSpPr>
          <p:nvPr>
            <p:ph type="body" sz="quarter" idx="13"/>
          </p:nvPr>
        </p:nvSpPr>
        <p:spPr>
          <a:xfrm>
            <a:off x="6992210" y="2609282"/>
            <a:ext cx="2898267" cy="635222"/>
          </a:xfrm>
        </p:spPr>
        <p:txBody>
          <a:bodyPr anchor="b">
            <a:noAutofit/>
          </a:bodyPr>
          <a:lstStyle>
            <a:lvl1pPr marL="0" indent="0" algn="ctr">
              <a:lnSpc>
                <a:spcPct val="75000"/>
              </a:lnSpc>
              <a:buNone/>
              <a:defRPr sz="2646"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12" name="Text Placeholder 3"/>
          <p:cNvSpPr>
            <a:spLocks noGrp="1"/>
          </p:cNvSpPr>
          <p:nvPr>
            <p:ph type="body" sz="half" idx="17"/>
          </p:nvPr>
        </p:nvSpPr>
        <p:spPr>
          <a:xfrm>
            <a:off x="6992210" y="3244505"/>
            <a:ext cx="2898267" cy="3139222"/>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8808393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30" name="Title 1"/>
          <p:cNvSpPr>
            <a:spLocks noGrp="1"/>
          </p:cNvSpPr>
          <p:nvPr>
            <p:ph type="title"/>
          </p:nvPr>
        </p:nvSpPr>
        <p:spPr>
          <a:xfrm>
            <a:off x="801338" y="673263"/>
            <a:ext cx="9089139" cy="1768027"/>
          </a:xfrm>
        </p:spPr>
        <p:txBody>
          <a:bodyPr/>
          <a:lstStyle/>
          <a:p>
            <a:r>
              <a:rPr lang="fr-FR"/>
              <a:t>Modifiez le style du titre</a:t>
            </a:r>
            <a:endParaRPr lang="en-US" dirty="0"/>
          </a:p>
        </p:txBody>
      </p:sp>
      <p:sp>
        <p:nvSpPr>
          <p:cNvPr id="19" name="Text Placeholder 2"/>
          <p:cNvSpPr>
            <a:spLocks noGrp="1"/>
          </p:cNvSpPr>
          <p:nvPr>
            <p:ph type="body" idx="1"/>
          </p:nvPr>
        </p:nvSpPr>
        <p:spPr>
          <a:xfrm>
            <a:off x="801338" y="4635035"/>
            <a:ext cx="2890797" cy="635222"/>
          </a:xfrm>
        </p:spPr>
        <p:txBody>
          <a:bodyPr anchor="b">
            <a:noAutofit/>
          </a:bodyPr>
          <a:lstStyle>
            <a:lvl1pPr marL="0" indent="0" algn="ctr">
              <a:lnSpc>
                <a:spcPct val="75000"/>
              </a:lnSpc>
              <a:buNone/>
              <a:defRPr sz="2425"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801338" y="2609282"/>
            <a:ext cx="2890797" cy="1679928"/>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fr-FR"/>
              <a:t>Cliquez sur l'icône pour ajouter une image</a:t>
            </a:r>
            <a:endParaRPr lang="en-US" dirty="0"/>
          </a:p>
        </p:txBody>
      </p:sp>
      <p:sp>
        <p:nvSpPr>
          <p:cNvPr id="21" name="Text Placeholder 3"/>
          <p:cNvSpPr>
            <a:spLocks noGrp="1"/>
          </p:cNvSpPr>
          <p:nvPr>
            <p:ph type="body" sz="half" idx="18"/>
          </p:nvPr>
        </p:nvSpPr>
        <p:spPr>
          <a:xfrm>
            <a:off x="801338" y="5270258"/>
            <a:ext cx="2890797" cy="1113468"/>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fr-FR"/>
              <a:t>Cliquez pour modifier les styles du texte du masque</a:t>
            </a:r>
          </a:p>
        </p:txBody>
      </p:sp>
      <p:sp>
        <p:nvSpPr>
          <p:cNvPr id="22" name="Text Placeholder 4"/>
          <p:cNvSpPr>
            <a:spLocks noGrp="1"/>
          </p:cNvSpPr>
          <p:nvPr>
            <p:ph type="body" sz="quarter" idx="3"/>
          </p:nvPr>
        </p:nvSpPr>
        <p:spPr>
          <a:xfrm>
            <a:off x="3896092" y="4635035"/>
            <a:ext cx="2895549" cy="635222"/>
          </a:xfrm>
        </p:spPr>
        <p:txBody>
          <a:bodyPr anchor="b">
            <a:noAutofit/>
          </a:bodyPr>
          <a:lstStyle>
            <a:lvl1pPr marL="0" indent="0" algn="ctr">
              <a:lnSpc>
                <a:spcPct val="75000"/>
              </a:lnSpc>
              <a:buNone/>
              <a:defRPr sz="2425"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3894854" y="2609282"/>
            <a:ext cx="2896885" cy="1679928"/>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fr-FR"/>
              <a:t>Cliquez sur l'icône pour ajouter une image</a:t>
            </a:r>
            <a:endParaRPr lang="en-US" dirty="0"/>
          </a:p>
        </p:txBody>
      </p:sp>
      <p:sp>
        <p:nvSpPr>
          <p:cNvPr id="24" name="Text Placeholder 3"/>
          <p:cNvSpPr>
            <a:spLocks noGrp="1"/>
          </p:cNvSpPr>
          <p:nvPr>
            <p:ph type="body" sz="half" idx="19"/>
          </p:nvPr>
        </p:nvSpPr>
        <p:spPr>
          <a:xfrm>
            <a:off x="3894854" y="5270257"/>
            <a:ext cx="2896885" cy="1113469"/>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fr-FR"/>
              <a:t>Cliquez pour modifier les styles du texte du masque</a:t>
            </a:r>
          </a:p>
        </p:txBody>
      </p:sp>
      <p:sp>
        <p:nvSpPr>
          <p:cNvPr id="25" name="Text Placeholder 4"/>
          <p:cNvSpPr>
            <a:spLocks noGrp="1"/>
          </p:cNvSpPr>
          <p:nvPr>
            <p:ph type="body" sz="quarter" idx="13"/>
          </p:nvPr>
        </p:nvSpPr>
        <p:spPr>
          <a:xfrm>
            <a:off x="6992210" y="4635035"/>
            <a:ext cx="2894543" cy="635222"/>
          </a:xfrm>
        </p:spPr>
        <p:txBody>
          <a:bodyPr anchor="b">
            <a:noAutofit/>
          </a:bodyPr>
          <a:lstStyle>
            <a:lvl1pPr marL="0" indent="0" algn="ctr">
              <a:lnSpc>
                <a:spcPct val="75000"/>
              </a:lnSpc>
              <a:buNone/>
              <a:defRPr sz="2425"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6992210" y="2609282"/>
            <a:ext cx="2898267" cy="1679928"/>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fr-FR"/>
              <a:t>Cliquez sur l'icône pour ajouter une image</a:t>
            </a:r>
            <a:endParaRPr lang="en-US" dirty="0"/>
          </a:p>
        </p:txBody>
      </p:sp>
      <p:sp>
        <p:nvSpPr>
          <p:cNvPr id="27" name="Text Placeholder 3"/>
          <p:cNvSpPr>
            <a:spLocks noGrp="1"/>
          </p:cNvSpPr>
          <p:nvPr>
            <p:ph type="body" sz="half" idx="20"/>
          </p:nvPr>
        </p:nvSpPr>
        <p:spPr>
          <a:xfrm>
            <a:off x="6992100" y="5270255"/>
            <a:ext cx="2898377" cy="1113471"/>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1984030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1" name="Vertical Text Placeholder 2"/>
          <p:cNvSpPr>
            <a:spLocks noGrp="1"/>
          </p:cNvSpPr>
          <p:nvPr>
            <p:ph type="body" orient="vert" sz="quarter" idx="13"/>
          </p:nvPr>
        </p:nvSpPr>
        <p:spPr>
          <a:xfrm>
            <a:off x="801338" y="2609283"/>
            <a:ext cx="9089139" cy="37744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346538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sp>
        <p:nvSpPr>
          <p:cNvPr id="2" name="Vertical Title 1"/>
          <p:cNvSpPr>
            <a:spLocks noGrp="1"/>
          </p:cNvSpPr>
          <p:nvPr>
            <p:ph type="title" orient="vert"/>
          </p:nvPr>
        </p:nvSpPr>
        <p:spPr>
          <a:xfrm>
            <a:off x="7651329" y="671974"/>
            <a:ext cx="2239148" cy="5711753"/>
          </a:xfrm>
        </p:spPr>
        <p:txBody>
          <a:bodyPr vert="eaVert"/>
          <a:lstStyle>
            <a:lvl1pPr algn="l">
              <a:defRPr/>
            </a:lvl1pPr>
          </a:lstStyle>
          <a:p>
            <a:r>
              <a:rPr lang="fr-FR"/>
              <a:t>Modifiez le style du titre</a:t>
            </a:r>
            <a:endParaRPr lang="en-US" dirty="0"/>
          </a:p>
        </p:txBody>
      </p:sp>
      <p:sp>
        <p:nvSpPr>
          <p:cNvPr id="8" name="Vertical Text Placeholder 2"/>
          <p:cNvSpPr>
            <a:spLocks noGrp="1"/>
          </p:cNvSpPr>
          <p:nvPr>
            <p:ph type="body" orient="vert" sz="quarter" idx="13"/>
          </p:nvPr>
        </p:nvSpPr>
        <p:spPr>
          <a:xfrm>
            <a:off x="801338" y="671974"/>
            <a:ext cx="6716342" cy="571175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478813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78000"/>
                <a:shade val="100000"/>
                <a:hueMod val="136000"/>
                <a:satMod val="160000"/>
                <a:lumMod val="37000"/>
                <a:lumOff val="63000"/>
              </a:schemeClr>
            </a:gs>
            <a:gs pos="83000">
              <a:schemeClr val="bg2">
                <a:shade val="92000"/>
                <a:satMod val="170000"/>
                <a:lumMod val="96000"/>
                <a:alpha val="0"/>
              </a:schemeClr>
            </a:gs>
          </a:gsLst>
          <a:lin ang="5400000" scaled="0"/>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1" y="-1"/>
            <a:ext cx="10691815" cy="75596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801339" y="681802"/>
            <a:ext cx="9089138" cy="175949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01338" y="2609283"/>
            <a:ext cx="9089139" cy="377444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733893" y="6485223"/>
            <a:ext cx="2405658" cy="402483"/>
          </a:xfrm>
          <a:prstGeom prst="rect">
            <a:avLst/>
          </a:prstGeom>
        </p:spPr>
        <p:txBody>
          <a:bodyPr vert="horz" lIns="91440" tIns="45720" rIns="91440" bIns="45720" rtlCol="0" anchor="ctr"/>
          <a:lstStyle>
            <a:lvl1pPr algn="r">
              <a:defRPr sz="1102">
                <a:solidFill>
                  <a:schemeClr val="tx1"/>
                </a:solidFill>
              </a:defRPr>
            </a:lvl1pPr>
          </a:lstStyle>
          <a:p>
            <a:fld id="{B61BEF0D-F0BB-DE4B-95CE-6DB70DBA9567}" type="datetimeFigureOut">
              <a:rPr lang="en-US" smtClean="0"/>
              <a:pPr/>
              <a:t>5/4/2022</a:t>
            </a:fld>
            <a:endParaRPr lang="en-US" dirty="0"/>
          </a:p>
        </p:txBody>
      </p:sp>
      <p:sp>
        <p:nvSpPr>
          <p:cNvPr id="5" name="Footer Placeholder 4"/>
          <p:cNvSpPr>
            <a:spLocks noGrp="1"/>
          </p:cNvSpPr>
          <p:nvPr>
            <p:ph type="ftr" sz="quarter" idx="3"/>
          </p:nvPr>
        </p:nvSpPr>
        <p:spPr>
          <a:xfrm>
            <a:off x="801338" y="6485223"/>
            <a:ext cx="5851809" cy="402483"/>
          </a:xfrm>
          <a:prstGeom prst="rect">
            <a:avLst/>
          </a:prstGeom>
        </p:spPr>
        <p:txBody>
          <a:bodyPr vert="horz" lIns="91440" tIns="45720" rIns="91440" bIns="45720" rtlCol="0" anchor="ctr"/>
          <a:lstStyle>
            <a:lvl1pPr algn="l">
              <a:defRPr sz="1102">
                <a:solidFill>
                  <a:schemeClr val="tx1"/>
                </a:solidFill>
              </a:defRPr>
            </a:lvl1pPr>
          </a:lstStyle>
          <a:p>
            <a:endParaRPr lang="en-US" dirty="0"/>
          </a:p>
        </p:txBody>
      </p:sp>
      <p:sp>
        <p:nvSpPr>
          <p:cNvPr id="6" name="Slide Number Placeholder 5"/>
          <p:cNvSpPr>
            <a:spLocks noGrp="1"/>
          </p:cNvSpPr>
          <p:nvPr>
            <p:ph type="sldNum" sz="quarter" idx="4"/>
          </p:nvPr>
        </p:nvSpPr>
        <p:spPr>
          <a:xfrm>
            <a:off x="9220297" y="6485223"/>
            <a:ext cx="670180" cy="402483"/>
          </a:xfrm>
          <a:prstGeom prst="rect">
            <a:avLst/>
          </a:prstGeom>
        </p:spPr>
        <p:txBody>
          <a:bodyPr vert="horz" lIns="91440" tIns="45720" rIns="91440" bIns="45720" rtlCol="0" anchor="ctr"/>
          <a:lstStyle>
            <a:lvl1pPr algn="r">
              <a:defRPr sz="1102">
                <a:solidFill>
                  <a:schemeClr val="tx1"/>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43262680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Lst>
  <p:txStyles>
    <p:titleStyle>
      <a:lvl1pPr algn="ctr" defTabSz="1007943" rtl="0" eaLnBrk="1" latinLnBrk="0" hangingPunct="1">
        <a:lnSpc>
          <a:spcPct val="90000"/>
        </a:lnSpc>
        <a:spcBef>
          <a:spcPct val="0"/>
        </a:spcBef>
        <a:buNone/>
        <a:defRPr sz="3968" kern="1200" cap="all" baseline="0">
          <a:solidFill>
            <a:schemeClr val="tx1"/>
          </a:solidFill>
          <a:effectLst/>
          <a:latin typeface="+mj-lt"/>
          <a:ea typeface="+mj-ea"/>
          <a:cs typeface="+mj-cs"/>
        </a:defRPr>
      </a:lvl1pPr>
    </p:titleStyle>
    <p:bodyStyle>
      <a:lvl1pPr marL="251986" indent="-251986" algn="l" defTabSz="1007943" rtl="0" eaLnBrk="1" latinLnBrk="0" hangingPunct="1">
        <a:lnSpc>
          <a:spcPct val="120000"/>
        </a:lnSpc>
        <a:spcBef>
          <a:spcPts val="1102"/>
        </a:spcBef>
        <a:buClr>
          <a:schemeClr val="tx1"/>
        </a:buClr>
        <a:buFont typeface="Arial" panose="020B0604020202020204" pitchFamily="34" charset="0"/>
        <a:buChar char="•"/>
        <a:defRPr sz="2205" kern="1200" cap="all" baseline="0">
          <a:solidFill>
            <a:schemeClr val="tx1"/>
          </a:solidFill>
          <a:effectLst/>
          <a:latin typeface="+mn-lt"/>
          <a:ea typeface="+mn-ea"/>
          <a:cs typeface="+mn-cs"/>
        </a:defRPr>
      </a:lvl1pPr>
      <a:lvl2pPr marL="755957" indent="-251986" algn="l" defTabSz="1007943" rtl="0" eaLnBrk="1" latinLnBrk="0" hangingPunct="1">
        <a:lnSpc>
          <a:spcPct val="120000"/>
        </a:lnSpc>
        <a:spcBef>
          <a:spcPts val="551"/>
        </a:spcBef>
        <a:buClr>
          <a:schemeClr val="tx1"/>
        </a:buClr>
        <a:buFont typeface="Arial" panose="020B0604020202020204" pitchFamily="34" charset="0"/>
        <a:buChar char="•"/>
        <a:defRPr sz="1984" kern="1200" cap="all" baseline="0">
          <a:solidFill>
            <a:schemeClr val="tx1"/>
          </a:solidFill>
          <a:effectLst/>
          <a:latin typeface="+mn-lt"/>
          <a:ea typeface="+mn-ea"/>
          <a:cs typeface="+mn-cs"/>
        </a:defRPr>
      </a:lvl2pPr>
      <a:lvl3pPr marL="1259929" indent="-251986" algn="l" defTabSz="1007943" rtl="0" eaLnBrk="1" latinLnBrk="0" hangingPunct="1">
        <a:lnSpc>
          <a:spcPct val="120000"/>
        </a:lnSpc>
        <a:spcBef>
          <a:spcPts val="551"/>
        </a:spcBef>
        <a:buClr>
          <a:schemeClr val="tx1"/>
        </a:buClr>
        <a:buFont typeface="Arial" panose="020B0604020202020204" pitchFamily="34" charset="0"/>
        <a:buChar char="•"/>
        <a:defRPr sz="1764" kern="1200" cap="all" baseline="0">
          <a:solidFill>
            <a:schemeClr val="tx1"/>
          </a:solidFill>
          <a:effectLst/>
          <a:latin typeface="+mn-lt"/>
          <a:ea typeface="+mn-ea"/>
          <a:cs typeface="+mn-cs"/>
        </a:defRPr>
      </a:lvl3pPr>
      <a:lvl4pPr marL="1763900" indent="-251986" algn="l" defTabSz="1007943" rtl="0" eaLnBrk="1" latinLnBrk="0" hangingPunct="1">
        <a:lnSpc>
          <a:spcPct val="120000"/>
        </a:lnSpc>
        <a:spcBef>
          <a:spcPts val="551"/>
        </a:spcBef>
        <a:buClr>
          <a:schemeClr val="tx1"/>
        </a:buClr>
        <a:buFont typeface="Arial" panose="020B0604020202020204" pitchFamily="34" charset="0"/>
        <a:buChar char="•"/>
        <a:defRPr sz="1543" kern="1200" cap="all" baseline="0">
          <a:solidFill>
            <a:schemeClr val="tx1"/>
          </a:solidFill>
          <a:effectLst/>
          <a:latin typeface="+mn-lt"/>
          <a:ea typeface="+mn-ea"/>
          <a:cs typeface="+mn-cs"/>
        </a:defRPr>
      </a:lvl4pPr>
      <a:lvl5pPr marL="2267872" indent="-251986" algn="l" defTabSz="1007943" rtl="0" eaLnBrk="1" latinLnBrk="0" hangingPunct="1">
        <a:lnSpc>
          <a:spcPct val="120000"/>
        </a:lnSpc>
        <a:spcBef>
          <a:spcPts val="551"/>
        </a:spcBef>
        <a:buClr>
          <a:schemeClr val="tx1"/>
        </a:buClr>
        <a:buFont typeface="Arial" panose="020B0604020202020204" pitchFamily="34" charset="0"/>
        <a:buChar char="•"/>
        <a:defRPr sz="1543" kern="1200" cap="all" baseline="0">
          <a:solidFill>
            <a:schemeClr val="tx1"/>
          </a:solidFill>
          <a:effectLst/>
          <a:latin typeface="+mn-lt"/>
          <a:ea typeface="+mn-ea"/>
          <a:cs typeface="+mn-cs"/>
        </a:defRPr>
      </a:lvl5pPr>
      <a:lvl6pPr marL="2771844" indent="-251986" algn="l" defTabSz="1007943" rtl="0" eaLnBrk="1" latinLnBrk="0" hangingPunct="1">
        <a:lnSpc>
          <a:spcPct val="120000"/>
        </a:lnSpc>
        <a:spcBef>
          <a:spcPts val="551"/>
        </a:spcBef>
        <a:buClr>
          <a:schemeClr val="tx1"/>
        </a:buClr>
        <a:buFont typeface="Arial" panose="020B0604020202020204" pitchFamily="34" charset="0"/>
        <a:buChar char="•"/>
        <a:defRPr sz="1543" kern="1200" cap="all" baseline="0">
          <a:solidFill>
            <a:schemeClr val="tx1"/>
          </a:solidFill>
          <a:effectLst/>
          <a:latin typeface="+mn-lt"/>
          <a:ea typeface="+mn-ea"/>
          <a:cs typeface="+mn-cs"/>
        </a:defRPr>
      </a:lvl6pPr>
      <a:lvl7pPr marL="3275815" indent="-251986" algn="l" defTabSz="1007943" rtl="0" eaLnBrk="1" latinLnBrk="0" hangingPunct="1">
        <a:lnSpc>
          <a:spcPct val="120000"/>
        </a:lnSpc>
        <a:spcBef>
          <a:spcPts val="551"/>
        </a:spcBef>
        <a:buClr>
          <a:schemeClr val="tx1"/>
        </a:buClr>
        <a:buFont typeface="Arial" panose="020B0604020202020204" pitchFamily="34" charset="0"/>
        <a:buChar char="•"/>
        <a:defRPr sz="1543" kern="1200" cap="all" baseline="0">
          <a:solidFill>
            <a:schemeClr val="tx1"/>
          </a:solidFill>
          <a:effectLst/>
          <a:latin typeface="+mn-lt"/>
          <a:ea typeface="+mn-ea"/>
          <a:cs typeface="+mn-cs"/>
        </a:defRPr>
      </a:lvl7pPr>
      <a:lvl8pPr marL="3779787" indent="-251986" algn="l" defTabSz="1007943" rtl="0" eaLnBrk="1" latinLnBrk="0" hangingPunct="1">
        <a:lnSpc>
          <a:spcPct val="120000"/>
        </a:lnSpc>
        <a:spcBef>
          <a:spcPts val="551"/>
        </a:spcBef>
        <a:buClr>
          <a:schemeClr val="tx1"/>
        </a:buClr>
        <a:buFont typeface="Arial" panose="020B0604020202020204" pitchFamily="34" charset="0"/>
        <a:buChar char="•"/>
        <a:defRPr sz="1543" kern="1200" cap="all" baseline="0">
          <a:solidFill>
            <a:schemeClr val="tx1"/>
          </a:solidFill>
          <a:effectLst/>
          <a:latin typeface="+mn-lt"/>
          <a:ea typeface="+mn-ea"/>
          <a:cs typeface="+mn-cs"/>
        </a:defRPr>
      </a:lvl8pPr>
      <a:lvl9pPr marL="4283758" indent="-251986" algn="l" defTabSz="1007943" rtl="0" eaLnBrk="1" latinLnBrk="0" hangingPunct="1">
        <a:lnSpc>
          <a:spcPct val="120000"/>
        </a:lnSpc>
        <a:spcBef>
          <a:spcPts val="551"/>
        </a:spcBef>
        <a:buClr>
          <a:schemeClr val="tx1"/>
        </a:buClr>
        <a:buFont typeface="Arial" panose="020B0604020202020204" pitchFamily="34" charset="0"/>
        <a:buChar char="•"/>
        <a:defRPr sz="1543" kern="1200" cap="all" baseline="0">
          <a:solidFill>
            <a:schemeClr val="tx1"/>
          </a:solidFill>
          <a:effectLst/>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134147" y="187391"/>
            <a:ext cx="10434698" cy="7153561"/>
          </a:xfrm>
          <a:prstGeom prst="rect">
            <a:avLst/>
          </a:prstGeom>
          <a:noFill/>
          <a:ln w="19050" cap="flat" cmpd="sng" algn="ctr">
            <a:solidFill>
              <a:srgbClr val="00206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algn="ctr">
              <a:lnSpc>
                <a:spcPct val="150000"/>
              </a:lnSpc>
            </a:pPr>
            <a:r>
              <a:rPr lang="en-US" altLang="fr-FR" sz="1619" b="1"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UNIVERSITÉ DE YAOUNDÉ I 		                   		                       THE UNIVERSITY OF YAOUNDE I</a:t>
            </a:r>
            <a:br>
              <a:rPr lang="en-US" altLang="fr-FR" sz="1619" b="1"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endParaRPr lang="en-US" altLang="fr-FR" sz="1619" b="1"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pPr>
            <a:r>
              <a:rPr lang="en-US" altLang="fr-FR" sz="1619" b="1"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ÉCOLE NATIONALE SUPÉRIEURE                                                       NATIONAL ADVANCED SCHOOL             POLYTECHNIQUE DE YAOUNDÉ 		                                                 OF ENGINEERING  YAOUNDE </a:t>
            </a:r>
            <a:br>
              <a:rPr lang="en-US" altLang="fr-FR" sz="1619" b="1"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br>
              <a:rPr lang="en-US" altLang="fr-FR" sz="1619" b="1"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r>
              <a:rPr lang="en-US" altLang="fr-FR" sz="1619" b="1"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  </a:t>
            </a:r>
            <a:r>
              <a:rPr lang="fr-FR" altLang="fr-FR" sz="1619" b="1"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DÉPARTEMENT DE MATHÉMATIQUES                                               MATHEMATICS AND PHYSICAL ET SCIENCES PHYSIQUES                       		                                               SCIENCES DEPARTMENT    </a:t>
            </a:r>
            <a:br>
              <a:rPr lang="fr-FR" altLang="fr-FR" sz="1619" b="1"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br>
              <a:rPr lang="fr-FR" altLang="fr-FR" sz="1619" b="1"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br>
              <a:rPr lang="fr-FR" altLang="fr-FR" sz="1619" b="1"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br>
              <a:rPr lang="fr-FR" altLang="fr-FR" sz="1619" b="1" dirty="0">
                <a:ln w="0"/>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REFLEXIONS ETHIQUES – STI1012-(2-3)</a:t>
            </a:r>
            <a:b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b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EXPOSE SUR LE THEME : LE MILIEU ESTUDIANTIN ET L’ETHIQUE</a:t>
            </a:r>
            <a:b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b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GROUPE 2 – B1 – MSP I - 2022</a:t>
            </a:r>
            <a:b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b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br>
            <a:r>
              <a:rPr lang="fr-FR" altLang="fr-FR" sz="1619"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pitchFamily="34" charset="0"/>
                <a:cs typeface="Times New Roman" panose="02020603050405020304" pitchFamily="18" charset="0"/>
              </a:rPr>
              <a:t>COORDONNATEUR : Dr. PIERRE LOUIS BERNARD BANDA OWONDO</a:t>
            </a:r>
          </a:p>
          <a:p>
            <a:pPr>
              <a:lnSpc>
                <a:spcPct val="150000"/>
              </a:lnSpc>
            </a:pPr>
            <a:endParaRPr lang="fr-FR" altLang="fr-FR" sz="1619"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nSpc>
                <a:spcPct val="150000"/>
              </a:lnSpc>
            </a:pPr>
            <a:endParaRPr lang="fr-FR" sz="1619" b="1" dirty="0"/>
          </a:p>
        </p:txBody>
      </p:sp>
      <p:pic>
        <p:nvPicPr>
          <p:cNvPr id="5" name="Image 4">
            <a:extLst>
              <a:ext uri="{FF2B5EF4-FFF2-40B4-BE49-F238E27FC236}">
                <a16:creationId xmlns:a16="http://schemas.microsoft.com/office/drawing/2014/main" id="{5C319005-B486-421C-85FE-3DD431BF13FD}"/>
              </a:ext>
            </a:extLst>
          </p:cNvPr>
          <p:cNvPicPr>
            <a:picLocks noChangeAspect="1"/>
          </p:cNvPicPr>
          <p:nvPr/>
        </p:nvPicPr>
        <p:blipFill>
          <a:blip r:embed="rId2"/>
          <a:stretch>
            <a:fillRect/>
          </a:stretch>
        </p:blipFill>
        <p:spPr>
          <a:xfrm>
            <a:off x="4283504" y="423981"/>
            <a:ext cx="2124803" cy="2128695"/>
          </a:xfrm>
          <a:prstGeom prst="rect">
            <a:avLst/>
          </a:prstGeom>
        </p:spPr>
      </p:pic>
    </p:spTree>
    <p:extLst>
      <p:ext uri="{BB962C8B-B14F-4D97-AF65-F5344CB8AC3E}">
        <p14:creationId xmlns:p14="http://schemas.microsoft.com/office/powerpoint/2010/main" val="89317457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519786" y="187391"/>
            <a:ext cx="9622631" cy="5705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lnSpc>
                <a:spcPct val="150000"/>
              </a:lnSpc>
            </a:pPr>
            <a:endParaRPr lang="fr-FR" sz="1619" b="1" u="sng"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lnSpc>
                <a:spcPct val="150000"/>
              </a:lnSpc>
            </a:pPr>
            <a:r>
              <a:rPr lang="fr-FR" sz="1619" b="1" u="sng"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MEMBRES DU GROUPE</a:t>
            </a:r>
          </a:p>
          <a:p>
            <a:pPr lvl="1">
              <a:lnSpc>
                <a:spcPct val="150000"/>
              </a:lnSpc>
            </a:pPr>
            <a:endParaRPr lang="fr-FR" sz="1619" b="1" u="sng"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KAMDEM POUOKAM IVANN HAROLD – N° 21P254</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KAMENI NSANGOU THEODORE ALLAN – N° 21P218</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KAMGA CHEUKO FRANKLIN DAVY – N° 21P308</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KAMGA DEFO THIERRY JOEL – N° 21P032</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KAMTE MOAFO AMSTRONG – N° 21P017</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KANGA MARTHE VANINA KENDRAH – N° 21P201</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KAYIM CHEKAM CONCILE FELICIA-PIERRE – N° 21P150</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KEMDJE KEMDJE SAMUEL – N° 21P297</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KENFACK KONMENECK FRANC LOIC – N° 21P157</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KENFACK NOUMEDEM FRANCK ULRICH– N° 21P335</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KENGALI FEGUE PACÔME – N° 21P027</a:t>
            </a:r>
          </a:p>
          <a:p>
            <a:pPr marL="801866" lvl="1" indent="-308410">
              <a:lnSpc>
                <a:spcPct val="150000"/>
              </a:lnSpc>
              <a:buFont typeface="Wingdings" panose="05000000000000000000" pitchFamily="2" charset="2"/>
              <a:buChar char="Ø"/>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KENGNE FODOP WILFRID PASSY – N° 21P056</a:t>
            </a:r>
          </a:p>
          <a:p>
            <a:pPr lvl="1">
              <a:lnSpc>
                <a:spcPct val="150000"/>
              </a:lnSpc>
            </a:pPr>
            <a:endParaRPr lang="fr-FR" sz="1511"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 name="ZoneTexte 1">
            <a:extLst>
              <a:ext uri="{FF2B5EF4-FFF2-40B4-BE49-F238E27FC236}">
                <a16:creationId xmlns:a16="http://schemas.microsoft.com/office/drawing/2014/main" id="{99D7EDB2-E4B8-4557-BEAA-87565910D618}"/>
              </a:ext>
            </a:extLst>
          </p:cNvPr>
          <p:cNvSpPr txBox="1"/>
          <p:nvPr/>
        </p:nvSpPr>
        <p:spPr>
          <a:xfrm>
            <a:off x="9216417" y="7165267"/>
            <a:ext cx="926001" cy="308226"/>
          </a:xfrm>
          <a:prstGeom prst="rect">
            <a:avLst/>
          </a:prstGeom>
          <a:noFill/>
        </p:spPr>
        <p:txBody>
          <a:bodyPr wrap="square" rtlCol="0">
            <a:spAutoFit/>
          </a:bodyPr>
          <a:lstStyle/>
          <a:p>
            <a:r>
              <a:rPr lang="fr-FR" sz="1403" b="1" dirty="0">
                <a:solidFill>
                  <a:schemeClr val="accent2">
                    <a:lumMod val="50000"/>
                  </a:schemeClr>
                </a:solidFill>
              </a:rPr>
              <a:t>Page 2/9</a:t>
            </a:r>
          </a:p>
        </p:txBody>
      </p:sp>
    </p:spTree>
    <p:extLst>
      <p:ext uri="{BB962C8B-B14F-4D97-AF65-F5344CB8AC3E}">
        <p14:creationId xmlns:p14="http://schemas.microsoft.com/office/powerpoint/2010/main" val="15891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519786" y="187388"/>
            <a:ext cx="9622631" cy="5705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lnSpc>
                <a:spcPct val="150000"/>
              </a:lnSpc>
            </a:pPr>
            <a:endParaRPr lang="fr-FR" sz="1619" b="1" u="sng"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lnSpc>
                <a:spcPct val="150000"/>
              </a:lnSpc>
            </a:pPr>
            <a:r>
              <a:rPr lang="fr-FR" sz="1619" b="1" u="sng" dirty="0">
                <a:ln w="0"/>
                <a:solidFill>
                  <a:schemeClr val="accent2">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SOMMAIRE</a:t>
            </a:r>
          </a:p>
          <a:p>
            <a:pPr algn="ctr">
              <a:lnSpc>
                <a:spcPct val="150000"/>
              </a:lnSpc>
            </a:pPr>
            <a:endParaRPr lang="fr-FR" sz="1619" b="1" u="sng"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lnSpc>
                <a:spcPct val="150000"/>
              </a:lnSpc>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INTRODUCTION</a:t>
            </a:r>
          </a:p>
          <a:p>
            <a:pPr algn="ctr">
              <a:lnSpc>
                <a:spcPct val="150000"/>
              </a:lnSpc>
            </a:pPr>
            <a:endPar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lnSpc>
                <a:spcPct val="150000"/>
              </a:lnSpc>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 -  PRESENTATION DU MILIEU ESTUDIANTIN</a:t>
            </a:r>
          </a:p>
          <a:p>
            <a:pPr algn="ctr">
              <a:lnSpc>
                <a:spcPct val="150000"/>
              </a:lnSpc>
            </a:pPr>
            <a:endPar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lnSpc>
                <a:spcPct val="150000"/>
              </a:lnSpc>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II – PRESENTATION DE L’ETHIQUE</a:t>
            </a:r>
          </a:p>
          <a:p>
            <a:pPr algn="ctr">
              <a:lnSpc>
                <a:spcPct val="150000"/>
              </a:lnSpc>
            </a:pPr>
            <a:endPar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lnSpc>
                <a:spcPct val="150000"/>
              </a:lnSpc>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III – PLACE DE L’ETHIQUE DANS LE MILIEU ESTUDIANTIN</a:t>
            </a:r>
          </a:p>
          <a:p>
            <a:pPr algn="ctr">
              <a:lnSpc>
                <a:spcPct val="150000"/>
              </a:lnSpc>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III – 1 -  RESISTANCE DU MILIEU ESTUDIANTIN FACE À  ÉTHIQUE </a:t>
            </a:r>
          </a:p>
          <a:p>
            <a:pPr algn="ctr">
              <a:lnSpc>
                <a:spcPct val="150000"/>
              </a:lnSpc>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III – 2 – INFLUENCE POSITIVE DE L’ETHIQUE SUR LE MILIEU ESTUDIANTIN</a:t>
            </a:r>
          </a:p>
          <a:p>
            <a:pPr algn="ctr">
              <a:lnSpc>
                <a:spcPct val="150000"/>
              </a:lnSpc>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III – 3 – PROPOSITIONS DE RENFORCEMENT DE LA PLACE DE L’ETHIQUE EN MILIEU ESTUDIANTIN</a:t>
            </a:r>
          </a:p>
          <a:p>
            <a:pPr algn="ctr">
              <a:lnSpc>
                <a:spcPct val="150000"/>
              </a:lnSpc>
            </a:pPr>
            <a:endPar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lnSpc>
                <a:spcPct val="150000"/>
              </a:lnSpc>
            </a:pPr>
            <a:r>
              <a:rPr lang="fr-FR" sz="1511"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CONCLUSION &amp; BIBLIOGRAPHIE</a:t>
            </a:r>
          </a:p>
          <a:p>
            <a:pPr algn="ctr">
              <a:lnSpc>
                <a:spcPct val="150000"/>
              </a:lnSpc>
            </a:pPr>
            <a:endParaRPr lang="fr-FR" sz="1511"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1C2DC8F2-BDE9-478E-A61A-A60F7792E778}"/>
              </a:ext>
            </a:extLst>
          </p:cNvPr>
          <p:cNvSpPr txBox="1"/>
          <p:nvPr/>
        </p:nvSpPr>
        <p:spPr>
          <a:xfrm>
            <a:off x="9216417" y="7165267"/>
            <a:ext cx="926001" cy="308226"/>
          </a:xfrm>
          <a:prstGeom prst="rect">
            <a:avLst/>
          </a:prstGeom>
          <a:noFill/>
        </p:spPr>
        <p:txBody>
          <a:bodyPr wrap="square" rtlCol="0">
            <a:spAutoFit/>
          </a:bodyPr>
          <a:lstStyle/>
          <a:p>
            <a:r>
              <a:rPr lang="fr-FR" sz="1403" b="1" dirty="0">
                <a:solidFill>
                  <a:schemeClr val="accent2">
                    <a:lumMod val="50000"/>
                  </a:schemeClr>
                </a:solidFill>
              </a:rPr>
              <a:t>Page 3/9</a:t>
            </a:r>
          </a:p>
        </p:txBody>
      </p:sp>
    </p:spTree>
    <p:extLst>
      <p:ext uri="{BB962C8B-B14F-4D97-AF65-F5344CB8AC3E}">
        <p14:creationId xmlns:p14="http://schemas.microsoft.com/office/powerpoint/2010/main" val="29596159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519786" y="187388"/>
            <a:ext cx="9622631" cy="727853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lnSpc>
                <a:spcPct val="150000"/>
              </a:lnSpc>
            </a:pPr>
            <a:endParaRPr lang="fr-FR" sz="1403" b="1" u="sng" dirty="0">
              <a:latin typeface="Times New Roman" panose="02020603050405020304" pitchFamily="18" charset="0"/>
              <a:cs typeface="Times New Roman" panose="02020603050405020304" pitchFamily="18" charset="0"/>
            </a:endParaRPr>
          </a:p>
          <a:p>
            <a:pPr algn="ctr">
              <a:lnSpc>
                <a:spcPct val="150000"/>
              </a:lnSpc>
            </a:pPr>
            <a:r>
              <a:rPr lang="fr-FR" sz="1619" b="1" u="sng" dirty="0">
                <a:solidFill>
                  <a:schemeClr val="accent2">
                    <a:lumMod val="50000"/>
                  </a:schemeClr>
                </a:solidFill>
                <a:latin typeface="Times New Roman" panose="02020603050405020304" pitchFamily="18" charset="0"/>
                <a:cs typeface="Times New Roman" panose="02020603050405020304" pitchFamily="18" charset="0"/>
              </a:rPr>
              <a:t>INTRODUCTION</a:t>
            </a:r>
          </a:p>
          <a:p>
            <a:pPr algn="ctr">
              <a:lnSpc>
                <a:spcPct val="150000"/>
              </a:lnSpc>
            </a:pPr>
            <a:endParaRPr lang="en-GB" sz="1403"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a:t>
            </a:r>
            <a:r>
              <a:rPr lang="fr-FR" sz="1403" b="1" dirty="0">
                <a:solidFill>
                  <a:srgbClr val="002060"/>
                </a:solidFill>
                <a:latin typeface="Times New Roman" panose="02020603050405020304" pitchFamily="18" charset="0"/>
                <a:cs typeface="Times New Roman" panose="02020603050405020304" pitchFamily="18" charset="0"/>
              </a:rPr>
              <a:t>« Grace à notre génie scientifique et technologique, nous avons fait de ce monde un quartier. Et maintenant, par notre engagement moral et éthique, nous devons en faire une fraternité. Nous devons donc apprendre à vivre en tant que frères, sinon nous périrons en tant qu’idiots »,  </a:t>
            </a:r>
            <a:r>
              <a:rPr lang="fr-FR" sz="1403" dirty="0">
                <a:latin typeface="Times New Roman" panose="02020603050405020304" pitchFamily="18" charset="0"/>
                <a:cs typeface="Times New Roman" panose="02020603050405020304" pitchFamily="18" charset="0"/>
              </a:rPr>
              <a:t>déclare </a:t>
            </a:r>
            <a:r>
              <a:rPr lang="fr-FR" sz="1403" b="1" dirty="0">
                <a:solidFill>
                  <a:srgbClr val="002060"/>
                </a:solidFill>
                <a:latin typeface="Times New Roman" panose="02020603050405020304" pitchFamily="18" charset="0"/>
                <a:cs typeface="Times New Roman" panose="02020603050405020304" pitchFamily="18" charset="0"/>
              </a:rPr>
              <a:t>Martin Luther King</a:t>
            </a:r>
            <a:r>
              <a:rPr lang="fr-FR" sz="1403" dirty="0">
                <a:latin typeface="Times New Roman" panose="02020603050405020304" pitchFamily="18" charset="0"/>
                <a:cs typeface="Times New Roman" panose="02020603050405020304" pitchFamily="18" charset="0"/>
              </a:rPr>
              <a:t>. Ramenée dans le cadre estudiantin, cette exhortation de ce grand penseur d’autrefois, suscite une réflexion sur les valeurs à prôner dans le dit cadre, en vue  d’y promouvoir le vivre ensemble et le progrès : </a:t>
            </a:r>
            <a:r>
              <a:rPr lang="fr-FR" sz="1403" b="1" dirty="0">
                <a:solidFill>
                  <a:srgbClr val="002060"/>
                </a:solidFill>
                <a:latin typeface="Times New Roman" panose="02020603050405020304" pitchFamily="18" charset="0"/>
                <a:cs typeface="Times New Roman" panose="02020603050405020304" pitchFamily="18" charset="0"/>
              </a:rPr>
              <a:t>c’est la réflexion  éthique</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On arrive alors à se demander : </a:t>
            </a:r>
            <a:r>
              <a:rPr lang="fr-FR" sz="1403" b="1" dirty="0">
                <a:solidFill>
                  <a:srgbClr val="002060"/>
                </a:solidFill>
                <a:latin typeface="Times New Roman" panose="02020603050405020304" pitchFamily="18" charset="0"/>
                <a:cs typeface="Times New Roman" panose="02020603050405020304" pitchFamily="18" charset="0"/>
              </a:rPr>
              <a:t>qu’entend-on concrètement par milieu universitaire ? Que connote le concept d’éthique ? Mieux encore, quelle est la place de l’Ethique dans le monde des étudiants ? </a:t>
            </a:r>
            <a:r>
              <a:rPr lang="fr-FR" sz="1403" dirty="0">
                <a:latin typeface="Times New Roman" panose="02020603050405020304" pitchFamily="18" charset="0"/>
                <a:cs typeface="Times New Roman" panose="02020603050405020304" pitchFamily="18" charset="0"/>
              </a:rPr>
              <a:t>Répondre à ces questions en éclaircissant d’une part le concept de </a:t>
            </a:r>
            <a:r>
              <a:rPr lang="fr-FR" sz="1403" b="1" dirty="0">
                <a:solidFill>
                  <a:srgbClr val="002060"/>
                </a:solidFill>
                <a:latin typeface="Times New Roman" panose="02020603050405020304" pitchFamily="18" charset="0"/>
                <a:cs typeface="Times New Roman" panose="02020603050405020304" pitchFamily="18" charset="0"/>
              </a:rPr>
              <a:t>milieu estudiantin </a:t>
            </a:r>
            <a:r>
              <a:rPr lang="fr-FR" sz="1403" dirty="0">
                <a:latin typeface="Times New Roman" panose="02020603050405020304" pitchFamily="18" charset="0"/>
                <a:cs typeface="Times New Roman" panose="02020603050405020304" pitchFamily="18" charset="0"/>
              </a:rPr>
              <a:t>et d’une autre part celui d’</a:t>
            </a:r>
            <a:r>
              <a:rPr lang="fr-FR" sz="1403" b="1" dirty="0">
                <a:solidFill>
                  <a:srgbClr val="002060"/>
                </a:solidFill>
                <a:latin typeface="Times New Roman" panose="02020603050405020304" pitchFamily="18" charset="0"/>
                <a:cs typeface="Times New Roman" panose="02020603050405020304" pitchFamily="18" charset="0"/>
              </a:rPr>
              <a:t>éthique</a:t>
            </a:r>
            <a:r>
              <a:rPr lang="fr-FR" sz="1403" dirty="0">
                <a:latin typeface="Times New Roman" panose="02020603050405020304" pitchFamily="18" charset="0"/>
                <a:cs typeface="Times New Roman" panose="02020603050405020304" pitchFamily="18" charset="0"/>
              </a:rPr>
              <a:t>, puis en présentant </a:t>
            </a:r>
            <a:r>
              <a:rPr lang="fr-FR" sz="1403" b="1" dirty="0">
                <a:solidFill>
                  <a:srgbClr val="002060"/>
                </a:solidFill>
                <a:latin typeface="Times New Roman" panose="02020603050405020304" pitchFamily="18" charset="0"/>
                <a:cs typeface="Times New Roman" panose="02020603050405020304" pitchFamily="18" charset="0"/>
              </a:rPr>
              <a:t>le rapport</a:t>
            </a:r>
            <a:r>
              <a:rPr lang="fr-FR" sz="1403" dirty="0">
                <a:latin typeface="Times New Roman" panose="02020603050405020304" pitchFamily="18" charset="0"/>
                <a:cs typeface="Times New Roman" panose="02020603050405020304" pitchFamily="18" charset="0"/>
              </a:rPr>
              <a:t> qu’ils entretiennent, constituera l’essentiel de cette réflexion.</a:t>
            </a:r>
          </a:p>
          <a:p>
            <a:pPr>
              <a:lnSpc>
                <a:spcPct val="150000"/>
              </a:lnSpc>
            </a:pPr>
            <a:endParaRPr lang="fr-FR" sz="1403" dirty="0">
              <a:latin typeface="Times New Roman" panose="02020603050405020304" pitchFamily="18" charset="0"/>
              <a:cs typeface="Times New Roman" panose="02020603050405020304" pitchFamily="18" charset="0"/>
            </a:endParaRPr>
          </a:p>
          <a:p>
            <a:pPr algn="ctr">
              <a:lnSpc>
                <a:spcPct val="150000"/>
              </a:lnSpc>
            </a:pPr>
            <a:r>
              <a:rPr lang="fr-FR" sz="1619" b="1" dirty="0">
                <a:solidFill>
                  <a:schemeClr val="accent2">
                    <a:lumMod val="50000"/>
                  </a:schemeClr>
                </a:solidFill>
                <a:latin typeface="Times New Roman" panose="02020603050405020304" pitchFamily="18" charset="0"/>
                <a:cs typeface="Times New Roman" panose="02020603050405020304" pitchFamily="18" charset="0"/>
              </a:rPr>
              <a:t>I - </a:t>
            </a:r>
            <a:r>
              <a:rPr lang="fr-FR" sz="1619" b="1" u="sng" dirty="0">
                <a:solidFill>
                  <a:schemeClr val="accent2">
                    <a:lumMod val="50000"/>
                  </a:schemeClr>
                </a:solidFill>
                <a:latin typeface="Times New Roman" panose="02020603050405020304" pitchFamily="18" charset="0"/>
                <a:cs typeface="Times New Roman" panose="02020603050405020304" pitchFamily="18" charset="0"/>
              </a:rPr>
              <a:t>PRESENTATION DU MILIEU ESTUDIANTIN</a:t>
            </a:r>
          </a:p>
          <a:p>
            <a:pPr algn="ctr">
              <a:lnSpc>
                <a:spcPct val="150000"/>
              </a:lnSpc>
            </a:pPr>
            <a:endParaRPr lang="en-GB" sz="1403"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De manière générale, le terme </a:t>
            </a:r>
            <a:r>
              <a:rPr lang="fr-FR" sz="1403" b="1" dirty="0">
                <a:solidFill>
                  <a:srgbClr val="002060"/>
                </a:solidFill>
                <a:latin typeface="Times New Roman" panose="02020603050405020304" pitchFamily="18" charset="0"/>
                <a:cs typeface="Times New Roman" panose="02020603050405020304" pitchFamily="18" charset="0"/>
              </a:rPr>
              <a:t>« Estudiantin» </a:t>
            </a:r>
            <a:r>
              <a:rPr lang="fr-FR" sz="1403" dirty="0">
                <a:latin typeface="Times New Roman" panose="02020603050405020304" pitchFamily="18" charset="0"/>
                <a:cs typeface="Times New Roman" panose="02020603050405020304" pitchFamily="18" charset="0"/>
              </a:rPr>
              <a:t>est relatif à la vie des étudiants, aux étudiants eux-mêmes ou plus simplement aux personnes qui suivent des cours dans une université ou une grande école. Etymologiquement, d’après le dictionnaire </a:t>
            </a:r>
            <a:r>
              <a:rPr lang="fr-FR" sz="1403" b="1" dirty="0">
                <a:solidFill>
                  <a:srgbClr val="002060"/>
                </a:solidFill>
                <a:latin typeface="Times New Roman" panose="02020603050405020304" pitchFamily="18" charset="0"/>
                <a:cs typeface="Times New Roman" panose="02020603050405020304" pitchFamily="18" charset="0"/>
              </a:rPr>
              <a:t>Larousse,</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ce terme dérive du mot espagnol </a:t>
            </a:r>
            <a:r>
              <a:rPr lang="fr-FR" sz="1403" b="1" dirty="0">
                <a:solidFill>
                  <a:srgbClr val="002060"/>
                </a:solidFill>
                <a:latin typeface="Times New Roman" panose="02020603050405020304" pitchFamily="18" charset="0"/>
                <a:cs typeface="Times New Roman" panose="02020603050405020304" pitchFamily="18" charset="0"/>
              </a:rPr>
              <a:t>« Estudiantino »</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qui signifie </a:t>
            </a:r>
            <a:r>
              <a:rPr lang="fr-FR" sz="1403" b="1" dirty="0">
                <a:solidFill>
                  <a:srgbClr val="002060"/>
                </a:solidFill>
                <a:latin typeface="Times New Roman" panose="02020603050405020304" pitchFamily="18" charset="0"/>
                <a:cs typeface="Times New Roman" panose="02020603050405020304" pitchFamily="18" charset="0"/>
              </a:rPr>
              <a:t>« de l’étudiant »</a:t>
            </a:r>
            <a:r>
              <a:rPr lang="fr-FR" sz="1403" dirty="0">
                <a:solidFill>
                  <a:srgbClr val="002060"/>
                </a:solidFill>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Le milieu estudiantin est alors le cadre dans lequel la vie de l’étudiant est développée. Il regroupe tant bien le cadre scolaire, les lieux de loisirs fréquentés par ce dernier, et sa vie professionnelle. </a:t>
            </a:r>
          </a:p>
          <a:p>
            <a:pPr algn="just">
              <a:lnSpc>
                <a:spcPct val="150000"/>
              </a:lnSpc>
            </a:pPr>
            <a:r>
              <a:rPr lang="fr-FR" sz="1403" dirty="0">
                <a:latin typeface="Times New Roman" panose="02020603050405020304" pitchFamily="18" charset="0"/>
                <a:cs typeface="Times New Roman" panose="02020603050405020304" pitchFamily="18" charset="0"/>
              </a:rPr>
              <a:t>	En vue de promouvoir le vivre ensemble dans le milieu universitaire, il est nécessaire de mener une réflexion sur les valeurs et les règles de conduite à prôner dans ledit cadre. C’est ainsi que s’introduit le concept d’éthique, qui sera développé de façon plus explicite dans la suite.</a:t>
            </a:r>
          </a:p>
        </p:txBody>
      </p:sp>
      <p:sp>
        <p:nvSpPr>
          <p:cNvPr id="5" name="ZoneTexte 4">
            <a:extLst>
              <a:ext uri="{FF2B5EF4-FFF2-40B4-BE49-F238E27FC236}">
                <a16:creationId xmlns:a16="http://schemas.microsoft.com/office/drawing/2014/main" id="{F8AF4D12-55DB-418F-AC9D-E639484B37CD}"/>
              </a:ext>
            </a:extLst>
          </p:cNvPr>
          <p:cNvSpPr txBox="1"/>
          <p:nvPr/>
        </p:nvSpPr>
        <p:spPr>
          <a:xfrm>
            <a:off x="9216417" y="7138289"/>
            <a:ext cx="1064174" cy="308226"/>
          </a:xfrm>
          <a:prstGeom prst="rect">
            <a:avLst/>
          </a:prstGeom>
          <a:noFill/>
        </p:spPr>
        <p:txBody>
          <a:bodyPr wrap="square" rtlCol="0">
            <a:spAutoFit/>
          </a:bodyPr>
          <a:lstStyle/>
          <a:p>
            <a:r>
              <a:rPr lang="fr-FR" sz="1403" b="1" dirty="0">
                <a:solidFill>
                  <a:schemeClr val="accent2">
                    <a:lumMod val="50000"/>
                  </a:schemeClr>
                </a:solidFill>
              </a:rPr>
              <a:t>Page 4/9</a:t>
            </a:r>
          </a:p>
        </p:txBody>
      </p:sp>
    </p:spTree>
    <p:extLst>
      <p:ext uri="{BB962C8B-B14F-4D97-AF65-F5344CB8AC3E}">
        <p14:creationId xmlns:p14="http://schemas.microsoft.com/office/powerpoint/2010/main" val="6720373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519786" y="187390"/>
            <a:ext cx="9622631" cy="7328416"/>
          </a:xfrm>
          <a:prstGeom prst="rect">
            <a:avLst/>
          </a:prstGeom>
          <a:noFill/>
        </p:spPr>
        <p:txBody>
          <a:bodyPr wrap="square" rtlCol="0">
            <a:spAutoFit/>
          </a:bodyPr>
          <a:lstStyle/>
          <a:p>
            <a:pPr algn="ctr">
              <a:lnSpc>
                <a:spcPct val="150000"/>
              </a:lnSpc>
            </a:pPr>
            <a:endParaRPr lang="fr-FR" sz="1619" b="1" u="sng" dirty="0">
              <a:latin typeface="Times New Roman" panose="02020603050405020304" pitchFamily="18" charset="0"/>
              <a:cs typeface="Times New Roman" panose="02020603050405020304" pitchFamily="18" charset="0"/>
            </a:endParaRPr>
          </a:p>
          <a:p>
            <a:pPr algn="ctr">
              <a:lnSpc>
                <a:spcPct val="150000"/>
              </a:lnSpc>
            </a:pPr>
            <a:r>
              <a:rPr lang="fr-FR" sz="1619" b="1" dirty="0">
                <a:solidFill>
                  <a:schemeClr val="accent2">
                    <a:lumMod val="50000"/>
                  </a:schemeClr>
                </a:solidFill>
                <a:latin typeface="Times New Roman" panose="02020603050405020304" pitchFamily="18" charset="0"/>
                <a:cs typeface="Times New Roman" panose="02020603050405020304" pitchFamily="18" charset="0"/>
              </a:rPr>
              <a:t>II - </a:t>
            </a:r>
            <a:r>
              <a:rPr lang="fr-FR" sz="1619" b="1" u="sng" dirty="0">
                <a:solidFill>
                  <a:schemeClr val="accent2">
                    <a:lumMod val="50000"/>
                  </a:schemeClr>
                </a:solidFill>
                <a:latin typeface="Times New Roman" panose="02020603050405020304" pitchFamily="18" charset="0"/>
                <a:cs typeface="Times New Roman" panose="02020603050405020304" pitchFamily="18" charset="0"/>
              </a:rPr>
              <a:t>PRESENTATION DE L’ETHIQUE</a:t>
            </a:r>
          </a:p>
          <a:p>
            <a:pPr algn="ctr">
              <a:lnSpc>
                <a:spcPct val="150000"/>
              </a:lnSpc>
            </a:pPr>
            <a:endParaRPr lang="en-GB" sz="1619" b="1"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D’après le </a:t>
            </a:r>
            <a:r>
              <a:rPr lang="fr-FR" sz="1403" b="1" dirty="0">
                <a:solidFill>
                  <a:srgbClr val="002060"/>
                </a:solidFill>
                <a:latin typeface="Times New Roman" panose="02020603050405020304" pitchFamily="18" charset="0"/>
                <a:cs typeface="Times New Roman" panose="02020603050405020304" pitchFamily="18" charset="0"/>
              </a:rPr>
              <a:t>« Wiktionnaire »</a:t>
            </a:r>
            <a:r>
              <a:rPr lang="fr-FR" sz="1403" dirty="0">
                <a:solidFill>
                  <a:srgbClr val="002060"/>
                </a:solidFill>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le mot  </a:t>
            </a:r>
            <a:r>
              <a:rPr lang="fr-FR" sz="1403" b="1" dirty="0">
                <a:solidFill>
                  <a:srgbClr val="002060"/>
                </a:solidFill>
                <a:latin typeface="Times New Roman" panose="02020603050405020304" pitchFamily="18" charset="0"/>
                <a:cs typeface="Times New Roman" panose="02020603050405020304" pitchFamily="18" charset="0"/>
              </a:rPr>
              <a:t>« Ethique » </a:t>
            </a:r>
            <a:r>
              <a:rPr lang="fr-FR" sz="1403" dirty="0">
                <a:latin typeface="Times New Roman" panose="02020603050405020304" pitchFamily="18" charset="0"/>
                <a:cs typeface="Times New Roman" panose="02020603050405020304" pitchFamily="18" charset="0"/>
              </a:rPr>
              <a:t>viendrait du latin </a:t>
            </a:r>
            <a:r>
              <a:rPr lang="fr-FR" sz="1403" b="1" dirty="0">
                <a:solidFill>
                  <a:srgbClr val="002060"/>
                </a:solidFill>
                <a:latin typeface="Times New Roman" panose="02020603050405020304" pitchFamily="18" charset="0"/>
                <a:cs typeface="Times New Roman" panose="02020603050405020304" pitchFamily="18" charset="0"/>
              </a:rPr>
              <a:t>« Ethicus » </a:t>
            </a:r>
            <a:r>
              <a:rPr lang="fr-FR" sz="1403" dirty="0">
                <a:latin typeface="Times New Roman" panose="02020603050405020304" pitchFamily="18" charset="0"/>
                <a:cs typeface="Times New Roman" panose="02020603050405020304" pitchFamily="18" charset="0"/>
              </a:rPr>
              <a:t>qui signifie </a:t>
            </a:r>
            <a:r>
              <a:rPr lang="fr-FR" sz="1403" b="1" dirty="0">
                <a:solidFill>
                  <a:srgbClr val="002060"/>
                </a:solidFill>
                <a:latin typeface="Times New Roman" panose="02020603050405020304" pitchFamily="18" charset="0"/>
                <a:cs typeface="Times New Roman" panose="02020603050405020304" pitchFamily="18" charset="0"/>
              </a:rPr>
              <a:t>« Moral »</a:t>
            </a:r>
            <a:r>
              <a:rPr lang="fr-FR" sz="1403" dirty="0">
                <a:solidFill>
                  <a:srgbClr val="002060"/>
                </a:solidFill>
                <a:latin typeface="Times New Roman" panose="02020603050405020304" pitchFamily="18" charset="0"/>
                <a:cs typeface="Times New Roman" panose="02020603050405020304" pitchFamily="18" charset="0"/>
              </a:rPr>
              <a:t>,</a:t>
            </a:r>
            <a:r>
              <a:rPr lang="fr-FR" sz="1403" b="1" dirty="0">
                <a:solidFill>
                  <a:srgbClr val="002060"/>
                </a:solidFill>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dérivant du grec </a:t>
            </a:r>
            <a:r>
              <a:rPr lang="fr-FR" sz="1403" b="1" dirty="0">
                <a:solidFill>
                  <a:srgbClr val="002060"/>
                </a:solidFill>
                <a:latin typeface="Times New Roman" panose="02020603050405020304" pitchFamily="18" charset="0"/>
                <a:cs typeface="Times New Roman" panose="02020603050405020304" pitchFamily="18" charset="0"/>
              </a:rPr>
              <a:t>« Ethos », </a:t>
            </a:r>
            <a:r>
              <a:rPr lang="fr-FR" sz="1403" dirty="0">
                <a:latin typeface="Times New Roman" panose="02020603050405020304" pitchFamily="18" charset="0"/>
                <a:cs typeface="Times New Roman" panose="02020603050405020304" pitchFamily="18" charset="0"/>
              </a:rPr>
              <a:t>désignant les </a:t>
            </a:r>
            <a:r>
              <a:rPr lang="fr-FR" sz="1403" b="1" dirty="0">
                <a:solidFill>
                  <a:srgbClr val="002060"/>
                </a:solidFill>
                <a:latin typeface="Times New Roman" panose="02020603050405020304" pitchFamily="18" charset="0"/>
                <a:cs typeface="Times New Roman" panose="02020603050405020304" pitchFamily="18" charset="0"/>
              </a:rPr>
              <a:t>« mœurs ». </a:t>
            </a:r>
            <a:r>
              <a:rPr lang="fr-FR" sz="1403" dirty="0">
                <a:latin typeface="Times New Roman" panose="02020603050405020304" pitchFamily="18" charset="0"/>
                <a:cs typeface="Times New Roman" panose="02020603050405020304" pitchFamily="18" charset="0"/>
              </a:rPr>
              <a:t>Il s’en déduit que l’éthique est une réflexion fondamentale de tout groupe de personnes, afin d’établir ses limites, ses normes et ses devoirs. D’une manière ou d’une autre, elle a toujours existé dans ce monde, même si elle était observée inconsciemment. </a:t>
            </a:r>
          </a:p>
          <a:p>
            <a:pPr algn="just">
              <a:lnSpc>
                <a:spcPct val="150000"/>
              </a:lnSpc>
            </a:pPr>
            <a:r>
              <a:rPr lang="fr-FR" sz="1403" dirty="0">
                <a:latin typeface="Times New Roman" panose="02020603050405020304" pitchFamily="18" charset="0"/>
                <a:cs typeface="Times New Roman" panose="02020603050405020304" pitchFamily="18" charset="0"/>
              </a:rPr>
              <a:t>	C’est ainsi que  dans </a:t>
            </a:r>
            <a:r>
              <a:rPr lang="fr-FR" sz="1403" dirty="0">
                <a:solidFill>
                  <a:srgbClr val="002060"/>
                </a:solidFill>
                <a:latin typeface="Times New Roman" panose="02020603050405020304" pitchFamily="18" charset="0"/>
                <a:cs typeface="Times New Roman" panose="02020603050405020304" pitchFamily="18" charset="0"/>
              </a:rPr>
              <a:t>l’</a:t>
            </a:r>
            <a:r>
              <a:rPr lang="fr-FR" sz="1403" b="1" dirty="0">
                <a:solidFill>
                  <a:srgbClr val="002060"/>
                </a:solidFill>
                <a:latin typeface="Times New Roman" panose="02020603050405020304" pitchFamily="18" charset="0"/>
                <a:cs typeface="Times New Roman" panose="02020603050405020304" pitchFamily="18" charset="0"/>
              </a:rPr>
              <a:t>antiquité</a:t>
            </a:r>
            <a:r>
              <a:rPr lang="fr-FR" sz="1403" dirty="0">
                <a:solidFill>
                  <a:srgbClr val="002060"/>
                </a:solidFill>
                <a:latin typeface="Times New Roman" panose="02020603050405020304" pitchFamily="18" charset="0"/>
                <a:cs typeface="Times New Roman" panose="02020603050405020304" pitchFamily="18" charset="0"/>
              </a:rPr>
              <a:t>,</a:t>
            </a:r>
            <a:r>
              <a:rPr lang="fr-FR" sz="1403" dirty="0">
                <a:latin typeface="Times New Roman" panose="02020603050405020304" pitchFamily="18" charset="0"/>
                <a:cs typeface="Times New Roman" panose="02020603050405020304" pitchFamily="18" charset="0"/>
              </a:rPr>
              <a:t> celle-ci était dominée par le concept de </a:t>
            </a:r>
            <a:r>
              <a:rPr lang="fr-FR" sz="1403" b="1" dirty="0">
                <a:solidFill>
                  <a:srgbClr val="002060"/>
                </a:solidFill>
                <a:latin typeface="Times New Roman" panose="02020603050405020304" pitchFamily="18" charset="0"/>
                <a:cs typeface="Times New Roman" panose="02020603050405020304" pitchFamily="18" charset="0"/>
              </a:rPr>
              <a:t>vertu,</a:t>
            </a:r>
            <a:r>
              <a:rPr lang="fr-FR" sz="1403" dirty="0">
                <a:latin typeface="Times New Roman" panose="02020603050405020304" pitchFamily="18" charset="0"/>
                <a:cs typeface="Times New Roman" panose="02020603050405020304" pitchFamily="18" charset="0"/>
              </a:rPr>
              <a:t> c’est-à-dire tout ce qui conduit au bonheur.</a:t>
            </a:r>
            <a:endParaRPr lang="en-GB" sz="1403"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Par la suite, au </a:t>
            </a:r>
            <a:r>
              <a:rPr lang="fr-FR" sz="1403" b="1" dirty="0">
                <a:solidFill>
                  <a:srgbClr val="002060"/>
                </a:solidFill>
                <a:latin typeface="Times New Roman" panose="02020603050405020304" pitchFamily="18" charset="0"/>
                <a:cs typeface="Times New Roman" panose="02020603050405020304" pitchFamily="18" charset="0"/>
              </a:rPr>
              <a:t>moyen âge</a:t>
            </a:r>
            <a:r>
              <a:rPr lang="fr-FR" sz="1403" dirty="0">
                <a:latin typeface="Times New Roman" panose="02020603050405020304" pitchFamily="18" charset="0"/>
                <a:cs typeface="Times New Roman" panose="02020603050405020304" pitchFamily="18" charset="0"/>
              </a:rPr>
              <a:t>, l’éthique antique est intégrée à la </a:t>
            </a:r>
            <a:r>
              <a:rPr lang="fr-FR" sz="1403" b="1" dirty="0">
                <a:solidFill>
                  <a:srgbClr val="002060"/>
                </a:solidFill>
                <a:latin typeface="Times New Roman" panose="02020603050405020304" pitchFamily="18" charset="0"/>
                <a:cs typeface="Times New Roman" panose="02020603050405020304" pitchFamily="18" charset="0"/>
              </a:rPr>
              <a:t>tradition biblique </a:t>
            </a:r>
            <a:r>
              <a:rPr lang="fr-FR" sz="1403" dirty="0">
                <a:latin typeface="Times New Roman" panose="02020603050405020304" pitchFamily="18" charset="0"/>
                <a:cs typeface="Times New Roman" panose="02020603050405020304" pitchFamily="18" charset="0"/>
              </a:rPr>
              <a:t>si bien que tout comportement non biblique n’est pas considéré comme éthique.</a:t>
            </a:r>
            <a:endParaRPr lang="en-GB" sz="1403"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Au </a:t>
            </a:r>
            <a:r>
              <a:rPr lang="fr-FR" sz="1403" b="1" dirty="0">
                <a:solidFill>
                  <a:srgbClr val="002060"/>
                </a:solidFill>
                <a:latin typeface="Times New Roman" panose="02020603050405020304" pitchFamily="18" charset="0"/>
                <a:cs typeface="Times New Roman" panose="02020603050405020304" pitchFamily="18" charset="0"/>
              </a:rPr>
              <a:t>17è siècle</a:t>
            </a:r>
            <a:r>
              <a:rPr lang="fr-FR" sz="1403" dirty="0">
                <a:solidFill>
                  <a:srgbClr val="002060"/>
                </a:solidFill>
                <a:latin typeface="Times New Roman" panose="02020603050405020304" pitchFamily="18" charset="0"/>
                <a:cs typeface="Times New Roman" panose="02020603050405020304" pitchFamily="18" charset="0"/>
              </a:rPr>
              <a:t>, </a:t>
            </a:r>
            <a:r>
              <a:rPr lang="fr-FR" sz="1403" b="1" dirty="0">
                <a:solidFill>
                  <a:srgbClr val="002060"/>
                </a:solidFill>
                <a:latin typeface="Times New Roman" panose="02020603050405020304" pitchFamily="18" charset="0"/>
                <a:cs typeface="Times New Roman" panose="02020603050405020304" pitchFamily="18" charset="0"/>
              </a:rPr>
              <a:t>Descartes</a:t>
            </a:r>
            <a:r>
              <a:rPr lang="fr-FR" sz="1403" dirty="0">
                <a:solidFill>
                  <a:srgbClr val="002060"/>
                </a:solidFill>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prit ses distances avec l’éthique biblique, pour fonder la </a:t>
            </a:r>
            <a:r>
              <a:rPr lang="fr-FR" sz="1403" b="1" dirty="0">
                <a:solidFill>
                  <a:srgbClr val="002060"/>
                </a:solidFill>
                <a:latin typeface="Times New Roman" panose="02020603050405020304" pitchFamily="18" charset="0"/>
                <a:cs typeface="Times New Roman" panose="02020603050405020304" pitchFamily="18" charset="0"/>
              </a:rPr>
              <a:t>morale</a:t>
            </a:r>
            <a:r>
              <a:rPr lang="fr-FR" sz="1403" dirty="0">
                <a:latin typeface="Times New Roman" panose="02020603050405020304" pitchFamily="18" charset="0"/>
                <a:cs typeface="Times New Roman" panose="02020603050405020304" pitchFamily="18" charset="0"/>
              </a:rPr>
              <a:t> dans un sens beaucoup plus individuel.</a:t>
            </a:r>
            <a:endParaRPr lang="en-GB" sz="1403"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A la fin de ce siècle, le développement de </a:t>
            </a:r>
            <a:r>
              <a:rPr lang="fr-FR" sz="1403" dirty="0">
                <a:solidFill>
                  <a:srgbClr val="002060"/>
                </a:solidFill>
                <a:latin typeface="Times New Roman" panose="02020603050405020304" pitchFamily="18" charset="0"/>
                <a:cs typeface="Times New Roman" panose="02020603050405020304" pitchFamily="18" charset="0"/>
              </a:rPr>
              <a:t>l’</a:t>
            </a:r>
            <a:r>
              <a:rPr lang="fr-FR" sz="1403" b="1" dirty="0">
                <a:solidFill>
                  <a:srgbClr val="002060"/>
                </a:solidFill>
                <a:latin typeface="Times New Roman" panose="02020603050405020304" pitchFamily="18" charset="0"/>
                <a:cs typeface="Times New Roman" panose="02020603050405020304" pitchFamily="18" charset="0"/>
              </a:rPr>
              <a:t>éthique moderne </a:t>
            </a:r>
            <a:r>
              <a:rPr lang="fr-FR" sz="1403" dirty="0">
                <a:latin typeface="Times New Roman" panose="02020603050405020304" pitchFamily="18" charset="0"/>
                <a:cs typeface="Times New Roman" panose="02020603050405020304" pitchFamily="18" charset="0"/>
              </a:rPr>
              <a:t>se poursuit avec la pensée de </a:t>
            </a:r>
            <a:r>
              <a:rPr lang="fr-FR" sz="1403" b="1" dirty="0">
                <a:solidFill>
                  <a:srgbClr val="002060"/>
                </a:solidFill>
                <a:latin typeface="Times New Roman" panose="02020603050405020304" pitchFamily="18" charset="0"/>
                <a:cs typeface="Times New Roman" panose="02020603050405020304" pitchFamily="18" charset="0"/>
              </a:rPr>
              <a:t>Kant</a:t>
            </a:r>
            <a:r>
              <a:rPr lang="fr-FR" sz="1403" dirty="0">
                <a:latin typeface="Times New Roman" panose="02020603050405020304" pitchFamily="18" charset="0"/>
                <a:cs typeface="Times New Roman" panose="02020603050405020304" pitchFamily="18" charset="0"/>
              </a:rPr>
              <a:t> et la naissance </a:t>
            </a:r>
            <a:r>
              <a:rPr lang="fr-FR" sz="1403" dirty="0">
                <a:solidFill>
                  <a:srgbClr val="002060"/>
                </a:solidFill>
                <a:latin typeface="Times New Roman" panose="02020603050405020304" pitchFamily="18" charset="0"/>
                <a:cs typeface="Times New Roman" panose="02020603050405020304" pitchFamily="18" charset="0"/>
              </a:rPr>
              <a:t>de </a:t>
            </a:r>
            <a:r>
              <a:rPr lang="fr-FR" sz="1403" b="1" dirty="0">
                <a:solidFill>
                  <a:srgbClr val="002060"/>
                </a:solidFill>
                <a:latin typeface="Times New Roman" panose="02020603050405020304" pitchFamily="18" charset="0"/>
                <a:cs typeface="Times New Roman" panose="02020603050405020304" pitchFamily="18" charset="0"/>
              </a:rPr>
              <a:t>l’éthique déontologique</a:t>
            </a:r>
            <a:r>
              <a:rPr lang="fr-FR" sz="1403" b="1" dirty="0">
                <a:latin typeface="Times New Roman" panose="02020603050405020304" pitchFamily="18" charset="0"/>
                <a:cs typeface="Times New Roman" panose="02020603050405020304" pitchFamily="18" charset="0"/>
              </a:rPr>
              <a:t>,</a:t>
            </a:r>
            <a:r>
              <a:rPr lang="fr-FR" sz="1403" dirty="0">
                <a:latin typeface="Times New Roman" panose="02020603050405020304" pitchFamily="18" charset="0"/>
                <a:cs typeface="Times New Roman" panose="02020603050405020304" pitchFamily="18" charset="0"/>
              </a:rPr>
              <a:t> qui est une réflexion critique sur le  sens du devoir.</a:t>
            </a:r>
            <a:endParaRPr lang="en-GB" sz="1403"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Deux siècles après, avec </a:t>
            </a:r>
            <a:r>
              <a:rPr lang="fr-FR" sz="1403" b="1" dirty="0">
                <a:solidFill>
                  <a:srgbClr val="002060"/>
                </a:solidFill>
                <a:latin typeface="Times New Roman" panose="02020603050405020304" pitchFamily="18" charset="0"/>
                <a:cs typeface="Times New Roman" panose="02020603050405020304" pitchFamily="18" charset="0"/>
              </a:rPr>
              <a:t>Heidegger</a:t>
            </a:r>
            <a:r>
              <a:rPr lang="fr-FR" sz="1403" dirty="0">
                <a:solidFill>
                  <a:srgbClr val="002060"/>
                </a:solidFill>
                <a:latin typeface="Times New Roman" panose="02020603050405020304" pitchFamily="18" charset="0"/>
                <a:cs typeface="Times New Roman" panose="02020603050405020304" pitchFamily="18" charset="0"/>
              </a:rPr>
              <a:t>,</a:t>
            </a:r>
            <a:r>
              <a:rPr lang="fr-FR" sz="1403" dirty="0">
                <a:latin typeface="Times New Roman" panose="02020603050405020304" pitchFamily="18" charset="0"/>
                <a:cs typeface="Times New Roman" panose="02020603050405020304" pitchFamily="18" charset="0"/>
              </a:rPr>
              <a:t> l’éthique se différencie de la morale pour devenir une étude du bien-fondé des valeurs prônées par ladite morale.</a:t>
            </a:r>
            <a:endParaRPr lang="en-GB" sz="1403"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C’est alors à </a:t>
            </a:r>
            <a:r>
              <a:rPr lang="fr-FR" sz="1403" b="1" dirty="0">
                <a:solidFill>
                  <a:srgbClr val="002060"/>
                </a:solidFill>
                <a:latin typeface="Times New Roman" panose="02020603050405020304" pitchFamily="18" charset="0"/>
                <a:cs typeface="Times New Roman" panose="02020603050405020304" pitchFamily="18" charset="0"/>
              </a:rPr>
              <a:t>l’avènement du 20è siècle et à l’aube du 21è siècle </a:t>
            </a:r>
            <a:r>
              <a:rPr lang="fr-FR" sz="1403" dirty="0">
                <a:latin typeface="Times New Roman" panose="02020603050405020304" pitchFamily="18" charset="0"/>
                <a:cs typeface="Times New Roman" panose="02020603050405020304" pitchFamily="18" charset="0"/>
              </a:rPr>
              <a:t>que se développe l’éthique appliquée en rapport avec de nouvelles préoccupations environnementales et sociales. C’est dans cette même lancée que l’éthique prend des aspects différents d’un milieu à un autre.</a:t>
            </a:r>
          </a:p>
          <a:p>
            <a:pPr algn="just">
              <a:lnSpc>
                <a:spcPct val="150000"/>
              </a:lnSpc>
            </a:pPr>
            <a:r>
              <a:rPr lang="fr-FR" sz="1403" dirty="0">
                <a:latin typeface="Times New Roman" panose="02020603050405020304" pitchFamily="18" charset="0"/>
                <a:cs typeface="Times New Roman" panose="02020603050405020304" pitchFamily="18" charset="0"/>
              </a:rPr>
              <a:t>	Mieux éclairé sur les concepts de </a:t>
            </a:r>
            <a:r>
              <a:rPr lang="fr-FR" sz="1403" b="1" dirty="0">
                <a:solidFill>
                  <a:srgbClr val="002060"/>
                </a:solidFill>
                <a:latin typeface="Times New Roman" panose="02020603050405020304" pitchFamily="18" charset="0"/>
                <a:cs typeface="Times New Roman" panose="02020603050405020304" pitchFamily="18" charset="0"/>
              </a:rPr>
              <a:t>« milieu estudiantin » </a:t>
            </a:r>
            <a:r>
              <a:rPr lang="fr-FR" sz="1403" dirty="0">
                <a:latin typeface="Times New Roman" panose="02020603050405020304" pitchFamily="18" charset="0"/>
                <a:cs typeface="Times New Roman" panose="02020603050405020304" pitchFamily="18" charset="0"/>
              </a:rPr>
              <a:t>et d</a:t>
            </a:r>
            <a:r>
              <a:rPr lang="fr-FR" sz="1403" dirty="0">
                <a:solidFill>
                  <a:srgbClr val="002060"/>
                </a:solidFill>
                <a:latin typeface="Times New Roman" panose="02020603050405020304" pitchFamily="18" charset="0"/>
                <a:cs typeface="Times New Roman" panose="02020603050405020304" pitchFamily="18" charset="0"/>
              </a:rPr>
              <a:t>’«</a:t>
            </a:r>
            <a:r>
              <a:rPr lang="fr-FR" sz="1403" b="1" dirty="0">
                <a:solidFill>
                  <a:srgbClr val="002060"/>
                </a:solidFill>
                <a:latin typeface="Times New Roman" panose="02020603050405020304" pitchFamily="18" charset="0"/>
                <a:cs typeface="Times New Roman" panose="02020603050405020304" pitchFamily="18" charset="0"/>
              </a:rPr>
              <a:t> éthique », </a:t>
            </a:r>
            <a:r>
              <a:rPr lang="fr-FR" sz="1403" dirty="0">
                <a:latin typeface="Times New Roman" panose="02020603050405020304" pitchFamily="18" charset="0"/>
                <a:cs typeface="Times New Roman" panose="02020603050405020304" pitchFamily="18" charset="0"/>
              </a:rPr>
              <a:t>on arrive à s’interroger sur les rapports qu’ils entretiennent, mieux encore sur la place de l’éthique dans ce milieu.</a:t>
            </a:r>
          </a:p>
          <a:p>
            <a:pPr>
              <a:lnSpc>
                <a:spcPct val="150000"/>
              </a:lnSpc>
            </a:pPr>
            <a:endParaRPr lang="fr-FR" sz="1403"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021CA9C7-BC6B-4D67-90B7-7A03EE021D44}"/>
              </a:ext>
            </a:extLst>
          </p:cNvPr>
          <p:cNvSpPr txBox="1"/>
          <p:nvPr/>
        </p:nvSpPr>
        <p:spPr>
          <a:xfrm>
            <a:off x="9216417" y="7138289"/>
            <a:ext cx="1064174" cy="308226"/>
          </a:xfrm>
          <a:prstGeom prst="rect">
            <a:avLst/>
          </a:prstGeom>
          <a:noFill/>
        </p:spPr>
        <p:txBody>
          <a:bodyPr wrap="square" rtlCol="0">
            <a:spAutoFit/>
          </a:bodyPr>
          <a:lstStyle/>
          <a:p>
            <a:r>
              <a:rPr lang="fr-FR" sz="1403" b="1" dirty="0">
                <a:solidFill>
                  <a:schemeClr val="accent2">
                    <a:lumMod val="50000"/>
                  </a:schemeClr>
                </a:solidFill>
              </a:rPr>
              <a:t>Page 5/9</a:t>
            </a:r>
          </a:p>
        </p:txBody>
      </p:sp>
    </p:spTree>
    <p:extLst>
      <p:ext uri="{BB962C8B-B14F-4D97-AF65-F5344CB8AC3E}">
        <p14:creationId xmlns:p14="http://schemas.microsoft.com/office/powerpoint/2010/main" val="348387753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519786" y="187391"/>
            <a:ext cx="9622631" cy="7004418"/>
          </a:xfrm>
          <a:prstGeom prst="rect">
            <a:avLst/>
          </a:prstGeom>
          <a:noFill/>
        </p:spPr>
        <p:txBody>
          <a:bodyPr wrap="square" rtlCol="0">
            <a:spAutoFit/>
          </a:bodyPr>
          <a:lstStyle/>
          <a:p>
            <a:pPr algn="ctr">
              <a:lnSpc>
                <a:spcPct val="150000"/>
              </a:lnSpc>
            </a:pPr>
            <a:endParaRPr lang="fr-FR" sz="1619" b="1" dirty="0">
              <a:ln w="0"/>
              <a:latin typeface="Times New Roman" panose="02020603050405020304" pitchFamily="18" charset="0"/>
              <a:cs typeface="Times New Roman" panose="02020603050405020304" pitchFamily="18" charset="0"/>
            </a:endParaRPr>
          </a:p>
          <a:p>
            <a:pPr algn="ctr">
              <a:lnSpc>
                <a:spcPct val="150000"/>
              </a:lnSpc>
            </a:pPr>
            <a:r>
              <a:rPr lang="fr-FR" sz="1619" b="1" dirty="0">
                <a:ln w="0"/>
                <a:solidFill>
                  <a:schemeClr val="accent2">
                    <a:lumMod val="50000"/>
                  </a:schemeClr>
                </a:solidFill>
                <a:latin typeface="Times New Roman" panose="02020603050405020304" pitchFamily="18" charset="0"/>
                <a:cs typeface="Times New Roman" panose="02020603050405020304" pitchFamily="18" charset="0"/>
              </a:rPr>
              <a:t>III – </a:t>
            </a:r>
            <a:r>
              <a:rPr lang="fr-FR" sz="1619" b="1" u="sng" dirty="0">
                <a:ln w="0"/>
                <a:solidFill>
                  <a:schemeClr val="accent2">
                    <a:lumMod val="50000"/>
                  </a:schemeClr>
                </a:solidFill>
                <a:latin typeface="Times New Roman" panose="02020603050405020304" pitchFamily="18" charset="0"/>
                <a:cs typeface="Times New Roman" panose="02020603050405020304" pitchFamily="18" charset="0"/>
              </a:rPr>
              <a:t>LA PLACE DE L’ETHIQUE DANS LE MILIEU ESTUDIANTIN</a:t>
            </a:r>
            <a:endParaRPr lang="fr-FR" sz="1619" b="1" u="sng" dirty="0">
              <a:solidFill>
                <a:schemeClr val="accent2">
                  <a:lumMod val="50000"/>
                </a:schemeClr>
              </a:solidFill>
              <a:latin typeface="Times New Roman" panose="02020603050405020304" pitchFamily="18" charset="0"/>
              <a:cs typeface="Times New Roman" panose="02020603050405020304" pitchFamily="18" charset="0"/>
            </a:endParaRPr>
          </a:p>
          <a:p>
            <a:pPr>
              <a:lnSpc>
                <a:spcPct val="150000"/>
              </a:lnSpc>
            </a:pPr>
            <a:endParaRPr lang="fr-FR" sz="1403" b="1" dirty="0">
              <a:solidFill>
                <a:schemeClr val="accent2">
                  <a:lumMod val="50000"/>
                </a:schemeClr>
              </a:solidFill>
              <a:latin typeface="Times New Roman" panose="02020603050405020304" pitchFamily="18" charset="0"/>
              <a:cs typeface="Times New Roman" panose="02020603050405020304" pitchFamily="18" charset="0"/>
            </a:endParaRPr>
          </a:p>
          <a:p>
            <a:pPr algn="ctr">
              <a:lnSpc>
                <a:spcPct val="150000"/>
              </a:lnSpc>
            </a:pPr>
            <a:r>
              <a:rPr lang="fr-FR" sz="1511" b="1" dirty="0">
                <a:solidFill>
                  <a:schemeClr val="accent2">
                    <a:lumMod val="50000"/>
                  </a:schemeClr>
                </a:solidFill>
                <a:latin typeface="Times New Roman" panose="02020603050405020304" pitchFamily="18" charset="0"/>
                <a:cs typeface="Times New Roman" panose="02020603050405020304" pitchFamily="18" charset="0"/>
              </a:rPr>
              <a:t>III.1 – </a:t>
            </a:r>
            <a:r>
              <a:rPr lang="fr-FR" sz="1511" b="1" u="sng" dirty="0">
                <a:solidFill>
                  <a:schemeClr val="accent2">
                    <a:lumMod val="50000"/>
                  </a:schemeClr>
                </a:solidFill>
                <a:latin typeface="Times New Roman" panose="02020603050405020304" pitchFamily="18" charset="0"/>
                <a:cs typeface="Times New Roman" panose="02020603050405020304" pitchFamily="18" charset="0"/>
              </a:rPr>
              <a:t>RESISTANCE DU MILIEU ESTUDIANTIN FACE A L’ETHIQUE</a:t>
            </a:r>
          </a:p>
          <a:p>
            <a:pPr algn="ctr">
              <a:lnSpc>
                <a:spcPct val="150000"/>
              </a:lnSpc>
            </a:pPr>
            <a:endParaRPr lang="en-GB" sz="1511" b="1" u="sng"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Dans le milieu estudiantin, les étudiants se livrent à des déviances qui sont dues à une non considération des valeurs éthiques. Parmi elles, nous percevons d’emblée </a:t>
            </a:r>
            <a:r>
              <a:rPr lang="fr-FR" sz="1403" b="1" dirty="0">
                <a:solidFill>
                  <a:srgbClr val="002060"/>
                </a:solidFill>
                <a:latin typeface="Times New Roman" panose="02020603050405020304" pitchFamily="18" charset="0"/>
                <a:cs typeface="Times New Roman" panose="02020603050405020304" pitchFamily="18" charset="0"/>
              </a:rPr>
              <a:t>le non-respect de ses camarades et encadreurs</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L’éthique personnelle demande un minimum de considération et d’attention envers son entourage ; mais certains cas nous laissent sans voix, vu le comportement affiché par des étudiants qui préconisent </a:t>
            </a:r>
            <a:r>
              <a:rPr lang="fr-FR" sz="1403" b="1" dirty="0">
                <a:solidFill>
                  <a:srgbClr val="002060"/>
                </a:solidFill>
                <a:latin typeface="Times New Roman" panose="02020603050405020304" pitchFamily="18" charset="0"/>
                <a:cs typeface="Times New Roman" panose="02020603050405020304" pitchFamily="18" charset="0"/>
              </a:rPr>
              <a:t>l’insubordination, la violence et le manque de respect </a:t>
            </a:r>
            <a:r>
              <a:rPr lang="fr-FR" sz="1403" dirty="0">
                <a:latin typeface="Times New Roman" panose="02020603050405020304" pitchFamily="18" charset="0"/>
                <a:cs typeface="Times New Roman" panose="02020603050405020304" pitchFamily="18" charset="0"/>
              </a:rPr>
              <a:t>vis-à-vis de leur entourage, et pire encore envers leurs encadreurs. Cela est accompagné de </a:t>
            </a:r>
            <a:r>
              <a:rPr lang="fr-FR" sz="1403" b="1" dirty="0">
                <a:solidFill>
                  <a:srgbClr val="002060"/>
                </a:solidFill>
                <a:latin typeface="Times New Roman" panose="02020603050405020304" pitchFamily="18" charset="0"/>
                <a:cs typeface="Times New Roman" panose="02020603050405020304" pitchFamily="18" charset="0"/>
              </a:rPr>
              <a:t>la tricherie et du plagiat</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qui sont une forme de reproduction réfléchie mais non personnelle, ne relevant point du travail de soi-même. Cela se manifeste généralement lors des évaluations et contrôles, ainsi que par le vol des recherches des étudiants par leurs encadreurs. Dans le monde des étudiants, l’administration prime sur l’excellence et la bravoure de ceux-ci, ce qui n’est pas toujours le cas pour certains apprenants qui utilisent certains moyens très peu conventionnels pour parvenir à des fins encore moins originales; ce qui nous amène à souligner le cadre de </a:t>
            </a:r>
            <a:r>
              <a:rPr lang="fr-FR" sz="1403" b="1" dirty="0">
                <a:solidFill>
                  <a:srgbClr val="002060"/>
                </a:solidFill>
                <a:latin typeface="Times New Roman" panose="02020603050405020304" pitchFamily="18" charset="0"/>
                <a:cs typeface="Times New Roman" panose="02020603050405020304" pitchFamily="18" charset="0"/>
              </a:rPr>
              <a:t>la corruption </a:t>
            </a:r>
            <a:r>
              <a:rPr lang="fr-FR" sz="1403" dirty="0">
                <a:latin typeface="Times New Roman" panose="02020603050405020304" pitchFamily="18" charset="0"/>
                <a:cs typeface="Times New Roman" panose="02020603050405020304" pitchFamily="18" charset="0"/>
              </a:rPr>
              <a:t>en milieu universitaire. Bien sûr, il est à noter que les déviances ne tournent pas seulement autour des étudiants, mais aussi des enseignants qui utilisent leurs pouvoirs et leur prestige pour porter atteintes à certains apprenants désireux de terminer leurs études dans les plus grandes acclamations. C’est l’illustration des enseignants qui contraignent les étudiants dans l’acquisition de leurs diplômes ou encore dans l’obtention de leurs notes, par certaines conditions telles que </a:t>
            </a:r>
            <a:r>
              <a:rPr lang="fr-FR" sz="1403" b="1" dirty="0">
                <a:solidFill>
                  <a:srgbClr val="002060"/>
                </a:solidFill>
                <a:latin typeface="Times New Roman" panose="02020603050405020304" pitchFamily="18" charset="0"/>
                <a:cs typeface="Times New Roman" panose="02020603050405020304" pitchFamily="18" charset="0"/>
              </a:rPr>
              <a:t>l’adhésion aux sectes ésotériques</a:t>
            </a:r>
            <a:r>
              <a:rPr lang="fr-FR" sz="1403" dirty="0">
                <a:solidFill>
                  <a:srgbClr val="002060"/>
                </a:solidFill>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ou</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encore </a:t>
            </a:r>
            <a:r>
              <a:rPr lang="fr-FR" sz="1403" b="1" dirty="0">
                <a:solidFill>
                  <a:srgbClr val="002060"/>
                </a:solidFill>
                <a:latin typeface="Times New Roman" panose="02020603050405020304" pitchFamily="18" charset="0"/>
                <a:cs typeface="Times New Roman" panose="02020603050405020304" pitchFamily="18" charset="0"/>
              </a:rPr>
              <a:t>l’entretien des rapports sexuels </a:t>
            </a:r>
            <a:r>
              <a:rPr lang="fr-FR" sz="1403" dirty="0">
                <a:latin typeface="Times New Roman" panose="02020603050405020304" pitchFamily="18" charset="0"/>
                <a:cs typeface="Times New Roman" panose="02020603050405020304" pitchFamily="18" charset="0"/>
              </a:rPr>
              <a:t>avec eux. De surcroit, </a:t>
            </a:r>
            <a:r>
              <a:rPr lang="fr-FR" sz="1403" b="1" dirty="0">
                <a:solidFill>
                  <a:srgbClr val="002060"/>
                </a:solidFill>
                <a:latin typeface="Times New Roman" panose="02020603050405020304" pitchFamily="18" charset="0"/>
                <a:cs typeface="Times New Roman" panose="02020603050405020304" pitchFamily="18" charset="0"/>
              </a:rPr>
              <a:t>le non-respect des infrastructures et du matériel pédagogique </a:t>
            </a:r>
            <a:r>
              <a:rPr lang="fr-FR" sz="1403" dirty="0">
                <a:latin typeface="Times New Roman" panose="02020603050405020304" pitchFamily="18" charset="0"/>
                <a:cs typeface="Times New Roman" panose="02020603050405020304" pitchFamily="18" charset="0"/>
              </a:rPr>
              <a:t>est devenu le quotidien des étudiants, ces derniers dégradant les tables bancs, les murs, les tableaux, jetant les ordures de part et d’autre dans le campus. Pire encore</a:t>
            </a:r>
            <a:r>
              <a:rPr lang="fr-FR" sz="1403" dirty="0">
                <a:solidFill>
                  <a:srgbClr val="002060"/>
                </a:solidFill>
                <a:latin typeface="Times New Roman" panose="02020603050405020304" pitchFamily="18" charset="0"/>
                <a:cs typeface="Times New Roman" panose="02020603050405020304" pitchFamily="18" charset="0"/>
              </a:rPr>
              <a:t>, </a:t>
            </a:r>
            <a:r>
              <a:rPr lang="fr-FR" sz="1403" b="1" dirty="0">
                <a:solidFill>
                  <a:srgbClr val="002060"/>
                </a:solidFill>
                <a:latin typeface="Times New Roman" panose="02020603050405020304" pitchFamily="18" charset="0"/>
                <a:cs typeface="Times New Roman" panose="02020603050405020304" pitchFamily="18" charset="0"/>
              </a:rPr>
              <a:t>la ponctualité et l’assiduité </a:t>
            </a:r>
            <a:r>
              <a:rPr lang="fr-FR" sz="1403" dirty="0">
                <a:latin typeface="Times New Roman" panose="02020603050405020304" pitchFamily="18" charset="0"/>
                <a:cs typeface="Times New Roman" panose="02020603050405020304" pitchFamily="18" charset="0"/>
              </a:rPr>
              <a:t>ont pris congé dans le milieu estudiantin. Plus le temps passe, </a:t>
            </a:r>
            <a:endParaRPr lang="en-GB" sz="1403"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6A0EC0CC-3721-4271-8250-D722573EBC36}"/>
              </a:ext>
            </a:extLst>
          </p:cNvPr>
          <p:cNvSpPr txBox="1"/>
          <p:nvPr/>
        </p:nvSpPr>
        <p:spPr>
          <a:xfrm>
            <a:off x="9216417" y="7138289"/>
            <a:ext cx="1064174" cy="308226"/>
          </a:xfrm>
          <a:prstGeom prst="rect">
            <a:avLst/>
          </a:prstGeom>
          <a:noFill/>
        </p:spPr>
        <p:txBody>
          <a:bodyPr wrap="square" rtlCol="0">
            <a:spAutoFit/>
          </a:bodyPr>
          <a:lstStyle/>
          <a:p>
            <a:r>
              <a:rPr lang="fr-FR" sz="1403" b="1" dirty="0">
                <a:solidFill>
                  <a:schemeClr val="accent2">
                    <a:lumMod val="50000"/>
                  </a:schemeClr>
                </a:solidFill>
              </a:rPr>
              <a:t>Page 6/9</a:t>
            </a:r>
          </a:p>
        </p:txBody>
      </p:sp>
    </p:spTree>
    <p:extLst>
      <p:ext uri="{BB962C8B-B14F-4D97-AF65-F5344CB8AC3E}">
        <p14:creationId xmlns:p14="http://schemas.microsoft.com/office/powerpoint/2010/main" val="183816175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519786" y="187390"/>
            <a:ext cx="9622631" cy="7203639"/>
          </a:xfrm>
          <a:prstGeom prst="rect">
            <a:avLst/>
          </a:prstGeom>
          <a:noFill/>
        </p:spPr>
        <p:txBody>
          <a:bodyPr wrap="square" rtlCol="0">
            <a:spAutoFit/>
          </a:bodyPr>
          <a:lstStyle/>
          <a:p>
            <a:pPr>
              <a:lnSpc>
                <a:spcPct val="150000"/>
              </a:lnSpc>
            </a:pPr>
            <a:r>
              <a:rPr lang="fr-FR" sz="1403" dirty="0">
                <a:latin typeface="Times New Roman" panose="02020603050405020304" pitchFamily="18" charset="0"/>
                <a:cs typeface="Times New Roman" panose="02020603050405020304" pitchFamily="18" charset="0"/>
              </a:rPr>
              <a:t>moins les étudiants sont sérieux. En effet, très peu sont les apprenants que l’on peut considérer comme assidus et ponctuels, car pour la plupart de ces derniers, on peut souligner beaucoup d’absences et de retards ; et quand bien même ils sont présents, ils sont occupés à dormir ou à faire d’autres activités non pédagogiques.</a:t>
            </a:r>
            <a:endParaRPr lang="en-GB" sz="1403" dirty="0">
              <a:latin typeface="Times New Roman" panose="02020603050405020304" pitchFamily="18" charset="0"/>
              <a:cs typeface="Times New Roman" panose="02020603050405020304" pitchFamily="18" charset="0"/>
            </a:endParaRPr>
          </a:p>
          <a:p>
            <a:pPr>
              <a:lnSpc>
                <a:spcPct val="150000"/>
              </a:lnSpc>
            </a:pPr>
            <a:r>
              <a:rPr lang="fr-FR" sz="1403" dirty="0">
                <a:latin typeface="Times New Roman" panose="02020603050405020304" pitchFamily="18" charset="0"/>
                <a:cs typeface="Times New Roman" panose="02020603050405020304" pitchFamily="18" charset="0"/>
              </a:rPr>
              <a:t>	Au vu du gouffre dans lequel s’enfonce de plus en plus le milieu estudiantin, on arrive à s’interroger sur les valeurs à y développer, en vue de promouvoir le vivre ensemble et le progrès.</a:t>
            </a:r>
          </a:p>
          <a:p>
            <a:pPr>
              <a:lnSpc>
                <a:spcPct val="150000"/>
              </a:lnSpc>
            </a:pPr>
            <a:endParaRPr lang="fr-FR" sz="1403" dirty="0">
              <a:latin typeface="Times New Roman" panose="02020603050405020304" pitchFamily="18" charset="0"/>
              <a:cs typeface="Times New Roman" panose="02020603050405020304" pitchFamily="18" charset="0"/>
            </a:endParaRPr>
          </a:p>
          <a:p>
            <a:pPr algn="ctr">
              <a:lnSpc>
                <a:spcPct val="150000"/>
              </a:lnSpc>
            </a:pPr>
            <a:r>
              <a:rPr lang="fr-FR" sz="1511" b="1" dirty="0">
                <a:ln w="0"/>
                <a:solidFill>
                  <a:schemeClr val="accent2">
                    <a:lumMod val="50000"/>
                  </a:schemeClr>
                </a:solidFill>
                <a:latin typeface="Times New Roman" panose="02020603050405020304" pitchFamily="18" charset="0"/>
                <a:cs typeface="Times New Roman" panose="02020603050405020304" pitchFamily="18" charset="0"/>
              </a:rPr>
              <a:t>III – 2 – </a:t>
            </a:r>
            <a:r>
              <a:rPr lang="fr-FR" sz="1511" b="1" u="sng" dirty="0">
                <a:ln w="0"/>
                <a:solidFill>
                  <a:schemeClr val="accent2">
                    <a:lumMod val="50000"/>
                  </a:schemeClr>
                </a:solidFill>
                <a:latin typeface="Times New Roman" panose="02020603050405020304" pitchFamily="18" charset="0"/>
                <a:cs typeface="Times New Roman" panose="02020603050405020304" pitchFamily="18" charset="0"/>
              </a:rPr>
              <a:t>INFLUENCE POSITIVE DE L’ETHIQUE SUR LE MILIEU ESTUDIANTIN</a:t>
            </a:r>
          </a:p>
          <a:p>
            <a:pPr>
              <a:lnSpc>
                <a:spcPct val="150000"/>
              </a:lnSpc>
            </a:pPr>
            <a:endParaRPr lang="en-GB" sz="1403" dirty="0">
              <a:latin typeface="Times New Roman" panose="02020603050405020304" pitchFamily="18" charset="0"/>
              <a:cs typeface="Times New Roman" panose="02020603050405020304" pitchFamily="18" charset="0"/>
            </a:endParaRPr>
          </a:p>
          <a:p>
            <a:pPr>
              <a:lnSpc>
                <a:spcPct val="150000"/>
              </a:lnSpc>
            </a:pPr>
            <a:r>
              <a:rPr lang="en-GB" sz="1403"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La réflexion éthique, ramenée au cadre universitaire a aboutit à l’instauration de certaines valeurs et règles, qui, une fois observées par les acteurs dudit cadre, conduiraient à son progrès sur tous les plans. Dans un sens plus général, ces valeurs et règles sont régies dans les notions de </a:t>
            </a:r>
            <a:r>
              <a:rPr lang="fr-FR" sz="1403" b="1" dirty="0">
                <a:solidFill>
                  <a:srgbClr val="002060"/>
                </a:solidFill>
                <a:latin typeface="Times New Roman" panose="02020603050405020304" pitchFamily="18" charset="0"/>
                <a:cs typeface="Times New Roman" panose="02020603050405020304" pitchFamily="18" charset="0"/>
              </a:rPr>
              <a:t>« savoir-être » </a:t>
            </a:r>
            <a:r>
              <a:rPr lang="fr-FR" sz="1403" dirty="0">
                <a:latin typeface="Times New Roman" panose="02020603050405020304" pitchFamily="18" charset="0"/>
                <a:cs typeface="Times New Roman" panose="02020603050405020304" pitchFamily="18" charset="0"/>
              </a:rPr>
              <a:t>et </a:t>
            </a:r>
            <a:r>
              <a:rPr lang="fr-FR" sz="1403" b="1" dirty="0">
                <a:solidFill>
                  <a:srgbClr val="002060"/>
                </a:solidFill>
                <a:latin typeface="Times New Roman" panose="02020603050405020304" pitchFamily="18" charset="0"/>
                <a:cs typeface="Times New Roman" panose="02020603050405020304" pitchFamily="18" charset="0"/>
              </a:rPr>
              <a:t>« savoir-vivre </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désignant respectivement,  les comportements et attitudes attendus dans une situation donnée, et le respect des règles d’usage d’un milieu et des égards de politesse que les hommes se doivent. De façon plus concrète, on parle ici des notions de </a:t>
            </a:r>
            <a:r>
              <a:rPr lang="fr-FR" sz="1403" b="1" dirty="0">
                <a:solidFill>
                  <a:srgbClr val="002060"/>
                </a:solidFill>
                <a:latin typeface="Times New Roman" panose="02020603050405020304" pitchFamily="18" charset="0"/>
                <a:cs typeface="Times New Roman" panose="02020603050405020304" pitchFamily="18" charset="0"/>
              </a:rPr>
              <a:t>ponctualité et d’assiduité en corps et en esprit aux cours</a:t>
            </a:r>
            <a:r>
              <a:rPr lang="fr-FR" sz="1403" dirty="0">
                <a:latin typeface="Times New Roman" panose="02020603050405020304" pitchFamily="18" charset="0"/>
                <a:cs typeface="Times New Roman" panose="02020603050405020304" pitchFamily="18" charset="0"/>
              </a:rPr>
              <a:t>, qui, une fois observées par les étudiants et enseignants, assurent l’évolution continue et sans interruption des cours, et sont favorable à une meilleure compréhension par les étudiants des notions enseignées. De plus, le développement </a:t>
            </a:r>
            <a:r>
              <a:rPr lang="fr-FR" sz="1403" b="1" dirty="0">
                <a:solidFill>
                  <a:srgbClr val="002060"/>
                </a:solidFill>
                <a:latin typeface="Times New Roman" panose="02020603050405020304" pitchFamily="18" charset="0"/>
                <a:cs typeface="Times New Roman" panose="02020603050405020304" pitchFamily="18" charset="0"/>
              </a:rPr>
              <a:t>du respect mutuel </a:t>
            </a:r>
            <a:r>
              <a:rPr lang="fr-FR" sz="1403" dirty="0">
                <a:latin typeface="Times New Roman" panose="02020603050405020304" pitchFamily="18" charset="0"/>
                <a:cs typeface="Times New Roman" panose="02020603050405020304" pitchFamily="18" charset="0"/>
              </a:rPr>
              <a:t>entre acteurs du milieu estudiantin, garantit </a:t>
            </a:r>
            <a:r>
              <a:rPr lang="fr-FR" sz="1403" b="1" dirty="0">
                <a:solidFill>
                  <a:srgbClr val="002060"/>
                </a:solidFill>
                <a:latin typeface="Times New Roman" panose="02020603050405020304" pitchFamily="18" charset="0"/>
                <a:cs typeface="Times New Roman" panose="02020603050405020304" pitchFamily="18" charset="0"/>
              </a:rPr>
              <a:t>l’harmonie et le vivre ensemble </a:t>
            </a:r>
            <a:r>
              <a:rPr lang="fr-FR" sz="1403" dirty="0">
                <a:latin typeface="Times New Roman" panose="02020603050405020304" pitchFamily="18" charset="0"/>
                <a:cs typeface="Times New Roman" panose="02020603050405020304" pitchFamily="18" charset="0"/>
              </a:rPr>
              <a:t>dans ledit milieu. De même, </a:t>
            </a:r>
            <a:r>
              <a:rPr lang="fr-FR" sz="1403" b="1" dirty="0">
                <a:solidFill>
                  <a:srgbClr val="002060"/>
                </a:solidFill>
                <a:latin typeface="Times New Roman" panose="02020603050405020304" pitchFamily="18" charset="0"/>
                <a:cs typeface="Times New Roman" panose="02020603050405020304" pitchFamily="18" charset="0"/>
              </a:rPr>
              <a:t>le respect des infrastructures universitaires et du matériel pédagogique</a:t>
            </a:r>
            <a:r>
              <a:rPr lang="fr-FR" sz="1403" dirty="0">
                <a:solidFill>
                  <a:srgbClr val="002060"/>
                </a:solidFill>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par tous les acteurs universitaires, est nécessaire à l’entretien, la salubrité de ce milieu, ainsi qu’à sa réutilisation par des générations futures. De surcroît, l’inculcation de la notion de </a:t>
            </a:r>
            <a:r>
              <a:rPr lang="fr-FR" sz="1403" b="1" dirty="0">
                <a:solidFill>
                  <a:srgbClr val="002060"/>
                </a:solidFill>
                <a:latin typeface="Times New Roman" panose="02020603050405020304" pitchFamily="18" charset="0"/>
                <a:cs typeface="Times New Roman" panose="02020603050405020304" pitchFamily="18" charset="0"/>
              </a:rPr>
              <a:t>méritocratie</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à chaque étudiant, limitant ainsi </a:t>
            </a:r>
            <a:r>
              <a:rPr lang="fr-FR" sz="1403" b="1" dirty="0">
                <a:solidFill>
                  <a:srgbClr val="002060"/>
                </a:solidFill>
                <a:latin typeface="Times New Roman" panose="02020603050405020304" pitchFamily="18" charset="0"/>
                <a:cs typeface="Times New Roman" panose="02020603050405020304" pitchFamily="18" charset="0"/>
              </a:rPr>
              <a:t>la tricherie et la corruption</a:t>
            </a:r>
            <a:r>
              <a:rPr lang="fr-FR" sz="1403" dirty="0">
                <a:latin typeface="Times New Roman" panose="02020603050405020304" pitchFamily="18" charset="0"/>
                <a:cs typeface="Times New Roman" panose="02020603050405020304" pitchFamily="18" charset="0"/>
              </a:rPr>
              <a:t>, favorise la formation des étudiants compétents et qualifiés. Dans la même veine, les valeurs </a:t>
            </a:r>
            <a:r>
              <a:rPr lang="fr-FR" sz="1403" b="1" dirty="0">
                <a:solidFill>
                  <a:srgbClr val="002060"/>
                </a:solidFill>
                <a:latin typeface="Times New Roman" panose="02020603050405020304" pitchFamily="18" charset="0"/>
                <a:cs typeface="Times New Roman" panose="02020603050405020304" pitchFamily="18" charset="0"/>
              </a:rPr>
              <a:t>d’entraide, de solidarité, d’esprit d’équipe et de générosité </a:t>
            </a:r>
            <a:r>
              <a:rPr lang="fr-FR" sz="1403" dirty="0">
                <a:latin typeface="Times New Roman" panose="02020603050405020304" pitchFamily="18" charset="0"/>
                <a:cs typeface="Times New Roman" panose="02020603050405020304" pitchFamily="18" charset="0"/>
              </a:rPr>
              <a:t>entre étudiants, assurent le réussite collective.</a:t>
            </a:r>
          </a:p>
          <a:p>
            <a:pPr>
              <a:lnSpc>
                <a:spcPct val="150000"/>
              </a:lnSpc>
            </a:pPr>
            <a:r>
              <a:rPr lang="fr-FR" sz="1403" dirty="0">
                <a:latin typeface="Times New Roman" panose="02020603050405020304" pitchFamily="18" charset="0"/>
                <a:cs typeface="Times New Roman" panose="02020603050405020304" pitchFamily="18" charset="0"/>
              </a:rPr>
              <a:t>	Vues les retombées positives des valeurs éthiques en milieu estudiantin, on s’interroge alors sur les moyens à mettre en œuvre pour que l’éthique soit plus présente dans le monde des étudiants.</a:t>
            </a:r>
          </a:p>
        </p:txBody>
      </p:sp>
      <p:sp>
        <p:nvSpPr>
          <p:cNvPr id="4" name="ZoneTexte 3">
            <a:extLst>
              <a:ext uri="{FF2B5EF4-FFF2-40B4-BE49-F238E27FC236}">
                <a16:creationId xmlns:a16="http://schemas.microsoft.com/office/drawing/2014/main" id="{5972CD4D-C534-45C5-AE73-7AB6690ABEAF}"/>
              </a:ext>
            </a:extLst>
          </p:cNvPr>
          <p:cNvSpPr txBox="1"/>
          <p:nvPr/>
        </p:nvSpPr>
        <p:spPr>
          <a:xfrm>
            <a:off x="9216417" y="7138289"/>
            <a:ext cx="1064174" cy="308226"/>
          </a:xfrm>
          <a:prstGeom prst="rect">
            <a:avLst/>
          </a:prstGeom>
          <a:noFill/>
        </p:spPr>
        <p:txBody>
          <a:bodyPr wrap="square" rtlCol="0">
            <a:spAutoFit/>
          </a:bodyPr>
          <a:lstStyle/>
          <a:p>
            <a:r>
              <a:rPr lang="fr-FR" sz="1403" b="1" dirty="0">
                <a:solidFill>
                  <a:schemeClr val="accent2">
                    <a:lumMod val="50000"/>
                  </a:schemeClr>
                </a:solidFill>
              </a:rPr>
              <a:t>Page 7/9</a:t>
            </a:r>
          </a:p>
        </p:txBody>
      </p:sp>
    </p:spTree>
    <p:extLst>
      <p:ext uri="{BB962C8B-B14F-4D97-AF65-F5344CB8AC3E}">
        <p14:creationId xmlns:p14="http://schemas.microsoft.com/office/powerpoint/2010/main" val="40037623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519786" y="187391"/>
            <a:ext cx="9622631" cy="6281913"/>
          </a:xfrm>
          <a:prstGeom prst="rect">
            <a:avLst/>
          </a:prstGeom>
          <a:noFill/>
        </p:spPr>
        <p:txBody>
          <a:bodyPr wrap="square" rtlCol="0">
            <a:spAutoFit/>
          </a:bodyPr>
          <a:lstStyle/>
          <a:p>
            <a:pPr>
              <a:lnSpc>
                <a:spcPct val="150000"/>
              </a:lnSpc>
            </a:pPr>
            <a:endParaRPr lang="fr-FR" sz="1619" b="1" dirty="0">
              <a:latin typeface="Times New Roman" panose="02020603050405020304" pitchFamily="18" charset="0"/>
              <a:cs typeface="Times New Roman" panose="02020603050405020304" pitchFamily="18" charset="0"/>
            </a:endParaRPr>
          </a:p>
          <a:p>
            <a:pPr>
              <a:lnSpc>
                <a:spcPct val="150000"/>
              </a:lnSpc>
            </a:pPr>
            <a:r>
              <a:rPr lang="fr-FR" sz="1511" b="1" dirty="0">
                <a:solidFill>
                  <a:schemeClr val="accent2">
                    <a:lumMod val="50000"/>
                  </a:schemeClr>
                </a:solidFill>
                <a:latin typeface="Times New Roman" panose="02020603050405020304" pitchFamily="18" charset="0"/>
                <a:cs typeface="Times New Roman" panose="02020603050405020304" pitchFamily="18" charset="0"/>
              </a:rPr>
              <a:t>III-3 </a:t>
            </a:r>
            <a:r>
              <a:rPr lang="fr-FR" sz="1511" b="1" u="sng" dirty="0">
                <a:ln w="0"/>
                <a:solidFill>
                  <a:schemeClr val="accent2">
                    <a:lumMod val="50000"/>
                  </a:schemeClr>
                </a:solidFill>
                <a:latin typeface="Times New Roman" panose="02020603050405020304" pitchFamily="18" charset="0"/>
                <a:cs typeface="Times New Roman" panose="02020603050405020304" pitchFamily="18" charset="0"/>
              </a:rPr>
              <a:t>PROPOSITIONS DE RENFORCEMENT DE LA PLACE DE L’ETHIQUE EN MILIEU ESTUDIANTIN</a:t>
            </a:r>
            <a:endParaRPr lang="en-GB" sz="1511" u="sng" dirty="0">
              <a:solidFill>
                <a:schemeClr val="accent2">
                  <a:lumMod val="50000"/>
                </a:schemeClr>
              </a:solidFill>
              <a:latin typeface="Times New Roman" panose="02020603050405020304" pitchFamily="18" charset="0"/>
              <a:cs typeface="Times New Roman" panose="02020603050405020304" pitchFamily="18" charset="0"/>
            </a:endParaRPr>
          </a:p>
          <a:p>
            <a:pPr>
              <a:lnSpc>
                <a:spcPct val="150000"/>
              </a:lnSpc>
            </a:pPr>
            <a:r>
              <a:rPr lang="fr-FR" sz="1403" dirty="0">
                <a:latin typeface="Times New Roman" panose="02020603050405020304" pitchFamily="18" charset="0"/>
                <a:cs typeface="Times New Roman" panose="02020603050405020304" pitchFamily="18" charset="0"/>
              </a:rPr>
              <a:t>	</a:t>
            </a:r>
          </a:p>
          <a:p>
            <a:pPr>
              <a:lnSpc>
                <a:spcPct val="150000"/>
              </a:lnSpc>
            </a:pPr>
            <a:r>
              <a:rPr lang="fr-FR" sz="1403" dirty="0">
                <a:latin typeface="Times New Roman" panose="02020603050405020304" pitchFamily="18" charset="0"/>
                <a:cs typeface="Times New Roman" panose="02020603050405020304" pitchFamily="18" charset="0"/>
              </a:rPr>
              <a:t>	Jusqu’ici, nous avons étudié les rapports entre le milieu estudiantin et l’éthique, et avons soulevé les dangers qui menacent cette dernière dans le dit milieu. Face à ces orages de plus en plus menaçants qui grondent sur l’éthique, il s’avère urgent de proposer des solutions pour renforcer sa présence dans les universités et grandes écoles.</a:t>
            </a:r>
            <a:r>
              <a:rPr lang="en-GB" sz="1403"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Pour cela, il faut utiliser des techniques et méthodes dont les effets peuvent être visibles au quotidien. D’abord notons que les encadreurs doivent prêcher par le bon exemple à leurs étudiants en étant d’implacables modèles sur tous les plans (moral, académique, social…) pour ces derniers. A ce sujet, Alexandre Dumas ne dit-il pas </a:t>
            </a:r>
            <a:r>
              <a:rPr lang="fr-FR" sz="1403" dirty="0">
                <a:solidFill>
                  <a:srgbClr val="002060"/>
                </a:solidFill>
                <a:latin typeface="Times New Roman" panose="02020603050405020304" pitchFamily="18" charset="0"/>
                <a:cs typeface="Times New Roman" panose="02020603050405020304" pitchFamily="18" charset="0"/>
              </a:rPr>
              <a:t>« </a:t>
            </a:r>
            <a:r>
              <a:rPr lang="fr-FR" sz="1403" b="1" i="1" dirty="0">
                <a:solidFill>
                  <a:srgbClr val="002060"/>
                </a:solidFill>
                <a:latin typeface="Times New Roman" panose="02020603050405020304" pitchFamily="18" charset="0"/>
                <a:cs typeface="Times New Roman" panose="02020603050405020304" pitchFamily="18" charset="0"/>
              </a:rPr>
              <a:t>l’exemple vaut mieux que la leçon »</a:t>
            </a:r>
            <a:r>
              <a:rPr lang="fr-FR" sz="1403" dirty="0">
                <a:solidFill>
                  <a:srgbClr val="002060"/>
                </a:solidFill>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Par la suite, le cadre de travail des étudiants doit être de façon à amener ceux-ci à adopter des comportements éthiques par  sa salubrité, la disponibilité des bacs à ordures et du matériel pédagogique de qualité. Toutefois </a:t>
            </a:r>
            <a:r>
              <a:rPr lang="fr-FR" sz="1403" dirty="0">
                <a:solidFill>
                  <a:srgbClr val="002060"/>
                </a:solidFill>
                <a:latin typeface="Times New Roman" panose="02020603050405020304" pitchFamily="18" charset="0"/>
                <a:cs typeface="Times New Roman" panose="02020603050405020304" pitchFamily="18" charset="0"/>
              </a:rPr>
              <a:t>« </a:t>
            </a:r>
            <a:r>
              <a:rPr lang="fr-FR" sz="1403" b="1" i="1" dirty="0">
                <a:solidFill>
                  <a:srgbClr val="002060"/>
                </a:solidFill>
                <a:latin typeface="Times New Roman" panose="02020603050405020304" pitchFamily="18" charset="0"/>
                <a:cs typeface="Times New Roman" panose="02020603050405020304" pitchFamily="18" charset="0"/>
              </a:rPr>
              <a:t>ne vous y trompez pas : les mauvaises compagnies corrompent les bonnes mœurs », </a:t>
            </a:r>
            <a:r>
              <a:rPr lang="fr-FR" sz="1403" dirty="0">
                <a:latin typeface="Times New Roman" panose="02020603050405020304" pitchFamily="18" charset="0"/>
                <a:cs typeface="Times New Roman" panose="02020603050405020304" pitchFamily="18" charset="0"/>
              </a:rPr>
              <a:t>dixit Saint Paul dans sa première épître au Corinthiens au chapitre 15 et au 33</a:t>
            </a:r>
            <a:r>
              <a:rPr lang="fr-FR" sz="1403" baseline="30000" dirty="0">
                <a:latin typeface="Times New Roman" panose="02020603050405020304" pitchFamily="18" charset="0"/>
                <a:cs typeface="Times New Roman" panose="02020603050405020304" pitchFamily="18" charset="0"/>
              </a:rPr>
              <a:t>e</a:t>
            </a:r>
            <a:r>
              <a:rPr lang="fr-FR" sz="1403" dirty="0">
                <a:latin typeface="Times New Roman" panose="02020603050405020304" pitchFamily="18" charset="0"/>
                <a:cs typeface="Times New Roman" panose="02020603050405020304" pitchFamily="18" charset="0"/>
              </a:rPr>
              <a:t> verset. En effet, la plupart des étudiants se livrent à des pratiques non éthiques par mimétisme, si bien que ça devient une addiction. Pour remédier  à ça, il serait très bénéfique pour l’étudiant de recevoir une certaine assistance, une sorte de service d’assistance et de discipline, comme celui du secondaire, dont la mission sera de recadrer celui-ci sur le droit chemin par des conseils, et des sanctions en cas de force majeure. Aussi, ce dernier doit face à chaque situation, s’accorder une brève réflexion sur les retombées des actes qu’ils s’apprêtent à poser; ceci lui permettra chaque fois, de prendre les décisions éthiques. Pour finir, chaque étudiant doit passer par une prise de conscience personnelle, qui lui permettra d'envisager les conséquences hideuses d’un milieu universitaire sans éthique; c’est ainsi qu’il accordera plus de valeur aux règles éthiques. </a:t>
            </a:r>
            <a:endParaRPr lang="en-GB" sz="1403"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406179A4-E4C4-4D81-B1E9-DA5F130F6D6E}"/>
              </a:ext>
            </a:extLst>
          </p:cNvPr>
          <p:cNvSpPr txBox="1"/>
          <p:nvPr/>
        </p:nvSpPr>
        <p:spPr>
          <a:xfrm>
            <a:off x="9216417" y="7138289"/>
            <a:ext cx="1064174" cy="308226"/>
          </a:xfrm>
          <a:prstGeom prst="rect">
            <a:avLst/>
          </a:prstGeom>
          <a:noFill/>
        </p:spPr>
        <p:txBody>
          <a:bodyPr wrap="square" rtlCol="0">
            <a:spAutoFit/>
          </a:bodyPr>
          <a:lstStyle/>
          <a:p>
            <a:r>
              <a:rPr lang="fr-FR" sz="1403" b="1" dirty="0">
                <a:solidFill>
                  <a:schemeClr val="accent2">
                    <a:lumMod val="50000"/>
                  </a:schemeClr>
                </a:solidFill>
              </a:rPr>
              <a:t>Page 8/9</a:t>
            </a:r>
          </a:p>
        </p:txBody>
      </p:sp>
    </p:spTree>
    <p:extLst>
      <p:ext uri="{BB962C8B-B14F-4D97-AF65-F5344CB8AC3E}">
        <p14:creationId xmlns:p14="http://schemas.microsoft.com/office/powerpoint/2010/main" val="173482580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C591FB2-C1A7-4BF4-B3A8-84C6FE7CC4C1}"/>
              </a:ext>
            </a:extLst>
          </p:cNvPr>
          <p:cNvSpPr txBox="1"/>
          <p:nvPr/>
        </p:nvSpPr>
        <p:spPr>
          <a:xfrm>
            <a:off x="519786" y="187391"/>
            <a:ext cx="9622631" cy="4413581"/>
          </a:xfrm>
          <a:prstGeom prst="rect">
            <a:avLst/>
          </a:prstGeom>
          <a:noFill/>
        </p:spPr>
        <p:txBody>
          <a:bodyPr wrap="square" rtlCol="0">
            <a:spAutoFit/>
          </a:bodyPr>
          <a:lstStyle/>
          <a:p>
            <a:pPr algn="ctr">
              <a:lnSpc>
                <a:spcPct val="150000"/>
              </a:lnSpc>
            </a:pPr>
            <a:endParaRPr lang="fr-FR" sz="1619"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lnSpc>
                <a:spcPct val="150000"/>
              </a:lnSpc>
            </a:pPr>
            <a:r>
              <a:rPr lang="fr-FR" sz="1619" b="1" u="sng" dirty="0">
                <a:ln w="0"/>
                <a:solidFill>
                  <a:schemeClr val="accent2">
                    <a:lumMod val="50000"/>
                  </a:schemeClr>
                </a:solidFill>
                <a:latin typeface="Times New Roman" panose="02020603050405020304" pitchFamily="18" charset="0"/>
                <a:cs typeface="Times New Roman" panose="02020603050405020304" pitchFamily="18" charset="0"/>
              </a:rPr>
              <a:t>CONCLUSION &amp; BIBLIOGRAPHIE</a:t>
            </a:r>
          </a:p>
          <a:p>
            <a:pPr algn="ctr">
              <a:lnSpc>
                <a:spcPct val="150000"/>
              </a:lnSpc>
            </a:pPr>
            <a:endParaRPr lang="fr-FR" sz="1619"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Toute analyse faite, il était question pour nous d’éclaircir les concepts de </a:t>
            </a:r>
            <a:r>
              <a:rPr lang="fr-FR" sz="1403" b="1" dirty="0">
                <a:solidFill>
                  <a:srgbClr val="002060"/>
                </a:solidFill>
                <a:latin typeface="Times New Roman" panose="02020603050405020304" pitchFamily="18" charset="0"/>
                <a:cs typeface="Times New Roman" panose="02020603050405020304" pitchFamily="18" charset="0"/>
              </a:rPr>
              <a:t>« milieu estudiantin » </a:t>
            </a:r>
            <a:r>
              <a:rPr lang="fr-FR" sz="1403" dirty="0">
                <a:latin typeface="Times New Roman" panose="02020603050405020304" pitchFamily="18" charset="0"/>
                <a:cs typeface="Times New Roman" panose="02020603050405020304" pitchFamily="18" charset="0"/>
              </a:rPr>
              <a:t>et d</a:t>
            </a:r>
            <a:r>
              <a:rPr lang="fr-FR" sz="1403" b="1" dirty="0">
                <a:solidFill>
                  <a:srgbClr val="002060"/>
                </a:solidFill>
                <a:latin typeface="Times New Roman" panose="02020603050405020304" pitchFamily="18" charset="0"/>
                <a:cs typeface="Times New Roman" panose="02020603050405020304" pitchFamily="18" charset="0"/>
              </a:rPr>
              <a:t>’« éthique », </a:t>
            </a:r>
            <a:r>
              <a:rPr lang="fr-FR" sz="1403" dirty="0">
                <a:latin typeface="Times New Roman" panose="02020603050405020304" pitchFamily="18" charset="0"/>
                <a:cs typeface="Times New Roman" panose="02020603050405020304" pitchFamily="18" charset="0"/>
              </a:rPr>
              <a:t>puis de présenter les rapports qu’ils entretiennent. Force a été de constater la résistance du milieu universitaire face à l’éthique, cette dernière étant pourtant bénéfique pour son progrès et le maintien du vivre ensemble. C’est ainsi qu’ont été développées des tentatives  visant à intensifier la présence de l’éthique dans le monde des étudiants. Il en ressort de cette analyse que le renforcement de l’éthique en milieu universitaire concerne aussi bien les étudiants que les encadreurs qui doivent tous prêcher par leurs exemples, si bien que comme le dit </a:t>
            </a:r>
            <a:r>
              <a:rPr lang="fr-FR" sz="1403" b="1" dirty="0">
                <a:solidFill>
                  <a:srgbClr val="002060"/>
                </a:solidFill>
                <a:latin typeface="Times New Roman" panose="02020603050405020304" pitchFamily="18" charset="0"/>
                <a:cs typeface="Times New Roman" panose="02020603050405020304" pitchFamily="18" charset="0"/>
              </a:rPr>
              <a:t>Emmanuel Kant</a:t>
            </a:r>
            <a:r>
              <a:rPr lang="fr-FR" sz="1403" dirty="0">
                <a:latin typeface="Times New Roman" panose="02020603050405020304" pitchFamily="18" charset="0"/>
                <a:cs typeface="Times New Roman" panose="02020603050405020304" pitchFamily="18" charset="0"/>
              </a:rPr>
              <a:t>, la maxime de leurs actions soit érigée comme règle universelle.</a:t>
            </a:r>
          </a:p>
          <a:p>
            <a:pPr algn="just">
              <a:lnSpc>
                <a:spcPct val="150000"/>
              </a:lnSpc>
            </a:pPr>
            <a:endParaRPr lang="fr-FR" sz="1403" dirty="0">
              <a:latin typeface="Times New Roman" panose="02020603050405020304" pitchFamily="18" charset="0"/>
              <a:cs typeface="Times New Roman" panose="02020603050405020304" pitchFamily="18" charset="0"/>
            </a:endParaRPr>
          </a:p>
          <a:p>
            <a:pPr algn="just">
              <a:lnSpc>
                <a:spcPct val="150000"/>
              </a:lnSpc>
            </a:pPr>
            <a:r>
              <a:rPr lang="fr-FR" sz="1403" dirty="0">
                <a:latin typeface="Times New Roman" panose="02020603050405020304" pitchFamily="18" charset="0"/>
                <a:cs typeface="Times New Roman" panose="02020603050405020304" pitchFamily="18" charset="0"/>
              </a:rPr>
              <a:t>	Cet exposé a bénéficié des contenus didactiques des dictionnaires en ligne </a:t>
            </a:r>
            <a:r>
              <a:rPr lang="fr-FR" sz="1403" b="1" dirty="0">
                <a:solidFill>
                  <a:srgbClr val="002060"/>
                </a:solidFill>
                <a:latin typeface="Times New Roman" panose="02020603050405020304" pitchFamily="18" charset="0"/>
                <a:cs typeface="Times New Roman" panose="02020603050405020304" pitchFamily="18" charset="0"/>
              </a:rPr>
              <a:t>« Wiktionnaire »,  « Larousse », « L'internaute »,</a:t>
            </a:r>
            <a:r>
              <a:rPr lang="fr-FR" sz="1403" b="1" dirty="0">
                <a:latin typeface="Times New Roman" panose="02020603050405020304" pitchFamily="18" charset="0"/>
                <a:cs typeface="Times New Roman" panose="02020603050405020304" pitchFamily="18" charset="0"/>
              </a:rPr>
              <a:t> </a:t>
            </a:r>
            <a:r>
              <a:rPr lang="fr-FR" sz="1403" dirty="0">
                <a:latin typeface="Times New Roman" panose="02020603050405020304" pitchFamily="18" charset="0"/>
                <a:cs typeface="Times New Roman" panose="02020603050405020304" pitchFamily="18" charset="0"/>
              </a:rPr>
              <a:t>ainsi que du site web </a:t>
            </a:r>
            <a:r>
              <a:rPr lang="fr-FR" sz="1403" b="1" dirty="0">
                <a:solidFill>
                  <a:srgbClr val="002060"/>
                </a:solidFill>
                <a:latin typeface="Times New Roman" panose="02020603050405020304" pitchFamily="18" charset="0"/>
                <a:cs typeface="Times New Roman" panose="02020603050405020304" pitchFamily="18" charset="0"/>
              </a:rPr>
              <a:t>« www.wikipédia.org ».</a:t>
            </a:r>
          </a:p>
          <a:p>
            <a:pPr algn="ctr">
              <a:lnSpc>
                <a:spcPct val="150000"/>
              </a:lnSpc>
            </a:pPr>
            <a:endParaRPr lang="fr-FR" sz="1403"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394987B8-7828-4612-85EC-A89C03713246}"/>
              </a:ext>
            </a:extLst>
          </p:cNvPr>
          <p:cNvSpPr txBox="1"/>
          <p:nvPr/>
        </p:nvSpPr>
        <p:spPr>
          <a:xfrm>
            <a:off x="9216417" y="7138289"/>
            <a:ext cx="1064174" cy="308226"/>
          </a:xfrm>
          <a:prstGeom prst="rect">
            <a:avLst/>
          </a:prstGeom>
          <a:noFill/>
        </p:spPr>
        <p:txBody>
          <a:bodyPr wrap="square" rtlCol="0">
            <a:spAutoFit/>
          </a:bodyPr>
          <a:lstStyle/>
          <a:p>
            <a:r>
              <a:rPr lang="fr-FR" sz="1403" b="1" dirty="0">
                <a:solidFill>
                  <a:schemeClr val="accent2">
                    <a:lumMod val="50000"/>
                  </a:schemeClr>
                </a:solidFill>
              </a:rPr>
              <a:t>Page 9/9</a:t>
            </a:r>
          </a:p>
        </p:txBody>
      </p:sp>
    </p:spTree>
    <p:extLst>
      <p:ext uri="{BB962C8B-B14F-4D97-AF65-F5344CB8AC3E}">
        <p14:creationId xmlns:p14="http://schemas.microsoft.com/office/powerpoint/2010/main" val="24346835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3"/>
                                        </p:tgtEl>
                                      </p:cBhvr>
                                    </p:animEffect>
                                    <p:anim calcmode="lin" valueType="num">
                                      <p:cBhvr>
                                        <p:cTn id="7" dur="1000"/>
                                        <p:tgtEl>
                                          <p:spTgt spid="3"/>
                                        </p:tgtEl>
                                        <p:attrNameLst>
                                          <p:attrName>ppt_x</p:attrName>
                                        </p:attrNameLst>
                                      </p:cBhvr>
                                      <p:tavLst>
                                        <p:tav tm="0">
                                          <p:val>
                                            <p:strVal val="ppt_x"/>
                                          </p:val>
                                        </p:tav>
                                        <p:tav tm="100000">
                                          <p:val>
                                            <p:strVal val="ppt_x"/>
                                          </p:val>
                                        </p:tav>
                                      </p:tavLst>
                                    </p:anim>
                                    <p:anim calcmode="lin" valueType="num">
                                      <p:cBhvr>
                                        <p:cTn id="8" dur="1000"/>
                                        <p:tgtEl>
                                          <p:spTgt spid="3"/>
                                        </p:tgtEl>
                                        <p:attrNameLst>
                                          <p:attrName>ppt_y</p:attrName>
                                        </p:attrNameLst>
                                      </p:cBhvr>
                                      <p:tavLst>
                                        <p:tav tm="0">
                                          <p:val>
                                            <p:strVal val="ppt_y"/>
                                          </p:val>
                                        </p:tav>
                                        <p:tav tm="100000">
                                          <p:val>
                                            <p:strVal val="ppt_y+.1"/>
                                          </p:val>
                                        </p:tav>
                                      </p:tavLst>
                                    </p:anim>
                                    <p:set>
                                      <p:cBhvr>
                                        <p:cTn id="9" dur="1" fill="hold">
                                          <p:stCondLst>
                                            <p:cond delay="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Ronds dans l’eau">
  <a:themeElements>
    <a:clrScheme name="Ronds dans l’eau">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Ronds dans l’eau">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onds dans l’eau">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Ronds dans l’eau</Template>
  <TotalTime>1839</TotalTime>
  <Words>2225</Words>
  <Application>Microsoft Office PowerPoint</Application>
  <PresentationFormat>Personnalisé</PresentationFormat>
  <Paragraphs>83</Paragraphs>
  <Slides>9</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9</vt:i4>
      </vt:variant>
    </vt:vector>
  </HeadingPairs>
  <TitlesOfParts>
    <vt:vector size="14" baseType="lpstr">
      <vt:lpstr>Arial</vt:lpstr>
      <vt:lpstr>Times New Roman</vt:lpstr>
      <vt:lpstr>Tw Cen MT</vt:lpstr>
      <vt:lpstr>Wingdings</vt:lpstr>
      <vt:lpstr>Ronds dans l’eau</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Ivann Kamdem</dc:creator>
  <cp:lastModifiedBy>Ivann Kamdem</cp:lastModifiedBy>
  <cp:revision>67</cp:revision>
  <cp:lastPrinted>2022-05-03T22:00:11Z</cp:lastPrinted>
  <dcterms:created xsi:type="dcterms:W3CDTF">2022-05-02T03:58:27Z</dcterms:created>
  <dcterms:modified xsi:type="dcterms:W3CDTF">2022-05-04T06:04:40Z</dcterms:modified>
</cp:coreProperties>
</file>