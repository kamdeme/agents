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pn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3.jp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2.jpg" ContentType="image/jpeg"/>
  <Override PartName="/ppt/media/image26.jpg" ContentType="image/jpeg"/>
  <Override PartName="/ppt/media/image36.jpg" ContentType="image/jpeg"/>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32"/>
  </p:notesMasterIdLst>
  <p:handoutMasterIdLst>
    <p:handoutMasterId r:id="rId33"/>
  </p:handoutMasterIdLst>
  <p:sldIdLst>
    <p:sldId id="3857" r:id="rId5"/>
    <p:sldId id="3858" r:id="rId6"/>
    <p:sldId id="3826" r:id="rId7"/>
    <p:sldId id="3827" r:id="rId8"/>
    <p:sldId id="3828" r:id="rId9"/>
    <p:sldId id="3794" r:id="rId10"/>
    <p:sldId id="3832" r:id="rId11"/>
    <p:sldId id="3836" r:id="rId12"/>
    <p:sldId id="3837" r:id="rId13"/>
    <p:sldId id="3838" r:id="rId14"/>
    <p:sldId id="3840" r:id="rId15"/>
    <p:sldId id="3833" r:id="rId16"/>
    <p:sldId id="3841" r:id="rId17"/>
    <p:sldId id="3845" r:id="rId18"/>
    <p:sldId id="3846" r:id="rId19"/>
    <p:sldId id="3849" r:id="rId20"/>
    <p:sldId id="3842" r:id="rId21"/>
    <p:sldId id="3847" r:id="rId22"/>
    <p:sldId id="3850" r:id="rId23"/>
    <p:sldId id="3851" r:id="rId24"/>
    <p:sldId id="3848" r:id="rId25"/>
    <p:sldId id="3843" r:id="rId26"/>
    <p:sldId id="3852" r:id="rId27"/>
    <p:sldId id="3853" r:id="rId28"/>
    <p:sldId id="3854" r:id="rId29"/>
    <p:sldId id="3844" r:id="rId30"/>
    <p:sldId id="3834" r:id="rId31"/>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2" autoAdjust="0"/>
    <p:restoredTop sz="94660"/>
  </p:normalViewPr>
  <p:slideViewPr>
    <p:cSldViewPr snapToGrid="0">
      <p:cViewPr varScale="1">
        <p:scale>
          <a:sx n="72" d="100"/>
          <a:sy n="72" d="100"/>
        </p:scale>
        <p:origin x="304" y="60"/>
      </p:cViewPr>
      <p:guideLst>
        <p:guide orient="horz" pos="1200"/>
        <p:guide orient="horz" pos="3408"/>
        <p:guide pos="6936"/>
        <p:guide pos="744"/>
      </p:guideLst>
    </p:cSldViewPr>
  </p:slideViewPr>
  <p:notesTextViewPr>
    <p:cViewPr>
      <p:scale>
        <a:sx n="1" d="1"/>
        <a:sy n="1" d="1"/>
      </p:scale>
      <p:origin x="0" y="0"/>
    </p:cViewPr>
  </p:notesTextViewPr>
  <p:notesViewPr>
    <p:cSldViewPr snapToGrid="0">
      <p:cViewPr varScale="1">
        <p:scale>
          <a:sx n="88" d="100"/>
          <a:sy n="88" d="100"/>
        </p:scale>
        <p:origin x="377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E5C5605-5BD8-4867-B92A-4E8FA2A9D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a:extLst>
              <a:ext uri="{FF2B5EF4-FFF2-40B4-BE49-F238E27FC236}">
                <a16:creationId xmlns:a16="http://schemas.microsoft.com/office/drawing/2014/main" id="{4F991D58-BC62-465B-9494-B78732E6EE3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658C53-0AD9-4541-9A03-A91F2284A13E}" type="datetime1">
              <a:rPr lang="fr-FR" smtClean="0"/>
              <a:t>04/05/2022</a:t>
            </a:fld>
            <a:endParaRPr lang="fr-FR" dirty="0"/>
          </a:p>
        </p:txBody>
      </p:sp>
      <p:sp>
        <p:nvSpPr>
          <p:cNvPr id="4" name="Espace réservé du pied de page 3">
            <a:extLst>
              <a:ext uri="{FF2B5EF4-FFF2-40B4-BE49-F238E27FC236}">
                <a16:creationId xmlns:a16="http://schemas.microsoft.com/office/drawing/2014/main" id="{7CEF80B0-2A0C-4084-B0AC-0EC39198AA4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a:extLst>
              <a:ext uri="{FF2B5EF4-FFF2-40B4-BE49-F238E27FC236}">
                <a16:creationId xmlns:a16="http://schemas.microsoft.com/office/drawing/2014/main" id="{10BB2EBA-25F1-4977-8607-244B99A446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2634E5-AA18-4F9C-9DBD-FD20F65A2316}" type="slidenum">
              <a:rPr lang="fr-FR" smtClean="0"/>
              <a:t>‹N°›</a:t>
            </a:fld>
            <a:endParaRPr lang="fr-FR" dirty="0"/>
          </a:p>
        </p:txBody>
      </p:sp>
    </p:spTree>
    <p:extLst>
      <p:ext uri="{BB962C8B-B14F-4D97-AF65-F5344CB8AC3E}">
        <p14:creationId xmlns:p14="http://schemas.microsoft.com/office/powerpoint/2010/main" val="26078528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8C29E-E7EF-4A43-A961-17F4C28837FA}" type="datetime1">
              <a:rPr lang="fr-FR" smtClean="0"/>
              <a:pPr/>
              <a:t>04/05/2022</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0C6A29-4676-420C-BBE3-ACC2B80F64D4}" type="slidenum">
              <a:rPr lang="fr-FR" noProof="0" smtClean="0"/>
              <a:t>‹N°›</a:t>
            </a:fld>
            <a:endParaRPr lang="fr-FR" noProof="0"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rtl="0"/>
            <a:fld id="{D40C6A29-4676-420C-BBE3-ACC2B80F64D4}" type="slidenum">
              <a:rPr lang="fr-FR" smtClean="0"/>
              <a:t>3</a:t>
            </a:fld>
            <a:endParaRPr lang="fr-FR" dirty="0"/>
          </a:p>
        </p:txBody>
      </p:sp>
    </p:spTree>
    <p:extLst>
      <p:ext uri="{BB962C8B-B14F-4D97-AF65-F5344CB8AC3E}">
        <p14:creationId xmlns:p14="http://schemas.microsoft.com/office/powerpoint/2010/main" val="2315987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rtl="0"/>
            <a:fld id="{D40C6A29-4676-420C-BBE3-ACC2B80F64D4}" type="slidenum">
              <a:rPr lang="fr-FR" smtClean="0"/>
              <a:t>4</a:t>
            </a:fld>
            <a:endParaRPr lang="fr-FR" dirty="0"/>
          </a:p>
        </p:txBody>
      </p:sp>
    </p:spTree>
    <p:extLst>
      <p:ext uri="{BB962C8B-B14F-4D97-AF65-F5344CB8AC3E}">
        <p14:creationId xmlns:p14="http://schemas.microsoft.com/office/powerpoint/2010/main" val="402629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rtl="0"/>
            <a:fld id="{D40C6A29-4676-420C-BBE3-ACC2B80F64D4}" type="slidenum">
              <a:rPr lang="fr-FR" smtClean="0"/>
              <a:t>5</a:t>
            </a:fld>
            <a:endParaRPr lang="fr-FR" dirty="0"/>
          </a:p>
        </p:txBody>
      </p:sp>
    </p:spTree>
    <p:extLst>
      <p:ext uri="{BB962C8B-B14F-4D97-AF65-F5344CB8AC3E}">
        <p14:creationId xmlns:p14="http://schemas.microsoft.com/office/powerpoint/2010/main" val="445326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40C6A29-4676-420C-BBE3-ACC2B80F64D4}" type="slidenum">
              <a:rPr lang="fr-FR" smtClean="0"/>
              <a:t>6</a:t>
            </a:fld>
            <a:endParaRPr lang="fr-FR"/>
          </a:p>
        </p:txBody>
      </p:sp>
    </p:spTree>
    <p:extLst>
      <p:ext uri="{BB962C8B-B14F-4D97-AF65-F5344CB8AC3E}">
        <p14:creationId xmlns:p14="http://schemas.microsoft.com/office/powerpoint/2010/main" val="4209822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40C6A29-4676-420C-BBE3-ACC2B80F64D4}" type="slidenum">
              <a:rPr lang="fr-FR" smtClean="0"/>
              <a:t>7</a:t>
            </a:fld>
            <a:endParaRPr lang="fr-FR"/>
          </a:p>
        </p:txBody>
      </p:sp>
    </p:spTree>
    <p:extLst>
      <p:ext uri="{BB962C8B-B14F-4D97-AF65-F5344CB8AC3E}">
        <p14:creationId xmlns:p14="http://schemas.microsoft.com/office/powerpoint/2010/main" val="562526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40C6A29-4676-420C-BBE3-ACC2B80F64D4}" type="slidenum">
              <a:rPr lang="fr-FR" smtClean="0"/>
              <a:t>12</a:t>
            </a:fld>
            <a:endParaRPr lang="fr-FR"/>
          </a:p>
        </p:txBody>
      </p:sp>
    </p:spTree>
    <p:extLst>
      <p:ext uri="{BB962C8B-B14F-4D97-AF65-F5344CB8AC3E}">
        <p14:creationId xmlns:p14="http://schemas.microsoft.com/office/powerpoint/2010/main" val="3134415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D40C6A29-4676-420C-BBE3-ACC2B80F64D4}" type="slidenum">
              <a:rPr lang="fr-FR" smtClean="0"/>
              <a:t>27</a:t>
            </a:fld>
            <a:endParaRPr lang="fr-FR" dirty="0"/>
          </a:p>
        </p:txBody>
      </p:sp>
    </p:spTree>
    <p:extLst>
      <p:ext uri="{BB962C8B-B14F-4D97-AF65-F5344CB8AC3E}">
        <p14:creationId xmlns:p14="http://schemas.microsoft.com/office/powerpoint/2010/main" val="1670162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 name="Forme libre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Connecteur droit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orme libre : Form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orme libre : Form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e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orme libre : Form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rtlCol="0" anchor="b"/>
          <a:lstStyle>
            <a:lvl1pPr algn="r">
              <a:defRPr sz="6000">
                <a:solidFill>
                  <a:schemeClr val="bg1"/>
                </a:solidFill>
              </a:defRPr>
            </a:lvl1pPr>
          </a:lstStyle>
          <a:p>
            <a:pPr rtl="0"/>
            <a:r>
              <a:rPr lang="fr-FR" noProof="0"/>
              <a:t>Modifiez le style du titre</a:t>
            </a:r>
          </a:p>
        </p:txBody>
      </p:sp>
      <p:sp>
        <p:nvSpPr>
          <p:cNvPr id="3" name="Sous-titr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Tree>
    <p:extLst>
      <p:ext uri="{BB962C8B-B14F-4D97-AF65-F5344CB8AC3E}">
        <p14:creationId xmlns:p14="http://schemas.microsoft.com/office/powerpoint/2010/main" val="10104151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rdre du jour">
    <p:spTree>
      <p:nvGrpSpPr>
        <p:cNvPr id="1" name=""/>
        <p:cNvGrpSpPr/>
        <p:nvPr/>
      </p:nvGrpSpPr>
      <p:grpSpPr>
        <a:xfrm>
          <a:off x="0" y="0"/>
          <a:ext cx="0" cy="0"/>
          <a:chOff x="0" y="0"/>
          <a:chExt cx="0" cy="0"/>
        </a:xfrm>
      </p:grpSpPr>
      <p:sp>
        <p:nvSpPr>
          <p:cNvPr id="10" name="Ovale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e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rtlCol="0"/>
          <a:lstStyle>
            <a:lvl1pPr algn="ctr">
              <a:defRPr>
                <a:solidFill>
                  <a:schemeClr val="bg1"/>
                </a:solidFill>
              </a:defRPr>
            </a:lvl1pPr>
          </a:lstStyle>
          <a:p>
            <a:pPr rtl="0"/>
            <a:r>
              <a:rPr lang="fr-FR" noProof="0"/>
              <a:t>Modifiez le style du titre</a:t>
            </a:r>
          </a:p>
        </p:txBody>
      </p:sp>
      <p:sp>
        <p:nvSpPr>
          <p:cNvPr id="3" name="Espace réservé du contenu 2">
            <a:extLst>
              <a:ext uri="{FF2B5EF4-FFF2-40B4-BE49-F238E27FC236}">
                <a16:creationId xmlns:a16="http://schemas.microsoft.com/office/drawing/2014/main" id="{0A47AF11-F208-4FDA-9E19-D6CA3472134E}"/>
              </a:ext>
            </a:extLst>
          </p:cNvPr>
          <p:cNvSpPr>
            <a:spLocks noGrp="1"/>
          </p:cNvSpPr>
          <p:nvPr>
            <p:ph idx="1" hasCustomPrompt="1"/>
          </p:nvPr>
        </p:nvSpPr>
        <p:spPr>
          <a:xfrm>
            <a:off x="5788152" y="1527048"/>
            <a:ext cx="5111496" cy="3931920"/>
          </a:xfrm>
        </p:spPr>
        <p:txBody>
          <a:bodyPr rtlCol="0" anchor="ctr"/>
          <a:lstStyle>
            <a:lvl1pPr marL="0" indent="0">
              <a:buNone/>
              <a:defRPr/>
            </a:lvl1pPr>
            <a:lvl2pPr marL="228600">
              <a:defRPr/>
            </a:lvl2pPr>
            <a:lvl3pPr marL="457200">
              <a:defRPr/>
            </a:lvl3pPr>
            <a:lvl4pPr>
              <a:buNone/>
              <a:defRPr/>
            </a:lvl4pPr>
          </a:lstStyle>
          <a:p>
            <a:pPr lvl="0" rtl="0"/>
            <a:r>
              <a:rPr lang="fr-FR" noProof="0"/>
              <a:t>Modifiez les styles du texte du masque</a:t>
            </a:r>
          </a:p>
          <a:p>
            <a:pPr lvl="1" rtl="0"/>
            <a:r>
              <a:rPr lang="fr-FR" noProof="0"/>
              <a:t>Deuxième niveau</a:t>
            </a:r>
          </a:p>
          <a:p>
            <a:pPr lvl="2" rtl="0"/>
            <a:r>
              <a:rPr lang="fr-FR" noProof="0"/>
              <a:t>Troisième niveau</a:t>
            </a:r>
          </a:p>
        </p:txBody>
      </p:sp>
      <p:sp>
        <p:nvSpPr>
          <p:cNvPr id="4" name="Espace réservé de la date 3">
            <a:extLst>
              <a:ext uri="{FF2B5EF4-FFF2-40B4-BE49-F238E27FC236}">
                <a16:creationId xmlns:a16="http://schemas.microsoft.com/office/drawing/2014/main" id="{96E82FA1-02B7-467E-9F16-D178149407C5}"/>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5" name="Espace réservé du pied de page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6" name="Espace réservé du numéro de diapositive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2 petites images">
    <p:spTree>
      <p:nvGrpSpPr>
        <p:cNvPr id="1" name=""/>
        <p:cNvGrpSpPr/>
        <p:nvPr/>
      </p:nvGrpSpPr>
      <p:grpSpPr>
        <a:xfrm>
          <a:off x="0" y="0"/>
          <a:ext cx="0" cy="0"/>
          <a:chOff x="0" y="0"/>
          <a:chExt cx="0" cy="0"/>
        </a:xfrm>
      </p:grpSpPr>
      <p:sp>
        <p:nvSpPr>
          <p:cNvPr id="22" name="Espace réservé d’image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rtlCol="0" anchor="ctr">
            <a:noAutofit/>
          </a:bodyPr>
          <a:lstStyle>
            <a:lvl1pPr algn="ctr">
              <a:buNone/>
              <a:defRPr sz="1800"/>
            </a:lvl1pPr>
          </a:lstStyle>
          <a:p>
            <a:pPr rtl="0"/>
            <a:r>
              <a:rPr lang="fr-FR" noProof="0" dirty="0"/>
              <a:t>Cliquez sur l'icône pour ajouter une image</a:t>
            </a:r>
          </a:p>
        </p:txBody>
      </p:sp>
      <p:sp>
        <p:nvSpPr>
          <p:cNvPr id="21" name="Espace réservé d’image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rtlCol="0" anchor="ctr">
            <a:noAutofit/>
          </a:bodyPr>
          <a:lstStyle>
            <a:lvl1pPr algn="ctr">
              <a:buNone/>
              <a:defRPr sz="1800"/>
            </a:lvl1pPr>
          </a:lstStyle>
          <a:p>
            <a:pPr rtl="0"/>
            <a:r>
              <a:rPr lang="fr-FR" noProof="0" dirty="0"/>
              <a:t>Cliquez sur l'icône pour ajouter une image</a:t>
            </a:r>
          </a:p>
        </p:txBody>
      </p:sp>
      <p:sp>
        <p:nvSpPr>
          <p:cNvPr id="2" name="Titr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rtlCol="0"/>
          <a:lstStyle/>
          <a:p>
            <a:pPr rtl="0"/>
            <a:r>
              <a:rPr lang="fr-FR" noProof="0"/>
              <a:t>Modifiez le style du titre</a:t>
            </a:r>
          </a:p>
        </p:txBody>
      </p:sp>
      <p:sp>
        <p:nvSpPr>
          <p:cNvPr id="3" name="Espace réservé du contenu 2">
            <a:extLst>
              <a:ext uri="{FF2B5EF4-FFF2-40B4-BE49-F238E27FC236}">
                <a16:creationId xmlns:a16="http://schemas.microsoft.com/office/drawing/2014/main" id="{0A47AF11-F208-4FDA-9E19-D6CA3472134E}"/>
              </a:ext>
            </a:extLst>
          </p:cNvPr>
          <p:cNvSpPr>
            <a:spLocks noGrp="1"/>
          </p:cNvSpPr>
          <p:nvPr>
            <p:ph idx="1" hasCustomPrompt="1"/>
          </p:nvPr>
        </p:nvSpPr>
        <p:spPr>
          <a:xfrm>
            <a:off x="539496" y="1825625"/>
            <a:ext cx="5806440" cy="4352544"/>
          </a:xfrm>
        </p:spPr>
        <p:txBody>
          <a:bodyPr rtlCol="0">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p:txBody>
      </p:sp>
      <p:sp>
        <p:nvSpPr>
          <p:cNvPr id="4" name="Espace réservé de la date 3">
            <a:extLst>
              <a:ext uri="{FF2B5EF4-FFF2-40B4-BE49-F238E27FC236}">
                <a16:creationId xmlns:a16="http://schemas.microsoft.com/office/drawing/2014/main" id="{96E82FA1-02B7-467E-9F16-D178149407C5}"/>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5" name="Espace réservé du pied de page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6" name="Espace réservé du numéro de diapositive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10" name="Ovale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7" name="Ovale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e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rtlCol="0" anchor="b"/>
          <a:lstStyle>
            <a:lvl1pPr algn="ctr">
              <a:defRPr sz="6000">
                <a:solidFill>
                  <a:schemeClr val="bg1"/>
                </a:solidFill>
              </a:defRPr>
            </a:lvl1pPr>
          </a:lstStyle>
          <a:p>
            <a:pPr rtl="0"/>
            <a:r>
              <a:rPr lang="fr-FR" noProof="0"/>
              <a:t>Modifiez le style du titre</a:t>
            </a:r>
          </a:p>
        </p:txBody>
      </p:sp>
      <p:sp>
        <p:nvSpPr>
          <p:cNvPr id="3" name="Espace réservé du texte 2">
            <a:extLst>
              <a:ext uri="{FF2B5EF4-FFF2-40B4-BE49-F238E27FC236}">
                <a16:creationId xmlns:a16="http://schemas.microsoft.com/office/drawing/2014/main" id="{9E1462C4-0E4B-4DB7-A8BF-FE55142760AF}"/>
              </a:ext>
            </a:extLst>
          </p:cNvPr>
          <p:cNvSpPr>
            <a:spLocks noGrp="1"/>
          </p:cNvSpPr>
          <p:nvPr>
            <p:ph type="body" idx="1" hasCustomPrompt="1"/>
          </p:nvPr>
        </p:nvSpPr>
        <p:spPr>
          <a:xfrm>
            <a:off x="3319272" y="4078224"/>
            <a:ext cx="5559552" cy="1536192"/>
          </a:xfrm>
        </p:spPr>
        <p:txBody>
          <a:bodyPr rtlCol="0"/>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spTree>
    <p:extLst>
      <p:ext uri="{BB962C8B-B14F-4D97-AF65-F5344CB8AC3E}">
        <p14:creationId xmlns:p14="http://schemas.microsoft.com/office/powerpoint/2010/main" val="7855737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rtlCol="0"/>
          <a:lstStyle/>
          <a:p>
            <a:pPr rtl="0"/>
            <a:r>
              <a:rPr lang="fr-FR" noProof="0"/>
              <a:t>Modifiez le style du titre</a:t>
            </a:r>
          </a:p>
        </p:txBody>
      </p:sp>
      <p:sp>
        <p:nvSpPr>
          <p:cNvPr id="3" name="Espace réservé du contenu 2">
            <a:extLst>
              <a:ext uri="{FF2B5EF4-FFF2-40B4-BE49-F238E27FC236}">
                <a16:creationId xmlns:a16="http://schemas.microsoft.com/office/drawing/2014/main" id="{0A47AF11-F208-4FDA-9E19-D6CA3472134E}"/>
              </a:ext>
            </a:extLst>
          </p:cNvPr>
          <p:cNvSpPr>
            <a:spLocks noGrp="1"/>
          </p:cNvSpPr>
          <p:nvPr>
            <p:ph idx="1" hasCustomPrompt="1"/>
          </p:nvPr>
        </p:nvSpPr>
        <p:spPr>
          <a:xfrm>
            <a:off x="1179576" y="1911096"/>
            <a:ext cx="9829800" cy="385974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96E82FA1-02B7-467E-9F16-D178149407C5}"/>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5" name="Espace réservé du pied de page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6" name="Espace réservé du numéro de diapositive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7" name="Forme libre : Form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orme libre : Form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E11BF3-02E8-4EB7-818E-652B82CF2C9D}"/>
              </a:ext>
            </a:extLst>
          </p:cNvPr>
          <p:cNvSpPr>
            <a:spLocks noGrp="1"/>
          </p:cNvSpPr>
          <p:nvPr>
            <p:ph type="title"/>
          </p:nvPr>
        </p:nvSpPr>
        <p:spPr/>
        <p:txBody>
          <a:bodyPr rtlCol="0"/>
          <a:lstStyle/>
          <a:p>
            <a:pPr rtl="0"/>
            <a:r>
              <a:rPr lang="fr-FR" noProof="0"/>
              <a:t>Modifiez le style du titre</a:t>
            </a:r>
          </a:p>
        </p:txBody>
      </p:sp>
      <p:sp>
        <p:nvSpPr>
          <p:cNvPr id="3" name="Espace réservé de la date 2">
            <a:extLst>
              <a:ext uri="{FF2B5EF4-FFF2-40B4-BE49-F238E27FC236}">
                <a16:creationId xmlns:a16="http://schemas.microsoft.com/office/drawing/2014/main" id="{254D3190-B78C-42F1-9D62-F523886BBE51}"/>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4" name="Espace réservé du pied de page 3">
            <a:extLst>
              <a:ext uri="{FF2B5EF4-FFF2-40B4-BE49-F238E27FC236}">
                <a16:creationId xmlns:a16="http://schemas.microsoft.com/office/drawing/2014/main" id="{EA381C40-F9FC-4D58-8508-F0632DF5A018}"/>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5" name="Espace réservé du numéro de diapositive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6" name="Forme libre : Form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orme libre : Form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Espace réservé du contenu 2">
            <a:extLst>
              <a:ext uri="{FF2B5EF4-FFF2-40B4-BE49-F238E27FC236}">
                <a16:creationId xmlns:a16="http://schemas.microsoft.com/office/drawing/2014/main" id="{4753B078-30BA-4AB9-A020-EE8D9404B69E}"/>
              </a:ext>
            </a:extLst>
          </p:cNvPr>
          <p:cNvSpPr>
            <a:spLocks noGrp="1"/>
          </p:cNvSpPr>
          <p:nvPr>
            <p:ph idx="1" hasCustomPrompt="1"/>
          </p:nvPr>
        </p:nvSpPr>
        <p:spPr>
          <a:xfrm>
            <a:off x="838200" y="1911096"/>
            <a:ext cx="10515600" cy="385974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8989230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sitive de citation avec image">
    <p:bg>
      <p:bgPr>
        <a:solidFill>
          <a:schemeClr val="tx1"/>
        </a:solidFill>
        <a:effectLst/>
      </p:bgPr>
    </p:bg>
    <p:spTree>
      <p:nvGrpSpPr>
        <p:cNvPr id="1" name=""/>
        <p:cNvGrpSpPr/>
        <p:nvPr/>
      </p:nvGrpSpPr>
      <p:grpSpPr>
        <a:xfrm>
          <a:off x="0" y="0"/>
          <a:ext cx="0" cy="0"/>
          <a:chOff x="0" y="0"/>
          <a:chExt cx="0" cy="0"/>
        </a:xfrm>
      </p:grpSpPr>
      <p:sp>
        <p:nvSpPr>
          <p:cNvPr id="6" name="Espace réservé d’image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rtlCol="0"/>
          <a:lstStyle>
            <a:lvl1pPr>
              <a:buNone/>
              <a:defRPr>
                <a:solidFill>
                  <a:schemeClr val="bg1"/>
                </a:solidFill>
              </a:defRPr>
            </a:lvl1pPr>
          </a:lstStyle>
          <a:p>
            <a:pPr rtl="0"/>
            <a:r>
              <a:rPr lang="fr-FR" noProof="0" dirty="0"/>
              <a:t>Cliquez sur l'icône pour ajouter une image</a:t>
            </a:r>
          </a:p>
        </p:txBody>
      </p:sp>
      <p:sp>
        <p:nvSpPr>
          <p:cNvPr id="10" name="Titr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rtlCol="0" anchor="b" anchorCtr="0">
            <a:noAutofit/>
          </a:bodyPr>
          <a:lstStyle>
            <a:lvl1pPr algn="ctr">
              <a:defRPr sz="4000">
                <a:solidFill>
                  <a:schemeClr val="tx1"/>
                </a:solidFill>
              </a:defRPr>
            </a:lvl1pPr>
          </a:lstStyle>
          <a:p>
            <a:pPr rtl="0"/>
            <a:r>
              <a:rPr lang="fr-FR" noProof="0"/>
              <a:t>Modifiez le style du titre</a:t>
            </a:r>
          </a:p>
        </p:txBody>
      </p:sp>
      <p:sp>
        <p:nvSpPr>
          <p:cNvPr id="3" name="Espace réservé du texte 2">
            <a:extLst>
              <a:ext uri="{FF2B5EF4-FFF2-40B4-BE49-F238E27FC236}">
                <a16:creationId xmlns:a16="http://schemas.microsoft.com/office/drawing/2014/main" id="{9E1462C4-0E4B-4DB7-A8BF-FE55142760AF}"/>
              </a:ext>
            </a:extLst>
          </p:cNvPr>
          <p:cNvSpPr>
            <a:spLocks noGrp="1"/>
          </p:cNvSpPr>
          <p:nvPr>
            <p:ph type="body" idx="1" hasCustomPrompt="1"/>
          </p:nvPr>
        </p:nvSpPr>
        <p:spPr>
          <a:xfrm>
            <a:off x="3575304" y="4379976"/>
            <a:ext cx="5038344" cy="713232"/>
          </a:xfrm>
        </p:spPr>
        <p:txBody>
          <a:bodyPr rtlCol="0"/>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sp>
        <p:nvSpPr>
          <p:cNvPr id="11" name="Espace réservé de la date 10">
            <a:extLst>
              <a:ext uri="{FF2B5EF4-FFF2-40B4-BE49-F238E27FC236}">
                <a16:creationId xmlns:a16="http://schemas.microsoft.com/office/drawing/2014/main" id="{6B76FE53-FB67-4871-8485-71BAAFD7D1BF}"/>
              </a:ext>
            </a:extLst>
          </p:cNvPr>
          <p:cNvSpPr>
            <a:spLocks noGrp="1"/>
          </p:cNvSpPr>
          <p:nvPr>
            <p:ph type="dt" sz="half" idx="11"/>
          </p:nvPr>
        </p:nvSpPr>
        <p:spPr/>
        <p:txBody>
          <a:bodyPr rtlCol="0"/>
          <a:lstStyle>
            <a:lvl1pPr>
              <a:defRPr>
                <a:solidFill>
                  <a:schemeClr val="bg1"/>
                </a:solidFill>
                <a:latin typeface="+mn-lt"/>
              </a:defRPr>
            </a:lvl1pPr>
          </a:lstStyle>
          <a:p>
            <a:pPr rtl="0">
              <a:defRPr/>
            </a:pPr>
            <a:r>
              <a:rPr lang="fr-FR" noProof="0" dirty="0"/>
              <a:t>03/09/20XX</a:t>
            </a:r>
          </a:p>
        </p:txBody>
      </p:sp>
      <p:sp>
        <p:nvSpPr>
          <p:cNvPr id="12" name="Espace réservé du pied de page 11">
            <a:extLst>
              <a:ext uri="{FF2B5EF4-FFF2-40B4-BE49-F238E27FC236}">
                <a16:creationId xmlns:a16="http://schemas.microsoft.com/office/drawing/2014/main" id="{AD26FED4-1CE2-444B-A77E-EB3CB505AF19}"/>
              </a:ext>
            </a:extLst>
          </p:cNvPr>
          <p:cNvSpPr>
            <a:spLocks noGrp="1"/>
          </p:cNvSpPr>
          <p:nvPr>
            <p:ph type="ftr" sz="quarter" idx="12"/>
          </p:nvPr>
        </p:nvSpPr>
        <p:spPr/>
        <p:txBody>
          <a:bodyPr rtlCol="0"/>
          <a:lstStyle>
            <a:lvl1pPr>
              <a:defRPr>
                <a:solidFill>
                  <a:schemeClr val="bg1"/>
                </a:solidFill>
                <a:latin typeface="+mn-lt"/>
              </a:defRPr>
            </a:lvl1pPr>
          </a:lstStyle>
          <a:p>
            <a:pPr rtl="0">
              <a:defRPr/>
            </a:pPr>
            <a:r>
              <a:rPr lang="fr-FR" noProof="0" dirty="0"/>
              <a:t>Titre de la présentation</a:t>
            </a:r>
          </a:p>
        </p:txBody>
      </p:sp>
      <p:sp>
        <p:nvSpPr>
          <p:cNvPr id="13" name="Espace réservé du numéro de diapositive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rtlCol="0"/>
          <a:lstStyle>
            <a:lvl1pPr>
              <a:defRPr>
                <a:solidFill>
                  <a:schemeClr val="bg1"/>
                </a:solidFill>
                <a:latin typeface="+mn-lt"/>
              </a:defRPr>
            </a:lvl1pPr>
          </a:lstStyle>
          <a:p>
            <a:pPr rtl="0">
              <a:defRPr/>
            </a:pPr>
            <a:fld id="{D76B855D-E9CC-4FF8-AD85-6CDC7B89A0DE}" type="slidenum">
              <a:rPr lang="fr-FR" noProof="0" smtClean="0"/>
              <a:pPr>
                <a:defRPr/>
              </a:pPr>
              <a:t>‹N°›</a:t>
            </a:fld>
            <a:endParaRPr lang="fr-FR" noProof="0" dirty="0"/>
          </a:p>
        </p:txBody>
      </p:sp>
    </p:spTree>
    <p:extLst>
      <p:ext uri="{BB962C8B-B14F-4D97-AF65-F5344CB8AC3E}">
        <p14:creationId xmlns:p14="http://schemas.microsoft.com/office/powerpoint/2010/main" val="2203281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ABFD05-2CB2-4A7E-89E7-57615BA82B4F}"/>
              </a:ext>
            </a:extLst>
          </p:cNvPr>
          <p:cNvSpPr>
            <a:spLocks noGrp="1"/>
          </p:cNvSpPr>
          <p:nvPr>
            <p:ph type="title"/>
          </p:nvPr>
        </p:nvSpPr>
        <p:spPr/>
        <p:txBody>
          <a:bodyPr rtlCol="0"/>
          <a:lstStyle/>
          <a:p>
            <a:pPr rtl="0"/>
            <a:r>
              <a:rPr lang="fr-FR" noProof="0"/>
              <a:t>Modifiez le style du titre</a:t>
            </a:r>
          </a:p>
        </p:txBody>
      </p:sp>
      <p:sp>
        <p:nvSpPr>
          <p:cNvPr id="3" name="Espace réservé du contenu 2">
            <a:extLst>
              <a:ext uri="{FF2B5EF4-FFF2-40B4-BE49-F238E27FC236}">
                <a16:creationId xmlns:a16="http://schemas.microsoft.com/office/drawing/2014/main" id="{3F9532B8-D460-476D-816F-725E8D96C0A4}"/>
              </a:ext>
            </a:extLst>
          </p:cNvPr>
          <p:cNvSpPr>
            <a:spLocks noGrp="1"/>
          </p:cNvSpPr>
          <p:nvPr>
            <p:ph sz="half" idx="1" hasCustomPrompt="1"/>
          </p:nvPr>
        </p:nvSpPr>
        <p:spPr>
          <a:xfrm>
            <a:off x="838200" y="1825625"/>
            <a:ext cx="5181600" cy="4351338"/>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a:extLst>
              <a:ext uri="{FF2B5EF4-FFF2-40B4-BE49-F238E27FC236}">
                <a16:creationId xmlns:a16="http://schemas.microsoft.com/office/drawing/2014/main" id="{26F7120F-70AF-4ED5-B364-3AA55C6B44B6}"/>
              </a:ext>
            </a:extLst>
          </p:cNvPr>
          <p:cNvSpPr>
            <a:spLocks noGrp="1"/>
          </p:cNvSpPr>
          <p:nvPr>
            <p:ph sz="half" idx="2" hasCustomPrompt="1"/>
          </p:nvPr>
        </p:nvSpPr>
        <p:spPr>
          <a:xfrm>
            <a:off x="6172200" y="1825625"/>
            <a:ext cx="5181600" cy="4351338"/>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a:extLst>
              <a:ext uri="{FF2B5EF4-FFF2-40B4-BE49-F238E27FC236}">
                <a16:creationId xmlns:a16="http://schemas.microsoft.com/office/drawing/2014/main" id="{63D8B65F-F709-469F-9961-4D01896CAA12}"/>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6" name="Espace réservé du pied de page 5">
            <a:extLst>
              <a:ext uri="{FF2B5EF4-FFF2-40B4-BE49-F238E27FC236}">
                <a16:creationId xmlns:a16="http://schemas.microsoft.com/office/drawing/2014/main" id="{B781C6BC-B23D-48BC-AD44-654DDB8D0122}"/>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7" name="Espace réservé du numéro de diapositive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8" name="Forme libre : Form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orme libre : Form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rtlCol="0"/>
          <a:lstStyle/>
          <a:p>
            <a:pPr rtl="0"/>
            <a:r>
              <a:rPr lang="fr-FR" noProof="0"/>
              <a:t>Modifiez le style du titre</a:t>
            </a:r>
          </a:p>
        </p:txBody>
      </p:sp>
      <p:sp>
        <p:nvSpPr>
          <p:cNvPr id="3" name="Espace réservé du texte 2">
            <a:extLst>
              <a:ext uri="{FF2B5EF4-FFF2-40B4-BE49-F238E27FC236}">
                <a16:creationId xmlns:a16="http://schemas.microsoft.com/office/drawing/2014/main" id="{B921E9B7-62BE-49BA-AC6B-55250D66277F}"/>
              </a:ext>
            </a:extLst>
          </p:cNvPr>
          <p:cNvSpPr>
            <a:spLocks noGrp="1"/>
          </p:cNvSpPr>
          <p:nvPr>
            <p:ph type="body" idx="1" hasCustomPrompt="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a:extLst>
              <a:ext uri="{FF2B5EF4-FFF2-40B4-BE49-F238E27FC236}">
                <a16:creationId xmlns:a16="http://schemas.microsoft.com/office/drawing/2014/main" id="{BC41A3FD-B90A-4C31-BD6B-581F9E2E0E5E}"/>
              </a:ext>
            </a:extLst>
          </p:cNvPr>
          <p:cNvSpPr>
            <a:spLocks noGrp="1"/>
          </p:cNvSpPr>
          <p:nvPr>
            <p:ph sz="half" idx="2" hasCustomPrompt="1"/>
          </p:nvPr>
        </p:nvSpPr>
        <p:spPr>
          <a:xfrm>
            <a:off x="839788" y="2505075"/>
            <a:ext cx="5157787"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060D1D55-B722-4968-B171-AF3B462DDAD8}"/>
              </a:ext>
            </a:extLst>
          </p:cNvPr>
          <p:cNvSpPr>
            <a:spLocks noGrp="1"/>
          </p:cNvSpPr>
          <p:nvPr>
            <p:ph type="body" sz="quarter" idx="3" hasCustomPrompt="1"/>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a:extLst>
              <a:ext uri="{FF2B5EF4-FFF2-40B4-BE49-F238E27FC236}">
                <a16:creationId xmlns:a16="http://schemas.microsoft.com/office/drawing/2014/main" id="{D71085A8-02C2-4E7F-935E-5AEECBAD19BE}"/>
              </a:ext>
            </a:extLst>
          </p:cNvPr>
          <p:cNvSpPr>
            <a:spLocks noGrp="1"/>
          </p:cNvSpPr>
          <p:nvPr>
            <p:ph sz="quarter" idx="4" hasCustomPrompt="1"/>
          </p:nvPr>
        </p:nvSpPr>
        <p:spPr>
          <a:xfrm>
            <a:off x="6172200" y="2505075"/>
            <a:ext cx="5183188"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9A8A5018-8A77-40E8-B159-4894ECF228B1}"/>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8" name="Espace réservé du pied de page 7">
            <a:extLst>
              <a:ext uri="{FF2B5EF4-FFF2-40B4-BE49-F238E27FC236}">
                <a16:creationId xmlns:a16="http://schemas.microsoft.com/office/drawing/2014/main" id="{8AD79441-8908-4461-9FDD-BCE638837098}"/>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9" name="Espace réservé du numéro de diapositive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10" name="Forme libre : Form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orme libre : Form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ison 3 colonn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rtlCol="0"/>
          <a:lstStyle/>
          <a:p>
            <a:pPr rtl="0"/>
            <a:r>
              <a:rPr lang="fr-FR" noProof="0"/>
              <a:t>Modifiez le style du titre</a:t>
            </a:r>
          </a:p>
        </p:txBody>
      </p:sp>
      <p:sp>
        <p:nvSpPr>
          <p:cNvPr id="3" name="Espace réservé du texte 2">
            <a:extLst>
              <a:ext uri="{FF2B5EF4-FFF2-40B4-BE49-F238E27FC236}">
                <a16:creationId xmlns:a16="http://schemas.microsoft.com/office/drawing/2014/main" id="{B921E9B7-62BE-49BA-AC6B-55250D66277F}"/>
              </a:ext>
            </a:extLst>
          </p:cNvPr>
          <p:cNvSpPr>
            <a:spLocks noGrp="1"/>
          </p:cNvSpPr>
          <p:nvPr>
            <p:ph type="body" idx="1" hasCustomPrompt="1"/>
          </p:nvPr>
        </p:nvSpPr>
        <p:spPr>
          <a:xfrm>
            <a:off x="83978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a:extLst>
              <a:ext uri="{FF2B5EF4-FFF2-40B4-BE49-F238E27FC236}">
                <a16:creationId xmlns:a16="http://schemas.microsoft.com/office/drawing/2014/main" id="{BC41A3FD-B90A-4C31-BD6B-581F9E2E0E5E}"/>
              </a:ext>
            </a:extLst>
          </p:cNvPr>
          <p:cNvSpPr>
            <a:spLocks noGrp="1"/>
          </p:cNvSpPr>
          <p:nvPr>
            <p:ph sz="half" idx="2" hasCustomPrompt="1"/>
          </p:nvPr>
        </p:nvSpPr>
        <p:spPr>
          <a:xfrm>
            <a:off x="83978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060D1D55-B722-4968-B171-AF3B462DDAD8}"/>
              </a:ext>
            </a:extLst>
          </p:cNvPr>
          <p:cNvSpPr>
            <a:spLocks noGrp="1"/>
          </p:cNvSpPr>
          <p:nvPr>
            <p:ph type="body" sz="quarter" idx="3" hasCustomPrompt="1"/>
          </p:nvPr>
        </p:nvSpPr>
        <p:spPr>
          <a:xfrm>
            <a:off x="445312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a:extLst>
              <a:ext uri="{FF2B5EF4-FFF2-40B4-BE49-F238E27FC236}">
                <a16:creationId xmlns:a16="http://schemas.microsoft.com/office/drawing/2014/main" id="{D71085A8-02C2-4E7F-935E-5AEECBAD19BE}"/>
              </a:ext>
            </a:extLst>
          </p:cNvPr>
          <p:cNvSpPr>
            <a:spLocks noGrp="1"/>
          </p:cNvSpPr>
          <p:nvPr>
            <p:ph sz="quarter" idx="4" hasCustomPrompt="1"/>
          </p:nvPr>
        </p:nvSpPr>
        <p:spPr>
          <a:xfrm>
            <a:off x="445312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9A8A5018-8A77-40E8-B159-4894ECF228B1}"/>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8" name="Espace réservé du pied de page 7">
            <a:extLst>
              <a:ext uri="{FF2B5EF4-FFF2-40B4-BE49-F238E27FC236}">
                <a16:creationId xmlns:a16="http://schemas.microsoft.com/office/drawing/2014/main" id="{8AD79441-8908-4461-9FDD-BCE638837098}"/>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9" name="Espace réservé du numéro de diapositive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10" name="Forme libre : Form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orme libre : Form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Espace réservé du texte 4">
            <a:extLst>
              <a:ext uri="{FF2B5EF4-FFF2-40B4-BE49-F238E27FC236}">
                <a16:creationId xmlns:a16="http://schemas.microsoft.com/office/drawing/2014/main" id="{ACF5677B-E56F-4452-ADDC-DA0E20A955EC}"/>
              </a:ext>
            </a:extLst>
          </p:cNvPr>
          <p:cNvSpPr>
            <a:spLocks noGrp="1"/>
          </p:cNvSpPr>
          <p:nvPr>
            <p:ph type="body" sz="quarter" idx="13" hasCustomPrompt="1"/>
          </p:nvPr>
        </p:nvSpPr>
        <p:spPr>
          <a:xfrm>
            <a:off x="806500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13" name="Espace réservé du contenu 5">
            <a:extLst>
              <a:ext uri="{FF2B5EF4-FFF2-40B4-BE49-F238E27FC236}">
                <a16:creationId xmlns:a16="http://schemas.microsoft.com/office/drawing/2014/main" id="{865D9C09-AB3B-40EB-B1DA-9C6D72343451}"/>
              </a:ext>
            </a:extLst>
          </p:cNvPr>
          <p:cNvSpPr>
            <a:spLocks noGrp="1"/>
          </p:cNvSpPr>
          <p:nvPr>
            <p:ph sz="quarter" idx="14" hasCustomPrompt="1"/>
          </p:nvPr>
        </p:nvSpPr>
        <p:spPr>
          <a:xfrm>
            <a:off x="806500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56727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contenu avec 2 images moyennes">
    <p:spTree>
      <p:nvGrpSpPr>
        <p:cNvPr id="1" name=""/>
        <p:cNvGrpSpPr/>
        <p:nvPr/>
      </p:nvGrpSpPr>
      <p:grpSpPr>
        <a:xfrm>
          <a:off x="0" y="0"/>
          <a:ext cx="0" cy="0"/>
          <a:chOff x="0" y="0"/>
          <a:chExt cx="0" cy="0"/>
        </a:xfrm>
      </p:grpSpPr>
      <p:sp>
        <p:nvSpPr>
          <p:cNvPr id="20" name="Espace réservé d’image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rtlCol="0" anchor="ctr">
            <a:noAutofit/>
          </a:bodyPr>
          <a:lstStyle>
            <a:lvl1pPr algn="ctr">
              <a:buNone/>
              <a:defRPr sz="1800"/>
            </a:lvl1pPr>
          </a:lstStyle>
          <a:p>
            <a:pPr rtl="0"/>
            <a:r>
              <a:rPr lang="fr-FR" noProof="0" dirty="0"/>
              <a:t>Cliquez sur l'icône pour ajouter une image</a:t>
            </a:r>
          </a:p>
        </p:txBody>
      </p:sp>
      <p:sp>
        <p:nvSpPr>
          <p:cNvPr id="21" name="Espace réservé d’image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rtlCol="0" anchor="ctr">
            <a:noAutofit/>
          </a:bodyPr>
          <a:lstStyle>
            <a:lvl1pPr algn="ctr">
              <a:buNone/>
              <a:defRPr sz="1800"/>
            </a:lvl1pPr>
          </a:lstStyle>
          <a:p>
            <a:pPr rtl="0"/>
            <a:r>
              <a:rPr lang="fr-FR" noProof="0" dirty="0"/>
              <a:t>Cliquez sur l'icône pour ajouter une image</a:t>
            </a:r>
          </a:p>
        </p:txBody>
      </p:sp>
      <p:sp>
        <p:nvSpPr>
          <p:cNvPr id="10" name="Ovale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rtlCol="0"/>
          <a:lstStyle/>
          <a:p>
            <a:pPr rtl="0"/>
            <a:r>
              <a:rPr lang="fr-FR" noProof="0"/>
              <a:t>Modifiez le style du titre</a:t>
            </a:r>
          </a:p>
        </p:txBody>
      </p:sp>
      <p:sp>
        <p:nvSpPr>
          <p:cNvPr id="3" name="Espace réservé de la date 2">
            <a:extLst>
              <a:ext uri="{FF2B5EF4-FFF2-40B4-BE49-F238E27FC236}">
                <a16:creationId xmlns:a16="http://schemas.microsoft.com/office/drawing/2014/main" id="{254D3190-B78C-42F1-9D62-F523886BBE51}"/>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4" name="Espace réservé du pied de page 3">
            <a:extLst>
              <a:ext uri="{FF2B5EF4-FFF2-40B4-BE49-F238E27FC236}">
                <a16:creationId xmlns:a16="http://schemas.microsoft.com/office/drawing/2014/main" id="{EA381C40-F9FC-4D58-8508-F0632DF5A018}"/>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5" name="Espace réservé du numéro de diapositive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8" name="Espace réservé du contenu 2">
            <a:extLst>
              <a:ext uri="{FF2B5EF4-FFF2-40B4-BE49-F238E27FC236}">
                <a16:creationId xmlns:a16="http://schemas.microsoft.com/office/drawing/2014/main" id="{4753B078-30BA-4AB9-A020-EE8D9404B69E}"/>
              </a:ext>
            </a:extLst>
          </p:cNvPr>
          <p:cNvSpPr>
            <a:spLocks noGrp="1"/>
          </p:cNvSpPr>
          <p:nvPr>
            <p:ph idx="1" hasCustomPrompt="1"/>
          </p:nvPr>
        </p:nvSpPr>
        <p:spPr>
          <a:xfrm>
            <a:off x="841248" y="1828800"/>
            <a:ext cx="5093208" cy="4352544"/>
          </a:xfrm>
        </p:spPr>
        <p:txBody>
          <a:bodyPr rtlCol="0"/>
          <a:lstStyle>
            <a:lvl1pPr marL="0" indent="0">
              <a:buNone/>
              <a:defRPr sz="2400"/>
            </a:lvl1pPr>
            <a:lvl2pPr marL="228600">
              <a:defRPr/>
            </a:lvl2pPr>
            <a:lvl3pPr marL="457200">
              <a:defRPr/>
            </a:lvl3pPr>
            <a:lvl4pPr marL="685800">
              <a:defRPr/>
            </a:lvl4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p:txBody>
      </p:sp>
    </p:spTree>
    <p:extLst>
      <p:ext uri="{BB962C8B-B14F-4D97-AF65-F5344CB8AC3E}">
        <p14:creationId xmlns:p14="http://schemas.microsoft.com/office/powerpoint/2010/main" val="14131786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ermeture">
    <p:spTree>
      <p:nvGrpSpPr>
        <p:cNvPr id="1" name=""/>
        <p:cNvGrpSpPr/>
        <p:nvPr/>
      </p:nvGrpSpPr>
      <p:grpSpPr>
        <a:xfrm>
          <a:off x="0" y="0"/>
          <a:ext cx="0" cy="0"/>
          <a:chOff x="0" y="0"/>
          <a:chExt cx="0" cy="0"/>
        </a:xfrm>
      </p:grpSpPr>
      <p:sp>
        <p:nvSpPr>
          <p:cNvPr id="10" name="Ovale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orme libre : Form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orme libre : Form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orme libre : Form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orme libre : Form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orme libre : Form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orme libre : Form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rtlCol="0"/>
          <a:lstStyle>
            <a:lvl1pPr algn="ctr">
              <a:defRPr>
                <a:solidFill>
                  <a:schemeClr val="bg1"/>
                </a:solidFill>
              </a:defRPr>
            </a:lvl1pPr>
          </a:lstStyle>
          <a:p>
            <a:pPr rtl="0"/>
            <a:r>
              <a:rPr lang="fr-FR" noProof="0"/>
              <a:t>Modifiez le style du titre</a:t>
            </a:r>
          </a:p>
        </p:txBody>
      </p:sp>
      <p:sp>
        <p:nvSpPr>
          <p:cNvPr id="3" name="Espace réservé de la date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4" name="Espace réservé du pied de page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rtlCol="0"/>
          <a:lstStyle>
            <a:lvl1pPr algn="l">
              <a:defRPr>
                <a:latin typeface="+mn-lt"/>
              </a:defRPr>
            </a:lvl1pPr>
          </a:lstStyle>
          <a:p>
            <a:pPr algn="l" rtl="0">
              <a:defRPr/>
            </a:pPr>
            <a:r>
              <a:rPr lang="fr-FR" noProof="0" dirty="0">
                <a:solidFill>
                  <a:prstClr val="black">
                    <a:tint val="75000"/>
                  </a:prstClr>
                </a:solidFill>
              </a:rPr>
              <a:t>Titre de la présentation</a:t>
            </a:r>
          </a:p>
        </p:txBody>
      </p:sp>
      <p:sp>
        <p:nvSpPr>
          <p:cNvPr id="5" name="Espace réservé du numéro de diapositive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8" name="Espace réservé du contenu 2">
            <a:extLst>
              <a:ext uri="{FF2B5EF4-FFF2-40B4-BE49-F238E27FC236}">
                <a16:creationId xmlns:a16="http://schemas.microsoft.com/office/drawing/2014/main" id="{4753B078-30BA-4AB9-A020-EE8D9404B69E}"/>
              </a:ext>
            </a:extLst>
          </p:cNvPr>
          <p:cNvSpPr>
            <a:spLocks noGrp="1"/>
          </p:cNvSpPr>
          <p:nvPr>
            <p:ph idx="1" hasCustomPrompt="1"/>
          </p:nvPr>
        </p:nvSpPr>
        <p:spPr>
          <a:xfrm>
            <a:off x="6665976" y="2551176"/>
            <a:ext cx="4709160" cy="1755648"/>
          </a:xfrm>
        </p:spPr>
        <p:txBody>
          <a:bodyPr rtlCol="0"/>
          <a:lstStyle>
            <a:lvl1pPr marL="0" indent="0">
              <a:buNone/>
              <a:defRPr sz="2400"/>
            </a:lvl1pPr>
            <a:lvl2pPr marL="228600">
              <a:defRPr sz="1800"/>
            </a:lvl2pPr>
            <a:lvl3pPr marL="457200">
              <a:defRPr sz="1800"/>
            </a:lvl3pPr>
          </a:lstStyle>
          <a:p>
            <a:pPr lvl="0" rtl="0"/>
            <a:r>
              <a:rPr lang="fr-FR" noProof="0"/>
              <a:t>Modifiez les styles du texte du masque</a:t>
            </a:r>
          </a:p>
          <a:p>
            <a:pPr lvl="1" rtl="0"/>
            <a:r>
              <a:rPr lang="fr-FR" noProof="0"/>
              <a:t>Deuxième niveau</a:t>
            </a:r>
          </a:p>
          <a:p>
            <a:pPr lvl="2" rtl="0"/>
            <a:r>
              <a:rPr lang="fr-FR" noProof="0"/>
              <a:t>Troisième niveau</a:t>
            </a:r>
          </a:p>
        </p:txBody>
      </p:sp>
    </p:spTree>
    <p:extLst>
      <p:ext uri="{BB962C8B-B14F-4D97-AF65-F5344CB8AC3E}">
        <p14:creationId xmlns:p14="http://schemas.microsoft.com/office/powerpoint/2010/main" val="826779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7024287-C9B9-48AC-8E4D-A282DE2F44F5}"/>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3" name="Espace réservé du pied de page 2">
            <a:extLst>
              <a:ext uri="{FF2B5EF4-FFF2-40B4-BE49-F238E27FC236}">
                <a16:creationId xmlns:a16="http://schemas.microsoft.com/office/drawing/2014/main" id="{2D34C9A2-75A7-4164-B3B8-E6A9D60BA0B6}"/>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4" name="Espace réservé du numéro de diapositive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rtl="0">
                <a:defRPr/>
              </a:pPr>
              <a:t>‹N°›</a:t>
            </a:fld>
            <a:endParaRPr lang="fr-FR" noProof="0" dirty="0">
              <a:solidFill>
                <a:prstClr val="black">
                  <a:tint val="75000"/>
                </a:prstClr>
              </a:solidFill>
            </a:endParaRPr>
          </a:p>
        </p:txBody>
      </p:sp>
      <p:sp>
        <p:nvSpPr>
          <p:cNvPr id="5" name="Forme libre : Form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rme libre : Form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7024287-C9B9-48AC-8E4D-A282DE2F44F5}"/>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3" name="Espace réservé du pied de page 2">
            <a:extLst>
              <a:ext uri="{FF2B5EF4-FFF2-40B4-BE49-F238E27FC236}">
                <a16:creationId xmlns:a16="http://schemas.microsoft.com/office/drawing/2014/main" id="{2D34C9A2-75A7-4164-B3B8-E6A9D60BA0B6}"/>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4" name="Espace réservé du numéro de diapositive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5" name="Forme libre : Form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rme libre : Form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re 6">
            <a:extLst>
              <a:ext uri="{FF2B5EF4-FFF2-40B4-BE49-F238E27FC236}">
                <a16:creationId xmlns:a16="http://schemas.microsoft.com/office/drawing/2014/main" id="{C9A1C714-6A0E-456D-A2E2-6288C0EA077B}"/>
              </a:ext>
            </a:extLst>
          </p:cNvPr>
          <p:cNvSpPr>
            <a:spLocks noGrp="1"/>
          </p:cNvSpPr>
          <p:nvPr>
            <p:ph type="title"/>
          </p:nvPr>
        </p:nvSpPr>
        <p:spPr/>
        <p:txBody>
          <a:bodyPr rtlCol="0"/>
          <a:lstStyle/>
          <a:p>
            <a:pPr rtl="0"/>
            <a:r>
              <a:rPr lang="fr-FR" noProof="0"/>
              <a:t>Modifiez le style du titre</a:t>
            </a:r>
          </a:p>
        </p:txBody>
      </p:sp>
    </p:spTree>
    <p:extLst>
      <p:ext uri="{BB962C8B-B14F-4D97-AF65-F5344CB8AC3E}">
        <p14:creationId xmlns:p14="http://schemas.microsoft.com/office/powerpoint/2010/main" val="36354056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a:t>Modifiez le style du titre</a:t>
            </a:r>
          </a:p>
        </p:txBody>
      </p:sp>
      <p:sp>
        <p:nvSpPr>
          <p:cNvPr id="3" name="Espace réservé du contenu 2">
            <a:extLst>
              <a:ext uri="{FF2B5EF4-FFF2-40B4-BE49-F238E27FC236}">
                <a16:creationId xmlns:a16="http://schemas.microsoft.com/office/drawing/2014/main" id="{92F0855E-0CD6-47DD-B648-4C84C783D784}"/>
              </a:ext>
            </a:extLst>
          </p:cNvPr>
          <p:cNvSpPr>
            <a:spLocks noGrp="1"/>
          </p:cNvSpPr>
          <p:nvPr>
            <p:ph idx="1" hasCustomPrompt="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a:extLst>
              <a:ext uri="{FF2B5EF4-FFF2-40B4-BE49-F238E27FC236}">
                <a16:creationId xmlns:a16="http://schemas.microsoft.com/office/drawing/2014/main" id="{ED50082B-17D7-4D61-8AEB-81517D85D253}"/>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a:extLst>
              <a:ext uri="{FF2B5EF4-FFF2-40B4-BE49-F238E27FC236}">
                <a16:creationId xmlns:a16="http://schemas.microsoft.com/office/drawing/2014/main" id="{81A70783-FF31-4C4E-9196-EB169B209747}"/>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6" name="Espace réservé du pied de page 5">
            <a:extLst>
              <a:ext uri="{FF2B5EF4-FFF2-40B4-BE49-F238E27FC236}">
                <a16:creationId xmlns:a16="http://schemas.microsoft.com/office/drawing/2014/main" id="{7D92E260-747D-40FD-A062-9DD5E6835ABB}"/>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7" name="Espace réservé du numéro de diapositive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8" name="Forme libre : Form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orme libre : Form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a:t>Modifiez le style du titre</a:t>
            </a:r>
          </a:p>
        </p:txBody>
      </p:sp>
      <p:sp>
        <p:nvSpPr>
          <p:cNvPr id="3" name="Espace réservé d’image 2">
            <a:extLst>
              <a:ext uri="{FF2B5EF4-FFF2-40B4-BE49-F238E27FC236}">
                <a16:creationId xmlns:a16="http://schemas.microsoft.com/office/drawing/2014/main" id="{A2472CF2-2653-4B98-A416-D7A0A860ECE0}"/>
              </a:ext>
            </a:extLst>
          </p:cNvPr>
          <p:cNvSpPr>
            <a:spLocks noGrp="1"/>
          </p:cNvSpPr>
          <p:nvPr>
            <p:ph type="pic" idx="1" hasCustomPrompt="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dirty="0"/>
              <a:t>Cliquez sur l’icône pour ajouter une image</a:t>
            </a:r>
          </a:p>
        </p:txBody>
      </p:sp>
      <p:sp>
        <p:nvSpPr>
          <p:cNvPr id="4" name="Espace réservé du texte 3">
            <a:extLst>
              <a:ext uri="{FF2B5EF4-FFF2-40B4-BE49-F238E27FC236}">
                <a16:creationId xmlns:a16="http://schemas.microsoft.com/office/drawing/2014/main" id="{A6EF87F5-0B10-4AC7-9599-F088C5E796D7}"/>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a:extLst>
              <a:ext uri="{FF2B5EF4-FFF2-40B4-BE49-F238E27FC236}">
                <a16:creationId xmlns:a16="http://schemas.microsoft.com/office/drawing/2014/main" id="{62A07CB7-0520-4D64-B76C-C31AC557832D}"/>
              </a:ext>
            </a:extLst>
          </p:cNvPr>
          <p:cNvSpPr>
            <a:spLocks noGrp="1"/>
          </p:cNvSpPr>
          <p:nvPr>
            <p:ph type="dt" sz="half" idx="10"/>
          </p:nvPr>
        </p:nvSpPr>
        <p:spPr/>
        <p:txBody>
          <a:bodyPr rtlCol="0"/>
          <a:lstStyle>
            <a:lvl1pPr>
              <a:defRPr>
                <a:latin typeface="+mn-lt"/>
              </a:defRPr>
            </a:lvl1pPr>
          </a:lstStyle>
          <a:p>
            <a:pPr rtl="0">
              <a:defRPr/>
            </a:pPr>
            <a:r>
              <a:rPr lang="fr-FR" noProof="0" dirty="0">
                <a:solidFill>
                  <a:prstClr val="black">
                    <a:tint val="75000"/>
                  </a:prstClr>
                </a:solidFill>
              </a:rPr>
              <a:t>03/09/20XX</a:t>
            </a:r>
          </a:p>
        </p:txBody>
      </p:sp>
      <p:sp>
        <p:nvSpPr>
          <p:cNvPr id="6" name="Espace réservé du pied de page 5">
            <a:extLst>
              <a:ext uri="{FF2B5EF4-FFF2-40B4-BE49-F238E27FC236}">
                <a16:creationId xmlns:a16="http://schemas.microsoft.com/office/drawing/2014/main" id="{92EEB226-AD45-45DF-AAB5-5513AE732AAE}"/>
              </a:ext>
            </a:extLst>
          </p:cNvPr>
          <p:cNvSpPr>
            <a:spLocks noGrp="1"/>
          </p:cNvSpPr>
          <p:nvPr>
            <p:ph type="ftr" sz="quarter" idx="11"/>
          </p:nvPr>
        </p:nvSpPr>
        <p:spPr/>
        <p:txBody>
          <a:bodyPr rtlCol="0"/>
          <a:lstStyle>
            <a:lvl1pPr>
              <a:defRPr>
                <a:latin typeface="+mn-lt"/>
              </a:defRPr>
            </a:lvl1pPr>
          </a:lstStyle>
          <a:p>
            <a:pPr rtl="0">
              <a:defRPr/>
            </a:pPr>
            <a:r>
              <a:rPr lang="fr-FR" noProof="0" dirty="0">
                <a:solidFill>
                  <a:prstClr val="black">
                    <a:tint val="75000"/>
                  </a:prstClr>
                </a:solidFill>
              </a:rPr>
              <a:t>Titre de la présentation</a:t>
            </a:r>
          </a:p>
        </p:txBody>
      </p:sp>
      <p:sp>
        <p:nvSpPr>
          <p:cNvPr id="7" name="Espace réservé du numéro de diapositive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
        <p:nvSpPr>
          <p:cNvPr id="8" name="Forme libre : Form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orme libre : Form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rtl="0">
              <a:defRPr/>
            </a:pPr>
            <a:r>
              <a:rPr lang="fr-FR" noProof="0" dirty="0">
                <a:solidFill>
                  <a:prstClr val="black">
                    <a:tint val="75000"/>
                  </a:prstClr>
                </a:solidFill>
              </a:rPr>
              <a:t>03/09/20XX</a:t>
            </a:r>
          </a:p>
        </p:txBody>
      </p:sp>
      <p:sp>
        <p:nvSpPr>
          <p:cNvPr id="5" name="Espace réservé du pied de page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rtl="0">
              <a:defRPr/>
            </a:pPr>
            <a:r>
              <a:rPr lang="fr-FR" noProof="0" dirty="0">
                <a:solidFill>
                  <a:prstClr val="black">
                    <a:tint val="75000"/>
                  </a:prstClr>
                </a:solidFill>
              </a:rPr>
              <a:t>Titre de la présentation</a:t>
            </a:r>
          </a:p>
        </p:txBody>
      </p:sp>
      <p:sp>
        <p:nvSpPr>
          <p:cNvPr id="6" name="Espace réservé du numéro de diapositive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rtl="0">
              <a:defRPr/>
            </a:pPr>
            <a:fld id="{D76B855D-E9CC-4FF8-AD85-6CDC7B89A0DE}" type="slidenum">
              <a:rPr lang="fr-FR" noProof="0" smtClean="0">
                <a:solidFill>
                  <a:prstClr val="black">
                    <a:tint val="75000"/>
                  </a:prstClr>
                </a:solidFill>
              </a:rPr>
              <a:pPr>
                <a:defRPr/>
              </a:pPr>
              <a:t>‹N°›</a:t>
            </a:fld>
            <a:endParaRPr lang="fr-FR" noProof="0"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hyperlink" Target="zim://554a0d3d-b593-e049-8b74-0b88a67035f3.zim/A/Babylone" TargetMode="External"/><Relationship Id="rId5" Type="http://schemas.openxmlformats.org/officeDocument/2006/relationships/hyperlink" Target="zim://554a0d3d-b593-e049-8b74-0b88a67035f3.zim/A/Tablette_d'argile"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1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12.jp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jpg"/><Relationship Id="rId2" Type="http://schemas.openxmlformats.org/officeDocument/2006/relationships/image" Target="../media/image240.png"/><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JPG"/><Relationship Id="rId4" Type="http://schemas.openxmlformats.org/officeDocument/2006/relationships/image" Target="../media/image23.gif"/></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3.xml"/><Relationship Id="rId7" Type="http://schemas.openxmlformats.org/officeDocument/2006/relationships/image" Target="../media/image3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8.png"/><Relationship Id="rId5" Type="http://schemas.openxmlformats.org/officeDocument/2006/relationships/image" Target="../media/image29.png"/><Relationship Id="rId4" Type="http://schemas.openxmlformats.org/officeDocument/2006/relationships/image" Target="../media/image27.gif"/></Relationships>
</file>

<file path=ppt/slides/_rels/slide25.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jpg"/><Relationship Id="rId7" Type="http://schemas.openxmlformats.org/officeDocument/2006/relationships/image" Target="../media/image35.jfif"/><Relationship Id="rId2" Type="http://schemas.openxmlformats.org/officeDocument/2006/relationships/image" Target="../media/image32.jpeg"/><Relationship Id="rId1" Type="http://schemas.openxmlformats.org/officeDocument/2006/relationships/slideLayout" Target="../slideLayouts/slideLayout3.xml"/><Relationship Id="rId6" Type="http://schemas.openxmlformats.org/officeDocument/2006/relationships/image" Target="../media/image1.jpeg"/><Relationship Id="rId5" Type="http://schemas.openxmlformats.org/officeDocument/2006/relationships/image" Target="../media/image34.jpeg"/><Relationship Id="rId4" Type="http://schemas.openxmlformats.org/officeDocument/2006/relationships/image" Target="../media/image33.jpeg"/><Relationship Id="rId9" Type="http://schemas.openxmlformats.org/officeDocument/2006/relationships/image" Target="../media/image3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8.jfi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ous-titre 2">
            <a:extLst>
              <a:ext uri="{FF2B5EF4-FFF2-40B4-BE49-F238E27FC236}">
                <a16:creationId xmlns:a16="http://schemas.microsoft.com/office/drawing/2014/main" id="{0D8F0FC6-B5DB-45D0-B071-A947BF96A60F}"/>
              </a:ext>
            </a:extLst>
          </p:cNvPr>
          <p:cNvSpPr txBox="1">
            <a:spLocks/>
          </p:cNvSpPr>
          <p:nvPr/>
        </p:nvSpPr>
        <p:spPr>
          <a:xfrm>
            <a:off x="0" y="0"/>
            <a:ext cx="12286694" cy="6858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l"/>
            <a:r>
              <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UNIVERSITÉ DE YAOUNDÉ I 		          THE UNIVERSITY OF YAOUNDE I</a:t>
            </a:r>
            <a:br>
              <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endPar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algn="l"/>
            <a:r>
              <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ÉCOLE NATIONALE SUPÉRIEURE                                                                        NATIONAL ADVANCED SCHOOL POLYTECHNIQUE DE YAOUNDE 		                                                              OF ENGINEERING YAOUNDE       	  	</a:t>
            </a:r>
            <a:br>
              <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r>
              <a:rPr lang="en-US"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a:t>
            </a: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DEPARTEMENT DE                                                                                            MATHEMATICS AND</a:t>
            </a: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rPr>
            </a:b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cs typeface="Times New Roman" panose="02020603050405020304" pitchFamily="18" charset="0"/>
              </a:rPr>
              <a:t>        MATHEMATIQUES </a:t>
            </a: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ET 		                                                                       PHYSICAL SCIENCES </a:t>
            </a:r>
          </a:p>
          <a:p>
            <a:pPr algn="l">
              <a:spcBef>
                <a:spcPts val="0"/>
              </a:spcBef>
            </a:pP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SCIENCES PHYSIQUES                                                                                                     DEPARTMENT    </a:t>
            </a: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endPar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algn="l">
              <a:spcBef>
                <a:spcPts val="0"/>
              </a:spcBef>
            </a:pPr>
            <a:endPar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algn="l">
              <a:spcBef>
                <a:spcPts val="0"/>
              </a:spcBef>
            </a:pP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a:t>
            </a:r>
          </a:p>
          <a:p>
            <a:pPr algn="l">
              <a:spcBef>
                <a:spcPts val="0"/>
              </a:spcBef>
            </a:pP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GEOMETRIE AFFINE &amp; 					                            COORDONNATEURS : Pr     </a:t>
            </a:r>
          </a:p>
          <a:p>
            <a:pPr algn="l">
              <a:spcBef>
                <a:spcPts val="0"/>
              </a:spcBef>
            </a:pP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EUCLIDIENNE – STI1082						            BOUETOU Thomas &amp;</a:t>
            </a:r>
          </a:p>
          <a:p>
            <a:pPr algn="l">
              <a:spcBef>
                <a:spcPts val="0"/>
              </a:spcBef>
            </a:pP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GROUPE B1 - MSPI - 2022 						          M. FOTSING Joseph						</a:t>
            </a: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t>									</a:t>
            </a: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br>
              <a:rPr lang="fr-FR" altLang="fr-FR" sz="2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rPr>
            </a:br>
            <a:endParaRPr lang="fr-FR" sz="2200" dirty="0">
              <a:solidFill>
                <a:schemeClr val="tx1"/>
              </a:solidFill>
            </a:endParaRPr>
          </a:p>
        </p:txBody>
      </p:sp>
      <p:sp>
        <p:nvSpPr>
          <p:cNvPr id="5" name="Titre 1">
            <a:extLst>
              <a:ext uri="{FF2B5EF4-FFF2-40B4-BE49-F238E27FC236}">
                <a16:creationId xmlns:a16="http://schemas.microsoft.com/office/drawing/2014/main" id="{BC26D021-71E2-45A2-8258-712280FE0B90}"/>
              </a:ext>
            </a:extLst>
          </p:cNvPr>
          <p:cNvSpPr txBox="1">
            <a:spLocks/>
          </p:cNvSpPr>
          <p:nvPr/>
        </p:nvSpPr>
        <p:spPr>
          <a:xfrm>
            <a:off x="2846935" y="2023145"/>
            <a:ext cx="6592824" cy="289740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fr-FR" dirty="0"/>
              <a:t>FONDEMENTS DE LA GÉOMÉTRIE : HISTORIQUES, RÔLE &amp; UTILITÉ</a:t>
            </a:r>
          </a:p>
        </p:txBody>
      </p:sp>
      <p:sp>
        <p:nvSpPr>
          <p:cNvPr id="6" name="Sous-titre 2">
            <a:extLst>
              <a:ext uri="{FF2B5EF4-FFF2-40B4-BE49-F238E27FC236}">
                <a16:creationId xmlns:a16="http://schemas.microsoft.com/office/drawing/2014/main" id="{225F94CA-157F-4514-8F80-7061AFE0D7F9}"/>
              </a:ext>
            </a:extLst>
          </p:cNvPr>
          <p:cNvSpPr txBox="1">
            <a:spLocks/>
          </p:cNvSpPr>
          <p:nvPr/>
        </p:nvSpPr>
        <p:spPr>
          <a:xfrm>
            <a:off x="2799588" y="4834855"/>
            <a:ext cx="6592824" cy="996696"/>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fr-FR" dirty="0">
                <a:solidFill>
                  <a:srgbClr val="FFFFFF"/>
                </a:solidFill>
              </a:rPr>
              <a:t>« Que nul n’entre ici s’il n’est géomètre! » Platon</a:t>
            </a:r>
            <a:endParaRPr lang="fr-FR" dirty="0"/>
          </a:p>
        </p:txBody>
      </p:sp>
      <p:pic>
        <p:nvPicPr>
          <p:cNvPr id="3" name="Image 2">
            <a:extLst>
              <a:ext uri="{FF2B5EF4-FFF2-40B4-BE49-F238E27FC236}">
                <a16:creationId xmlns:a16="http://schemas.microsoft.com/office/drawing/2014/main" id="{381123A6-4983-437B-97A7-795D61D174BB}"/>
              </a:ext>
            </a:extLst>
          </p:cNvPr>
          <p:cNvPicPr>
            <a:picLocks noChangeAspect="1"/>
          </p:cNvPicPr>
          <p:nvPr/>
        </p:nvPicPr>
        <p:blipFill>
          <a:blip r:embed="rId2"/>
          <a:stretch>
            <a:fillRect/>
          </a:stretch>
        </p:blipFill>
        <p:spPr>
          <a:xfrm>
            <a:off x="5324335" y="235726"/>
            <a:ext cx="1638023" cy="19481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44086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4A45DD-4822-4195-A826-C809BA35C0E8}"/>
              </a:ext>
            </a:extLst>
          </p:cNvPr>
          <p:cNvSpPr>
            <a:spLocks noGrp="1"/>
          </p:cNvSpPr>
          <p:nvPr>
            <p:ph type="title"/>
          </p:nvPr>
        </p:nvSpPr>
        <p:spPr>
          <a:xfrm>
            <a:off x="1074198" y="1399032"/>
            <a:ext cx="3333210" cy="4069080"/>
          </a:xfrm>
        </p:spPr>
        <p:txBody>
          <a:bodyPr>
            <a:normAutofit/>
          </a:bodyPr>
          <a:lstStyle/>
          <a:p>
            <a:r>
              <a:rPr lang="fr-FR" sz="6000" dirty="0"/>
              <a:t>EXPOSÉ RÉALISÉ &amp; PRÉSENTÉ PAR :</a:t>
            </a:r>
          </a:p>
        </p:txBody>
      </p:sp>
      <p:sp>
        <p:nvSpPr>
          <p:cNvPr id="3" name="Espace réservé du contenu 2">
            <a:extLst>
              <a:ext uri="{FF2B5EF4-FFF2-40B4-BE49-F238E27FC236}">
                <a16:creationId xmlns:a16="http://schemas.microsoft.com/office/drawing/2014/main" id="{0835D603-34EE-481F-9D1A-031BA6A74F71}"/>
              </a:ext>
            </a:extLst>
          </p:cNvPr>
          <p:cNvSpPr>
            <a:spLocks noGrp="1"/>
          </p:cNvSpPr>
          <p:nvPr>
            <p:ph idx="1"/>
          </p:nvPr>
        </p:nvSpPr>
        <p:spPr>
          <a:xfrm>
            <a:off x="4980374" y="772356"/>
            <a:ext cx="7211626" cy="5459767"/>
          </a:xfrm>
        </p:spPr>
        <p:txBody>
          <a:bodyPr>
            <a:normAutofit/>
          </a:bodyPr>
          <a:lstStyle/>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HASSANA ZOUHEIRIYYA MOHAMADOU</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JEUKWA ZE ARMAND</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KAMDEM POUOKAM IVANN HAROLD</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KANGA MARTHE VANINA KENDRAH</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KEMDJE </a:t>
            </a:r>
            <a:r>
              <a:rPr lang="fr-FR" dirty="0" err="1">
                <a:latin typeface="Mongolian Baiti" panose="03000500000000000000" pitchFamily="66" charset="0"/>
                <a:cs typeface="Mongolian Baiti" panose="03000500000000000000" pitchFamily="66" charset="0"/>
              </a:rPr>
              <a:t>KEMDJE</a:t>
            </a:r>
            <a:r>
              <a:rPr lang="fr-FR" dirty="0">
                <a:latin typeface="Mongolian Baiti" panose="03000500000000000000" pitchFamily="66" charset="0"/>
                <a:cs typeface="Mongolian Baiti" panose="03000500000000000000" pitchFamily="66" charset="0"/>
              </a:rPr>
              <a:t> SAMUEL</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KENGALI FEGUE PACÔME</a:t>
            </a:r>
          </a:p>
          <a:p>
            <a:pPr marL="457200" indent="-457200">
              <a:buFont typeface="Wingdings" panose="05000000000000000000" pitchFamily="2" charset="2"/>
              <a:buChar char="Ø"/>
            </a:pPr>
            <a:r>
              <a:rPr lang="fr-FR" dirty="0">
                <a:latin typeface="Mongolian Baiti" panose="03000500000000000000" pitchFamily="66" charset="0"/>
                <a:cs typeface="Mongolian Baiti" panose="03000500000000000000" pitchFamily="66" charset="0"/>
              </a:rPr>
              <a:t>KOMGUEM OUANDI ISIS HELCIAS</a:t>
            </a:r>
          </a:p>
        </p:txBody>
      </p:sp>
      <p:sp>
        <p:nvSpPr>
          <p:cNvPr id="4" name="Espace réservé du numéro de diapositive 5">
            <a:extLst>
              <a:ext uri="{FF2B5EF4-FFF2-40B4-BE49-F238E27FC236}">
                <a16:creationId xmlns:a16="http://schemas.microsoft.com/office/drawing/2014/main" id="{46EADCFD-ED83-45FD-AB48-C2F4C2DBD0D9}"/>
              </a:ext>
            </a:extLst>
          </p:cNvPr>
          <p:cNvSpPr>
            <a:spLocks noGrp="1"/>
          </p:cNvSpPr>
          <p:nvPr>
            <p:ph type="sldNum" sz="quarter" idx="12"/>
          </p:nvPr>
        </p:nvSpPr>
        <p:spPr>
          <a:xfrm>
            <a:off x="11878491" y="6554742"/>
            <a:ext cx="313509" cy="303258"/>
          </a:xfrm>
        </p:spPr>
        <p:style>
          <a:lnRef idx="2">
            <a:schemeClr val="dk1"/>
          </a:lnRef>
          <a:fillRef idx="1">
            <a:schemeClr val="lt1"/>
          </a:fillRef>
          <a:effectRef idx="0">
            <a:schemeClr val="dk1"/>
          </a:effectRef>
          <a:fontRef idx="minor">
            <a:schemeClr val="dk1"/>
          </a:fontRef>
        </p:style>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dirty="0">
                <a:ln>
                  <a:noFill/>
                </a:ln>
                <a:solidFill>
                  <a:schemeClr val="tx1"/>
                </a:solidFill>
                <a:effectLst/>
                <a:uLnTx/>
                <a:uFillTx/>
                <a:latin typeface="Calibri" panose="020F0502020204030204"/>
                <a:ea typeface="+mn-ea"/>
                <a:cs typeface="+mn-cs"/>
              </a:rPr>
              <a:t> </a:t>
            </a:r>
            <a:fld id="{D76B855D-E9CC-4FF8-AD85-6CDC7B89A0DE}" type="slidenum">
              <a:rPr kumimoji="0" lang="fr-FR" sz="1400" b="1" i="0" u="none" strike="noStrike" kern="1200" cap="none" spc="0" normalizeH="0" baseline="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400" b="1" i="0" u="none" strike="noStrike" kern="1200" cap="none" spc="0" normalizeH="0" baseline="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22464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36E49C-11A0-4C95-8A6E-FC7E9C57C105}"/>
              </a:ext>
            </a:extLst>
          </p:cNvPr>
          <p:cNvSpPr>
            <a:spLocks noGrp="1"/>
          </p:cNvSpPr>
          <p:nvPr>
            <p:ph type="title"/>
          </p:nvPr>
        </p:nvSpPr>
        <p:spPr/>
        <p:txBody>
          <a:bodyPr rtlCol="0">
            <a:normAutofit/>
          </a:bodyPr>
          <a:lstStyle/>
          <a:p>
            <a:pPr rtl="0"/>
            <a:r>
              <a:rPr lang="fr-FR" sz="4800" dirty="0">
                <a:solidFill>
                  <a:srgbClr val="FFFFFF"/>
                </a:solidFill>
              </a:rPr>
              <a:t>SOMMAIRE</a:t>
            </a:r>
            <a:endParaRPr lang="fr-FR" sz="4800" dirty="0"/>
          </a:p>
        </p:txBody>
      </p:sp>
      <p:sp>
        <p:nvSpPr>
          <p:cNvPr id="3" name="Espace réservé du contenu 2">
            <a:extLst>
              <a:ext uri="{FF2B5EF4-FFF2-40B4-BE49-F238E27FC236}">
                <a16:creationId xmlns:a16="http://schemas.microsoft.com/office/drawing/2014/main" id="{869C3FD2-AF88-4EF1-AFB7-5D31BD5AA0BF}"/>
              </a:ext>
            </a:extLst>
          </p:cNvPr>
          <p:cNvSpPr>
            <a:spLocks noGrp="1"/>
          </p:cNvSpPr>
          <p:nvPr>
            <p:ph idx="1"/>
          </p:nvPr>
        </p:nvSpPr>
        <p:spPr>
          <a:xfrm>
            <a:off x="5120640" y="136525"/>
            <a:ext cx="6958149" cy="6721475"/>
          </a:xfrm>
        </p:spPr>
        <p:txBody>
          <a:bodyPr rtlCol="0">
            <a:normAutofit/>
          </a:bodyPr>
          <a:lstStyle/>
          <a:p>
            <a:pPr rtl="0"/>
            <a:r>
              <a:rPr lang="fr-FR" dirty="0"/>
              <a:t>	Introduction</a:t>
            </a:r>
          </a:p>
          <a:p>
            <a:pPr rtl="0"/>
            <a:r>
              <a:rPr lang="fr-FR" dirty="0"/>
              <a:t>	Historique de la 	Géométrie</a:t>
            </a:r>
          </a:p>
          <a:p>
            <a:pPr rtl="0"/>
            <a:r>
              <a:rPr lang="fr-FR" dirty="0"/>
              <a:t>	Objectifs &amp; Rôle de la Géométrie</a:t>
            </a:r>
          </a:p>
          <a:p>
            <a:pPr rtl="0"/>
            <a:r>
              <a:rPr lang="fr-FR" dirty="0"/>
              <a:t>	Utilité de la Géométrie</a:t>
            </a:r>
          </a:p>
          <a:p>
            <a:pPr rtl="0"/>
            <a:r>
              <a:rPr lang="fr-FR" dirty="0"/>
              <a:t>	Curiosités Géométriques</a:t>
            </a:r>
          </a:p>
          <a:p>
            <a:pPr rtl="0"/>
            <a:r>
              <a:rPr lang="fr-FR" dirty="0"/>
              <a:t>	Conclusion</a:t>
            </a:r>
          </a:p>
        </p:txBody>
      </p:sp>
      <p:sp>
        <p:nvSpPr>
          <p:cNvPr id="6" name="Espace réservé du numéro de diapositive 5">
            <a:extLst>
              <a:ext uri="{FF2B5EF4-FFF2-40B4-BE49-F238E27FC236}">
                <a16:creationId xmlns:a16="http://schemas.microsoft.com/office/drawing/2014/main" id="{88AB1A36-2D6E-4392-AAA4-996FFE03208D}"/>
              </a:ext>
            </a:extLst>
          </p:cNvPr>
          <p:cNvSpPr>
            <a:spLocks noGrp="1"/>
          </p:cNvSpPr>
          <p:nvPr>
            <p:ph type="sldNum" sz="quarter" idx="12"/>
          </p:nvPr>
        </p:nvSpPr>
        <p:spPr>
          <a:xfrm>
            <a:off x="11878491" y="6554742"/>
            <a:ext cx="313509" cy="303258"/>
          </a:xfrm>
        </p:spPr>
        <p:style>
          <a:lnRef idx="2">
            <a:schemeClr val="dk1"/>
          </a:lnRef>
          <a:fillRef idx="1">
            <a:schemeClr val="lt1"/>
          </a:fillRef>
          <a:effectRef idx="0">
            <a:schemeClr val="dk1"/>
          </a:effectRef>
          <a:fontRef idx="minor">
            <a:schemeClr val="dk1"/>
          </a:fontRef>
        </p:style>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dirty="0">
                <a:ln>
                  <a:noFill/>
                </a:ln>
                <a:solidFill>
                  <a:schemeClr val="tx1"/>
                </a:solidFill>
                <a:effectLst/>
                <a:uLnTx/>
                <a:uFillTx/>
                <a:latin typeface="Calibri" panose="020F0502020204030204"/>
                <a:ea typeface="+mn-ea"/>
                <a:cs typeface="+mn-cs"/>
              </a:rPr>
              <a:t> </a:t>
            </a:r>
            <a:fld id="{D76B855D-E9CC-4FF8-AD85-6CDC7B89A0DE}" type="slidenum">
              <a:rPr kumimoji="0" lang="fr-FR" sz="1400" b="1" i="0" u="none" strike="noStrike" kern="1200" cap="none" spc="0" normalizeH="0" baseline="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400" b="1" i="0" u="none" strike="noStrike" kern="1200" cap="none" spc="0" normalizeH="0" baseline="0" dirty="0">
              <a:ln>
                <a:noFill/>
              </a:ln>
              <a:solidFill>
                <a:schemeClr val="tx1"/>
              </a:solidFill>
              <a:effectLst/>
              <a:uLnTx/>
              <a:uFillTx/>
              <a:latin typeface="Calibri" panose="020F0502020204030204"/>
              <a:ea typeface="+mn-ea"/>
              <a:cs typeface="+mn-cs"/>
            </a:endParaRPr>
          </a:p>
        </p:txBody>
      </p:sp>
      <p:sp>
        <p:nvSpPr>
          <p:cNvPr id="9" name="Organigramme : Connecteur 8">
            <a:extLst>
              <a:ext uri="{FF2B5EF4-FFF2-40B4-BE49-F238E27FC236}">
                <a16:creationId xmlns:a16="http://schemas.microsoft.com/office/drawing/2014/main" id="{308F168D-C47F-42AA-BB12-F59D5D766381}"/>
              </a:ext>
            </a:extLst>
          </p:cNvPr>
          <p:cNvSpPr/>
          <p:nvPr/>
        </p:nvSpPr>
        <p:spPr>
          <a:xfrm>
            <a:off x="5358941" y="1791471"/>
            <a:ext cx="539931" cy="50509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10" name="Organigramme : Connecteur 9">
            <a:extLst>
              <a:ext uri="{FF2B5EF4-FFF2-40B4-BE49-F238E27FC236}">
                <a16:creationId xmlns:a16="http://schemas.microsoft.com/office/drawing/2014/main" id="{B62CA644-EF9B-4B6F-9727-64F481B7CE7A}"/>
              </a:ext>
            </a:extLst>
          </p:cNvPr>
          <p:cNvSpPr/>
          <p:nvPr/>
        </p:nvSpPr>
        <p:spPr>
          <a:xfrm>
            <a:off x="5343576" y="2339695"/>
            <a:ext cx="539931" cy="505098"/>
          </a:xfrm>
          <a:prstGeom prst="flowChartConnector">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a:t>2</a:t>
            </a:r>
          </a:p>
        </p:txBody>
      </p:sp>
      <p:sp>
        <p:nvSpPr>
          <p:cNvPr id="11" name="Organigramme : Connecteur 10">
            <a:extLst>
              <a:ext uri="{FF2B5EF4-FFF2-40B4-BE49-F238E27FC236}">
                <a16:creationId xmlns:a16="http://schemas.microsoft.com/office/drawing/2014/main" id="{BCB4AA24-0501-4A08-80CE-A382D87989E8}"/>
              </a:ext>
            </a:extLst>
          </p:cNvPr>
          <p:cNvSpPr/>
          <p:nvPr/>
        </p:nvSpPr>
        <p:spPr>
          <a:xfrm>
            <a:off x="5358941" y="2904286"/>
            <a:ext cx="539931" cy="505098"/>
          </a:xfrm>
          <a:prstGeom prst="flowChartConnector">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3</a:t>
            </a:r>
          </a:p>
        </p:txBody>
      </p:sp>
      <p:sp>
        <p:nvSpPr>
          <p:cNvPr id="12" name="Organigramme : Connecteur 11">
            <a:extLst>
              <a:ext uri="{FF2B5EF4-FFF2-40B4-BE49-F238E27FC236}">
                <a16:creationId xmlns:a16="http://schemas.microsoft.com/office/drawing/2014/main" id="{75E3769F-B0ED-4313-8DC5-E931396A5542}"/>
              </a:ext>
            </a:extLst>
          </p:cNvPr>
          <p:cNvSpPr/>
          <p:nvPr/>
        </p:nvSpPr>
        <p:spPr>
          <a:xfrm>
            <a:off x="5358941" y="3473176"/>
            <a:ext cx="539931" cy="505098"/>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FR" dirty="0"/>
              <a:t>4</a:t>
            </a:r>
          </a:p>
        </p:txBody>
      </p:sp>
      <p:sp>
        <p:nvSpPr>
          <p:cNvPr id="13" name="Organigramme : Connecteur 12">
            <a:extLst>
              <a:ext uri="{FF2B5EF4-FFF2-40B4-BE49-F238E27FC236}">
                <a16:creationId xmlns:a16="http://schemas.microsoft.com/office/drawing/2014/main" id="{20177ECC-0DAD-40C5-91A5-A07FC6783023}"/>
              </a:ext>
            </a:extLst>
          </p:cNvPr>
          <p:cNvSpPr/>
          <p:nvPr/>
        </p:nvSpPr>
        <p:spPr>
          <a:xfrm>
            <a:off x="5343576" y="4012822"/>
            <a:ext cx="539931" cy="505098"/>
          </a:xfrm>
          <a:prstGeom prst="flowChartConnecto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dirty="0"/>
              <a:t>5</a:t>
            </a:r>
          </a:p>
        </p:txBody>
      </p:sp>
      <p:sp>
        <p:nvSpPr>
          <p:cNvPr id="14" name="Organigramme : Connecteur 13">
            <a:extLst>
              <a:ext uri="{FF2B5EF4-FFF2-40B4-BE49-F238E27FC236}">
                <a16:creationId xmlns:a16="http://schemas.microsoft.com/office/drawing/2014/main" id="{AB85B0BA-3756-40ED-8175-FCB0276F89CE}"/>
              </a:ext>
            </a:extLst>
          </p:cNvPr>
          <p:cNvSpPr/>
          <p:nvPr/>
        </p:nvSpPr>
        <p:spPr>
          <a:xfrm>
            <a:off x="5358941" y="4542865"/>
            <a:ext cx="539931" cy="50509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Tree>
    <p:extLst>
      <p:ext uri="{BB962C8B-B14F-4D97-AF65-F5344CB8AC3E}">
        <p14:creationId xmlns:p14="http://schemas.microsoft.com/office/powerpoint/2010/main" val="551602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290457-2071-4F7C-9327-CE85A282B4D5}"/>
              </a:ext>
            </a:extLst>
          </p:cNvPr>
          <p:cNvSpPr>
            <a:spLocks noGrp="1"/>
          </p:cNvSpPr>
          <p:nvPr>
            <p:ph type="title"/>
          </p:nvPr>
        </p:nvSpPr>
        <p:spPr>
          <a:xfrm>
            <a:off x="603682" y="0"/>
            <a:ext cx="5742254" cy="844731"/>
          </a:xfrm>
        </p:spPr>
        <p:txBody>
          <a:bodyPr rtlCol="0"/>
          <a:lstStyle/>
          <a:p>
            <a:pPr rtl="0"/>
            <a:r>
              <a:rPr lang="fr-FR" dirty="0">
                <a:latin typeface="Monotype Corsiva" panose="03010101010201010101" pitchFamily="66" charset="0"/>
              </a:rPr>
              <a:t>Introduction</a:t>
            </a:r>
          </a:p>
        </p:txBody>
      </p:sp>
      <p:sp>
        <p:nvSpPr>
          <p:cNvPr id="5" name="Espace réservé du contenu 4">
            <a:extLst>
              <a:ext uri="{FF2B5EF4-FFF2-40B4-BE49-F238E27FC236}">
                <a16:creationId xmlns:a16="http://schemas.microsoft.com/office/drawing/2014/main" id="{B67B1E24-2840-4BB0-AE5A-2320A01CB80F}"/>
              </a:ext>
            </a:extLst>
          </p:cNvPr>
          <p:cNvSpPr>
            <a:spLocks noGrp="1"/>
          </p:cNvSpPr>
          <p:nvPr>
            <p:ph idx="1"/>
          </p:nvPr>
        </p:nvSpPr>
        <p:spPr>
          <a:xfrm>
            <a:off x="539496" y="966650"/>
            <a:ext cx="10886150" cy="5529943"/>
          </a:xfrm>
        </p:spPr>
        <p:txBody>
          <a:bodyPr rtlCol="0">
            <a:normAutofit fontScale="92500"/>
          </a:bodyPr>
          <a:lstStyle/>
          <a:p>
            <a:r>
              <a:rPr lang="fr-FR" dirty="0">
                <a:latin typeface="Monotype Corsiva" panose="03010101010201010101" pitchFamily="66" charset="0"/>
              </a:rPr>
              <a:t>	Etymologiquement, le terme </a:t>
            </a:r>
            <a:r>
              <a:rPr lang="fr-FR" b="1" dirty="0">
                <a:latin typeface="Monotype Corsiva" panose="03010101010201010101" pitchFamily="66" charset="0"/>
              </a:rPr>
              <a:t>« Géométrie » </a:t>
            </a:r>
            <a:r>
              <a:rPr lang="fr-FR" dirty="0">
                <a:latin typeface="Monotype Corsiva" panose="03010101010201010101" pitchFamily="66" charset="0"/>
              </a:rPr>
              <a:t>dérive du grec </a:t>
            </a:r>
            <a:r>
              <a:rPr lang="fr-FR" b="1" dirty="0">
                <a:latin typeface="Monotype Corsiva" panose="03010101010201010101" pitchFamily="66" charset="0"/>
              </a:rPr>
              <a:t>« gê » (terre) et « métron » (mesure) </a:t>
            </a:r>
            <a:r>
              <a:rPr lang="fr-FR" dirty="0">
                <a:latin typeface="Monotype Corsiva" panose="03010101010201010101" pitchFamily="66" charset="0"/>
              </a:rPr>
              <a:t>; ce serait donc </a:t>
            </a:r>
            <a:r>
              <a:rPr lang="fr-FR" b="1" dirty="0">
                <a:latin typeface="Monotype Corsiva" panose="03010101010201010101" pitchFamily="66" charset="0"/>
              </a:rPr>
              <a:t>« la science de la mesure du terrain ». </a:t>
            </a:r>
            <a:r>
              <a:rPr lang="fr-FR" dirty="0">
                <a:latin typeface="Monotype Corsiva" panose="03010101010201010101" pitchFamily="66" charset="0"/>
              </a:rPr>
              <a:t>Originellement, c’est la branche des mathématiques étudiant les figures du plan et de l’espace. Evidemment, comme toute science, la géométrie évoluera afin de résoudre davantage de problèmes que celui de la mesure d’un terrain. C’est ainsi que depuis la fin du XVIIIe siècle, la géométrie étudie également les figures appartenant à d’autres types d’espaces (géométrie projective, géométrie non euclidienne, par exemple). Puis, depuis le début du XXe siècle, certaines méthodes d’étude de figures de ces espaces se sont transformées en branches autonomes des mathématiques notamment la topologie, la géométrie différentielle et la géométrie algébrique, par exemple. A fortiori, si l’on veut englober toutes ces acceptions, il est difficile de définir ce qu’est, aujourd’hui, la géométrie. C’est que l’unité des diverses branches de la géométrie contemporaine réside plus dans des origines historiques que dans une communauté de méthodes ou d’objets. Ainsi, nous en arrivons à nous demander d’une part quelles sont les origines historiques de la géométrie ? D’autre part, quelles sont ses objectifs et rôles, et mieux encore son utilité? La tâche qui nous incombe durant cet exposé est celle de répondre aux diverses problématiques suscitées. </a:t>
            </a:r>
          </a:p>
          <a:p>
            <a:pPr rtl="0"/>
            <a:endParaRPr lang="fr-FR" dirty="0">
              <a:latin typeface="Monotype Corsiva" panose="03010101010201010101" pitchFamily="66" charset="0"/>
            </a:endParaRPr>
          </a:p>
        </p:txBody>
      </p:sp>
      <p:sp>
        <p:nvSpPr>
          <p:cNvPr id="7" name="Espace réservé du numéro de diapositive 5">
            <a:extLst>
              <a:ext uri="{FF2B5EF4-FFF2-40B4-BE49-F238E27FC236}">
                <a16:creationId xmlns:a16="http://schemas.microsoft.com/office/drawing/2014/main" id="{D757A45E-C429-474A-8C10-8320D2A536BB}"/>
              </a:ext>
            </a:extLst>
          </p:cNvPr>
          <p:cNvSpPr>
            <a:spLocks noGrp="1"/>
          </p:cNvSpPr>
          <p:nvPr>
            <p:ph type="sldNum" sz="quarter" idx="12"/>
          </p:nvPr>
        </p:nvSpPr>
        <p:spPr>
          <a:xfrm>
            <a:off x="11878491" y="6554742"/>
            <a:ext cx="313509" cy="303258"/>
          </a:xfrm>
        </p:spPr>
        <p:style>
          <a:lnRef idx="2">
            <a:schemeClr val="dk1"/>
          </a:lnRef>
          <a:fillRef idx="1">
            <a:schemeClr val="lt1"/>
          </a:fillRef>
          <a:effectRef idx="0">
            <a:schemeClr val="dk1"/>
          </a:effectRef>
          <a:fontRef idx="minor">
            <a:schemeClr val="dk1"/>
          </a:fontRef>
        </p:style>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dirty="0">
                <a:ln>
                  <a:noFill/>
                </a:ln>
                <a:solidFill>
                  <a:schemeClr val="tx1"/>
                </a:solidFill>
                <a:effectLst/>
                <a:uLnTx/>
                <a:uFillTx/>
                <a:latin typeface="Calibri" panose="020F0502020204030204"/>
                <a:ea typeface="+mn-ea"/>
                <a:cs typeface="+mn-cs"/>
              </a:rPr>
              <a:t> </a:t>
            </a:r>
            <a:fld id="{D76B855D-E9CC-4FF8-AD85-6CDC7B89A0DE}" type="slidenum">
              <a:rPr kumimoji="0" lang="fr-FR" sz="1400" b="1" i="0" u="none" strike="noStrike" kern="1200" cap="none" spc="0" normalizeH="0" baseline="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400" b="1" i="0" u="none" strike="noStrike" kern="1200" cap="none" spc="0" normalizeH="0" baseline="0" dirty="0">
              <a:ln>
                <a:noFill/>
              </a:ln>
              <a:solidFill>
                <a:schemeClr val="tx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193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FC037F-9B04-45A9-8AE6-A8517884947F}"/>
              </a:ext>
            </a:extLst>
          </p:cNvPr>
          <p:cNvSpPr>
            <a:spLocks noGrp="1"/>
          </p:cNvSpPr>
          <p:nvPr>
            <p:ph type="title"/>
          </p:nvPr>
        </p:nvSpPr>
        <p:spPr/>
        <p:txBody>
          <a:bodyPr rtlCol="0">
            <a:normAutofit fontScale="90000"/>
          </a:bodyPr>
          <a:lstStyle/>
          <a:p>
            <a:pPr rtl="0"/>
            <a:r>
              <a:rPr lang="fr-FR" dirty="0">
                <a:solidFill>
                  <a:srgbClr val="FFFFFF"/>
                </a:solidFill>
              </a:rPr>
              <a:t>I – HISTORIQUE DE LA GEOMETRIE</a:t>
            </a:r>
            <a:endParaRPr lang="fr-FR" dirty="0"/>
          </a:p>
        </p:txBody>
      </p:sp>
      <p:sp>
        <p:nvSpPr>
          <p:cNvPr id="3" name="Espace réservé du texte 2">
            <a:extLst>
              <a:ext uri="{FF2B5EF4-FFF2-40B4-BE49-F238E27FC236}">
                <a16:creationId xmlns:a16="http://schemas.microsoft.com/office/drawing/2014/main" id="{9F49FB76-25BA-4481-B88D-DCB748E1662E}"/>
              </a:ext>
            </a:extLst>
          </p:cNvPr>
          <p:cNvSpPr>
            <a:spLocks noGrp="1"/>
          </p:cNvSpPr>
          <p:nvPr>
            <p:ph type="body" idx="1"/>
          </p:nvPr>
        </p:nvSpPr>
        <p:spPr/>
        <p:txBody>
          <a:bodyPr rtlCol="0"/>
          <a:lstStyle/>
          <a:p>
            <a:pPr rtl="0"/>
            <a:r>
              <a:rPr lang="fr-FR" dirty="0">
                <a:solidFill>
                  <a:srgbClr val="FFFFFF"/>
                </a:solidFill>
              </a:rPr>
              <a:t>« Le point est ce dont la partie est nulle.» Euclide</a:t>
            </a:r>
            <a:endParaRPr lang="fr-FR" dirty="0"/>
          </a:p>
        </p:txBody>
      </p:sp>
      <p:sp>
        <p:nvSpPr>
          <p:cNvPr id="4" name="Espace réservé du numéro de diapositive 5">
            <a:extLst>
              <a:ext uri="{FF2B5EF4-FFF2-40B4-BE49-F238E27FC236}">
                <a16:creationId xmlns:a16="http://schemas.microsoft.com/office/drawing/2014/main" id="{919314AC-6ADE-416E-B649-54DA12C58859}"/>
              </a:ext>
            </a:extLst>
          </p:cNvPr>
          <p:cNvSpPr txBox="1">
            <a:spLocks/>
          </p:cNvSpPr>
          <p:nvPr/>
        </p:nvSpPr>
        <p:spPr>
          <a:xfrm>
            <a:off x="11878491" y="6561233"/>
            <a:ext cx="313509" cy="303258"/>
          </a:xfrm>
          <a:prstGeom prst="rect">
            <a:avLst/>
          </a:prstGeom>
        </p:spPr>
        <p:style>
          <a:lnRef idx="2">
            <a:schemeClr val="dk1"/>
          </a:lnRef>
          <a:fillRef idx="1">
            <a:schemeClr val="lt1"/>
          </a:fillRef>
          <a:effectRef idx="0">
            <a:schemeClr val="dk1"/>
          </a:effectRef>
          <a:fontRef idx="minor">
            <a:schemeClr val="dk1"/>
          </a:fontRef>
        </p:style>
        <p:txBody>
          <a:bodyPr rtlCol="0"/>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r>
              <a:rPr lang="fr-FR" sz="1400" b="1" dirty="0">
                <a:latin typeface="Calibri" panose="020F0502020204030204"/>
              </a:rPr>
              <a:t> </a:t>
            </a:r>
            <a:fld id="{D76B855D-E9CC-4FF8-AD85-6CDC7B89A0DE}" type="slidenum">
              <a:rPr lang="fr-FR" sz="1400" b="1" smtClean="0">
                <a:latin typeface="Calibri" panose="020F0502020204030204"/>
              </a:rPr>
              <a:pPr algn="r">
                <a:defRPr/>
              </a:pPr>
              <a:t>5</a:t>
            </a:fld>
            <a:endParaRPr lang="fr-FR" sz="1400" b="1" dirty="0">
              <a:latin typeface="Calibri" panose="020F0502020204030204"/>
            </a:endParaRPr>
          </a:p>
        </p:txBody>
      </p:sp>
      <p:pic>
        <p:nvPicPr>
          <p:cNvPr id="6" name="Image 5">
            <a:extLst>
              <a:ext uri="{FF2B5EF4-FFF2-40B4-BE49-F238E27FC236}">
                <a16:creationId xmlns:a16="http://schemas.microsoft.com/office/drawing/2014/main" id="{2B5FAA57-FDF3-4B48-9832-EA3A6F0C1304}"/>
              </a:ext>
            </a:extLst>
          </p:cNvPr>
          <p:cNvPicPr>
            <a:picLocks noChangeAspect="1"/>
          </p:cNvPicPr>
          <p:nvPr/>
        </p:nvPicPr>
        <p:blipFill>
          <a:blip r:embed="rId3"/>
          <a:stretch>
            <a:fillRect/>
          </a:stretch>
        </p:blipFill>
        <p:spPr>
          <a:xfrm>
            <a:off x="248575" y="3130267"/>
            <a:ext cx="2402831" cy="320013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ZoneTexte 6">
            <a:extLst>
              <a:ext uri="{FF2B5EF4-FFF2-40B4-BE49-F238E27FC236}">
                <a16:creationId xmlns:a16="http://schemas.microsoft.com/office/drawing/2014/main" id="{E0EE893D-37E8-41B4-B968-272C43D6D0ED}"/>
              </a:ext>
            </a:extLst>
          </p:cNvPr>
          <p:cNvSpPr txBox="1"/>
          <p:nvPr/>
        </p:nvSpPr>
        <p:spPr>
          <a:xfrm>
            <a:off x="727969" y="6330401"/>
            <a:ext cx="1384916" cy="461665"/>
          </a:xfrm>
          <a:prstGeom prst="rect">
            <a:avLst/>
          </a:prstGeom>
          <a:noFill/>
        </p:spPr>
        <p:txBody>
          <a:bodyPr wrap="square" rtlCol="0">
            <a:spAutoFit/>
          </a:bodyPr>
          <a:lstStyle/>
          <a:p>
            <a:r>
              <a:rPr lang="fr-FR" sz="2400" b="1" dirty="0">
                <a:latin typeface="Monotype Corsiva" panose="03010101010201010101" pitchFamily="66" charset="0"/>
              </a:rPr>
              <a:t>Pythagore</a:t>
            </a:r>
            <a:endParaRPr lang="en-GB" sz="2400" b="1" dirty="0">
              <a:latin typeface="Monotype Corsiva" panose="03010101010201010101" pitchFamily="66" charset="0"/>
            </a:endParaRPr>
          </a:p>
        </p:txBody>
      </p:sp>
      <p:pic>
        <p:nvPicPr>
          <p:cNvPr id="9" name="Image 8">
            <a:extLst>
              <a:ext uri="{FF2B5EF4-FFF2-40B4-BE49-F238E27FC236}">
                <a16:creationId xmlns:a16="http://schemas.microsoft.com/office/drawing/2014/main" id="{32BFE3E3-8510-404D-B067-6B27F4440A0A}"/>
              </a:ext>
            </a:extLst>
          </p:cNvPr>
          <p:cNvPicPr>
            <a:picLocks noChangeAspect="1"/>
          </p:cNvPicPr>
          <p:nvPr/>
        </p:nvPicPr>
        <p:blipFill>
          <a:blip r:embed="rId4"/>
          <a:stretch>
            <a:fillRect/>
          </a:stretch>
        </p:blipFill>
        <p:spPr>
          <a:xfrm>
            <a:off x="9546690" y="170895"/>
            <a:ext cx="2141478" cy="325810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ZoneTexte 9">
            <a:extLst>
              <a:ext uri="{FF2B5EF4-FFF2-40B4-BE49-F238E27FC236}">
                <a16:creationId xmlns:a16="http://schemas.microsoft.com/office/drawing/2014/main" id="{15CD913B-FA5F-4E0F-B1A8-0CB135ACFBFA}"/>
              </a:ext>
            </a:extLst>
          </p:cNvPr>
          <p:cNvSpPr txBox="1"/>
          <p:nvPr/>
        </p:nvSpPr>
        <p:spPr>
          <a:xfrm>
            <a:off x="9781586" y="3433679"/>
            <a:ext cx="1967791" cy="461665"/>
          </a:xfrm>
          <a:prstGeom prst="rect">
            <a:avLst/>
          </a:prstGeom>
          <a:noFill/>
        </p:spPr>
        <p:txBody>
          <a:bodyPr wrap="square" rtlCol="0">
            <a:spAutoFit/>
          </a:bodyPr>
          <a:lstStyle/>
          <a:p>
            <a:r>
              <a:rPr lang="fr-FR" sz="2400" b="1" dirty="0">
                <a:latin typeface="Monotype Corsiva" panose="03010101010201010101" pitchFamily="66" charset="0"/>
              </a:rPr>
              <a:t>Thalès de Millet</a:t>
            </a:r>
            <a:endParaRPr lang="en-GB" sz="2400" b="1" dirty="0">
              <a:latin typeface="Monotype Corsiva" panose="03010101010201010101" pitchFamily="66" charset="0"/>
            </a:endParaRPr>
          </a:p>
        </p:txBody>
      </p:sp>
    </p:spTree>
    <p:extLst>
      <p:ext uri="{BB962C8B-B14F-4D97-AF65-F5344CB8AC3E}">
        <p14:creationId xmlns:p14="http://schemas.microsoft.com/office/powerpoint/2010/main" val="42835948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46624E-1256-4074-A302-8EFDA23D77BF}"/>
              </a:ext>
            </a:extLst>
          </p:cNvPr>
          <p:cNvSpPr>
            <a:spLocks noGrp="1"/>
          </p:cNvSpPr>
          <p:nvPr>
            <p:ph type="title"/>
          </p:nvPr>
        </p:nvSpPr>
        <p:spPr>
          <a:xfrm>
            <a:off x="2370909" y="12424"/>
            <a:ext cx="7138851" cy="668337"/>
          </a:xfrm>
        </p:spPr>
        <p:txBody>
          <a:bodyPr rtlCol="0">
            <a:normAutofit fontScale="90000"/>
          </a:bodyPr>
          <a:lstStyle/>
          <a:p>
            <a:r>
              <a:rPr lang="fr-FR" b="1" dirty="0">
                <a:latin typeface="Monotype Corsiva" panose="03010101010201010101" pitchFamily="66" charset="0"/>
              </a:rPr>
              <a:t>Premières Traces (Avant Euclide)</a:t>
            </a:r>
            <a:endParaRPr lang="fr-FR" dirty="0">
              <a:latin typeface="Monotype Corsiva" panose="03010101010201010101" pitchFamily="66" charset="0"/>
            </a:endParaRPr>
          </a:p>
        </p:txBody>
      </p:sp>
      <p:sp>
        <p:nvSpPr>
          <p:cNvPr id="3" name="Espace réservé du texte 2">
            <a:extLst>
              <a:ext uri="{FF2B5EF4-FFF2-40B4-BE49-F238E27FC236}">
                <a16:creationId xmlns:a16="http://schemas.microsoft.com/office/drawing/2014/main" id="{33E8A40A-0195-4B3A-81F2-8B76B68F974F}"/>
              </a:ext>
            </a:extLst>
          </p:cNvPr>
          <p:cNvSpPr>
            <a:spLocks noGrp="1"/>
          </p:cNvSpPr>
          <p:nvPr>
            <p:ph type="body" idx="1"/>
          </p:nvPr>
        </p:nvSpPr>
        <p:spPr>
          <a:xfrm>
            <a:off x="1602628" y="619551"/>
            <a:ext cx="2347934" cy="385332"/>
          </a:xfrm>
        </p:spPr>
        <p:txBody>
          <a:bodyPr rtlCol="0">
            <a:normAutofit fontScale="92500" lnSpcReduction="10000"/>
          </a:bodyPr>
          <a:lstStyle/>
          <a:p>
            <a:r>
              <a:rPr lang="fr-FR" dirty="0">
                <a:latin typeface="Monotype Corsiva" panose="03010101010201010101" pitchFamily="66" charset="0"/>
              </a:rPr>
              <a:t>Géométrie égyptienne</a:t>
            </a:r>
          </a:p>
        </p:txBody>
      </p:sp>
      <p:sp>
        <p:nvSpPr>
          <p:cNvPr id="4" name="Espace réservé du contenu 3">
            <a:extLst>
              <a:ext uri="{FF2B5EF4-FFF2-40B4-BE49-F238E27FC236}">
                <a16:creationId xmlns:a16="http://schemas.microsoft.com/office/drawing/2014/main" id="{A84DACD0-2773-4975-A2FE-3BD5764E1F61}"/>
              </a:ext>
            </a:extLst>
          </p:cNvPr>
          <p:cNvSpPr>
            <a:spLocks noGrp="1"/>
          </p:cNvSpPr>
          <p:nvPr>
            <p:ph sz="half" idx="2"/>
          </p:nvPr>
        </p:nvSpPr>
        <p:spPr>
          <a:xfrm>
            <a:off x="308466" y="976811"/>
            <a:ext cx="5761606" cy="3845689"/>
          </a:xfrm>
        </p:spPr>
        <p:txBody>
          <a:bodyPr rtlCol="0">
            <a:noAutofit/>
          </a:bodyPr>
          <a:lstStyle/>
          <a:p>
            <a:pPr marL="0" indent="0" algn="just">
              <a:buNone/>
            </a:pPr>
            <a:r>
              <a:rPr lang="fr-FR" sz="2200" dirty="0">
                <a:latin typeface="Monotype Corsiva" panose="03010101010201010101" pitchFamily="66" charset="0"/>
              </a:rPr>
              <a:t>	La géométrie semble être apparue chez les Égyptiens à la suite de la nécessité à laquelle ils étaient confrontés de délimiter les frontières terrestres. Elle s’est  développée en agriculture, astronomie et en architecture avec l’édification des pyramides et des plans d’irrigation. Les rares documents subsistant (papyrus de Moscou, papyrus </a:t>
            </a:r>
            <a:r>
              <a:rPr lang="fr-FR" sz="2200" dirty="0" err="1">
                <a:latin typeface="Monotype Corsiva" panose="03010101010201010101" pitchFamily="66" charset="0"/>
              </a:rPr>
              <a:t>Rhind</a:t>
            </a:r>
            <a:r>
              <a:rPr lang="fr-FR" sz="2200" dirty="0">
                <a:latin typeface="Monotype Corsiva" panose="03010101010201010101" pitchFamily="66" charset="0"/>
              </a:rPr>
              <a:t>, papyrus </a:t>
            </a:r>
            <a:r>
              <a:rPr lang="fr-FR" sz="2200" dirty="0" err="1">
                <a:latin typeface="Monotype Corsiva" panose="03010101010201010101" pitchFamily="66" charset="0"/>
              </a:rPr>
              <a:t>Kahun</a:t>
            </a:r>
            <a:r>
              <a:rPr lang="fr-FR" sz="2200" dirty="0">
                <a:latin typeface="Monotype Corsiva" panose="03010101010201010101" pitchFamily="66" charset="0"/>
              </a:rPr>
              <a:t>) montrent l’utilisation de règles pratiques pour résoudre des questions spécifiques faisant intervenir les notions de longueur, d’angle, d’aire et de volume.</a:t>
            </a:r>
          </a:p>
        </p:txBody>
      </p:sp>
      <p:sp>
        <p:nvSpPr>
          <p:cNvPr id="5" name="Espace réservé du texte 4">
            <a:extLst>
              <a:ext uri="{FF2B5EF4-FFF2-40B4-BE49-F238E27FC236}">
                <a16:creationId xmlns:a16="http://schemas.microsoft.com/office/drawing/2014/main" id="{8FCFD254-68A8-4D88-9653-D6F0238D59BD}"/>
              </a:ext>
            </a:extLst>
          </p:cNvPr>
          <p:cNvSpPr>
            <a:spLocks noGrp="1"/>
          </p:cNvSpPr>
          <p:nvPr>
            <p:ph type="body" sz="quarter" idx="3"/>
          </p:nvPr>
        </p:nvSpPr>
        <p:spPr>
          <a:xfrm>
            <a:off x="7159240" y="619551"/>
            <a:ext cx="4042954" cy="385332"/>
          </a:xfrm>
        </p:spPr>
        <p:txBody>
          <a:bodyPr rtlCol="0">
            <a:normAutofit fontScale="92500" lnSpcReduction="10000"/>
          </a:bodyPr>
          <a:lstStyle/>
          <a:p>
            <a:pPr rtl="0"/>
            <a:r>
              <a:rPr lang="fr-FR" dirty="0">
                <a:latin typeface="Monotype Corsiva" panose="03010101010201010101" pitchFamily="66" charset="0"/>
              </a:rPr>
              <a:t>Géométrie Babylonienne</a:t>
            </a:r>
          </a:p>
        </p:txBody>
      </p:sp>
      <p:sp>
        <p:nvSpPr>
          <p:cNvPr id="6" name="Espace réservé du contenu 5">
            <a:extLst>
              <a:ext uri="{FF2B5EF4-FFF2-40B4-BE49-F238E27FC236}">
                <a16:creationId xmlns:a16="http://schemas.microsoft.com/office/drawing/2014/main" id="{3905CD03-9B40-4AA4-B6AB-5B38436AB901}"/>
              </a:ext>
            </a:extLst>
          </p:cNvPr>
          <p:cNvSpPr>
            <a:spLocks noGrp="1"/>
          </p:cNvSpPr>
          <p:nvPr>
            <p:ph sz="quarter" idx="4"/>
          </p:nvPr>
        </p:nvSpPr>
        <p:spPr>
          <a:xfrm>
            <a:off x="6070072" y="981475"/>
            <a:ext cx="6059783" cy="3729529"/>
          </a:xfrm>
        </p:spPr>
        <p:txBody>
          <a:bodyPr rtlCol="0">
            <a:noAutofit/>
          </a:bodyPr>
          <a:lstStyle/>
          <a:p>
            <a:pPr marL="0" indent="0" algn="just">
              <a:buNone/>
            </a:pPr>
            <a:r>
              <a:rPr lang="fr-FR" sz="2200" dirty="0">
                <a:latin typeface="Monotype Corsiva" panose="03010101010201010101" pitchFamily="66" charset="0"/>
              </a:rPr>
              <a:t>	Quant aux Babyloniens, la tablette prébabylonienne </a:t>
            </a:r>
            <a:r>
              <a:rPr lang="fr-FR" sz="2200" b="1" dirty="0">
                <a:latin typeface="Monotype Corsiva" panose="03010101010201010101" pitchFamily="66" charset="0"/>
              </a:rPr>
              <a:t>YBC 7289 </a:t>
            </a:r>
            <a:r>
              <a:rPr lang="fr-FR" sz="2200" dirty="0">
                <a:latin typeface="Monotype Corsiva" panose="03010101010201010101" pitchFamily="66" charset="0"/>
              </a:rPr>
              <a:t>datant de -1700 ± 100 témoigne des premiers questionnements sur le calcul des longueurs et donne une bonne approximation de la longueur de la diagonale d’un carré  unitaire (racine carrée de 2).</a:t>
            </a:r>
          </a:p>
          <a:p>
            <a:pPr marL="0" indent="0" algn="just">
              <a:buNone/>
            </a:pPr>
            <a:r>
              <a:rPr lang="fr-FR" sz="2200" dirty="0">
                <a:latin typeface="Monotype Corsiva" panose="03010101010201010101" pitchFamily="66" charset="0"/>
              </a:rPr>
              <a:t>	Parmi les résultats de ces sciences Antiques, on peut citer des versions du théorème de Pythagore, développées par les Égyptiens et les Babyloniens 1 500 ans avant les Pythagoriciens, une table de trigonométrie chez les Babyloniens, ou encore la formule exacte du volume d’une pyramide carrée tronquée.</a:t>
            </a:r>
          </a:p>
          <a:p>
            <a:pPr marL="0" indent="0" rtl="0">
              <a:buNone/>
            </a:pPr>
            <a:endParaRPr lang="fr-FR" dirty="0"/>
          </a:p>
        </p:txBody>
      </p:sp>
      <p:pic>
        <p:nvPicPr>
          <p:cNvPr id="14" name="Image 13">
            <a:extLst>
              <a:ext uri="{FF2B5EF4-FFF2-40B4-BE49-F238E27FC236}">
                <a16:creationId xmlns:a16="http://schemas.microsoft.com/office/drawing/2014/main" id="{90A80EA9-571F-4F14-88B1-D3BB0C2F4546}"/>
              </a:ext>
            </a:extLst>
          </p:cNvPr>
          <p:cNvPicPr>
            <a:picLocks noChangeAspect="1"/>
          </p:cNvPicPr>
          <p:nvPr/>
        </p:nvPicPr>
        <p:blipFill>
          <a:blip r:embed="rId3"/>
          <a:stretch>
            <a:fillRect/>
          </a:stretch>
        </p:blipFill>
        <p:spPr>
          <a:xfrm>
            <a:off x="1114356" y="4103212"/>
            <a:ext cx="3525660" cy="2115396"/>
          </a:xfrm>
          <a:prstGeom prst="rect">
            <a:avLst/>
          </a:prstGeom>
        </p:spPr>
      </p:pic>
      <p:sp>
        <p:nvSpPr>
          <p:cNvPr id="15" name="ZoneTexte 14">
            <a:extLst>
              <a:ext uri="{FF2B5EF4-FFF2-40B4-BE49-F238E27FC236}">
                <a16:creationId xmlns:a16="http://schemas.microsoft.com/office/drawing/2014/main" id="{8AD8B2A3-C0AF-4E5B-934C-FDD8864C3515}"/>
              </a:ext>
            </a:extLst>
          </p:cNvPr>
          <p:cNvSpPr txBox="1"/>
          <p:nvPr/>
        </p:nvSpPr>
        <p:spPr>
          <a:xfrm>
            <a:off x="1114356" y="6229993"/>
            <a:ext cx="3886200" cy="369332"/>
          </a:xfrm>
          <a:prstGeom prst="rect">
            <a:avLst/>
          </a:prstGeom>
          <a:noFill/>
        </p:spPr>
        <p:txBody>
          <a:bodyPr wrap="square" rtlCol="0">
            <a:spAutoFit/>
          </a:bodyPr>
          <a:lstStyle/>
          <a:p>
            <a:r>
              <a:rPr lang="fr-FR" b="1" u="sng" dirty="0">
                <a:latin typeface="Monotype Corsiva" panose="03010101010201010101" pitchFamily="66" charset="0"/>
              </a:rPr>
              <a:t>Papyrus </a:t>
            </a:r>
            <a:r>
              <a:rPr lang="fr-FR" b="1" u="sng" dirty="0" err="1">
                <a:latin typeface="Monotype Corsiva" panose="03010101010201010101" pitchFamily="66" charset="0"/>
              </a:rPr>
              <a:t>Rhind</a:t>
            </a:r>
            <a:r>
              <a:rPr lang="fr-FR" b="1" u="sng" dirty="0">
                <a:latin typeface="Monotype Corsiva" panose="03010101010201010101" pitchFamily="66" charset="0"/>
              </a:rPr>
              <a:t> écrit vers 1550 avant notre ère</a:t>
            </a:r>
            <a:endParaRPr lang="en-GB" b="1" u="sng" dirty="0"/>
          </a:p>
        </p:txBody>
      </p:sp>
      <p:sp>
        <p:nvSpPr>
          <p:cNvPr id="21" name="Espace réservé du numéro de diapositive 5">
            <a:extLst>
              <a:ext uri="{FF2B5EF4-FFF2-40B4-BE49-F238E27FC236}">
                <a16:creationId xmlns:a16="http://schemas.microsoft.com/office/drawing/2014/main" id="{3B2C5BE1-006A-4167-8E9F-6EBCAADAB1E6}"/>
              </a:ext>
            </a:extLst>
          </p:cNvPr>
          <p:cNvSpPr>
            <a:spLocks noGrp="1"/>
          </p:cNvSpPr>
          <p:nvPr>
            <p:ph type="sldNum" sz="quarter" idx="12"/>
          </p:nvPr>
        </p:nvSpPr>
        <p:spPr>
          <a:xfrm>
            <a:off x="11856429" y="6554742"/>
            <a:ext cx="313509" cy="303258"/>
          </a:xfrm>
        </p:spPr>
        <p:style>
          <a:lnRef idx="2">
            <a:schemeClr val="dk1"/>
          </a:lnRef>
          <a:fillRef idx="1">
            <a:schemeClr val="lt1"/>
          </a:fillRef>
          <a:effectRef idx="0">
            <a:schemeClr val="dk1"/>
          </a:effectRef>
          <a:fontRef idx="minor">
            <a:schemeClr val="dk1"/>
          </a:fontRef>
        </p:style>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dirty="0">
                <a:ln>
                  <a:noFill/>
                </a:ln>
                <a:solidFill>
                  <a:schemeClr val="tx1"/>
                </a:solidFill>
                <a:effectLst/>
                <a:uLnTx/>
                <a:uFillTx/>
                <a:latin typeface="Calibri" panose="020F0502020204030204"/>
                <a:ea typeface="+mn-ea"/>
                <a:cs typeface="+mn-cs"/>
              </a:rPr>
              <a:t> </a:t>
            </a:r>
            <a:fld id="{D76B855D-E9CC-4FF8-AD85-6CDC7B89A0DE}" type="slidenum">
              <a:rPr kumimoji="0" lang="fr-FR" sz="1400" b="1" i="0" u="none" strike="noStrike" kern="1200" cap="none" spc="0" normalizeH="0" baseline="0" smtClean="0">
                <a:ln>
                  <a:noFill/>
                </a:ln>
                <a:solidFill>
                  <a:schemeClr val="tx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400" b="1" i="0" u="none" strike="noStrike" kern="1200" cap="none" spc="0" normalizeH="0" baseline="0" dirty="0">
              <a:ln>
                <a:noFill/>
              </a:ln>
              <a:solidFill>
                <a:schemeClr val="tx1"/>
              </a:solidFill>
              <a:effectLst/>
              <a:uLnTx/>
              <a:uFillTx/>
              <a:latin typeface="Calibri" panose="020F0502020204030204"/>
              <a:ea typeface="+mn-ea"/>
              <a:cs typeface="+mn-cs"/>
            </a:endParaRPr>
          </a:p>
        </p:txBody>
      </p:sp>
      <p:pic>
        <p:nvPicPr>
          <p:cNvPr id="22" name="Image 21">
            <a:extLst>
              <a:ext uri="{FF2B5EF4-FFF2-40B4-BE49-F238E27FC236}">
                <a16:creationId xmlns:a16="http://schemas.microsoft.com/office/drawing/2014/main" id="{9FF98977-A19C-4021-BBC3-EAF0D084B871}"/>
              </a:ext>
            </a:extLst>
          </p:cNvPr>
          <p:cNvPicPr>
            <a:picLocks noChangeAspect="1"/>
          </p:cNvPicPr>
          <p:nvPr/>
        </p:nvPicPr>
        <p:blipFill>
          <a:blip r:embed="rId4"/>
          <a:stretch>
            <a:fillRect/>
          </a:stretch>
        </p:blipFill>
        <p:spPr>
          <a:xfrm>
            <a:off x="8881498" y="4274973"/>
            <a:ext cx="2584034" cy="2408320"/>
          </a:xfrm>
          <a:prstGeom prst="rect">
            <a:avLst/>
          </a:prstGeom>
        </p:spPr>
      </p:pic>
      <p:sp>
        <p:nvSpPr>
          <p:cNvPr id="23" name="ZoneTexte 22">
            <a:extLst>
              <a:ext uri="{FF2B5EF4-FFF2-40B4-BE49-F238E27FC236}">
                <a16:creationId xmlns:a16="http://schemas.microsoft.com/office/drawing/2014/main" id="{8E1AD91B-6B83-4CCE-B107-66CB526FC632}"/>
              </a:ext>
            </a:extLst>
          </p:cNvPr>
          <p:cNvSpPr txBox="1"/>
          <p:nvPr/>
        </p:nvSpPr>
        <p:spPr>
          <a:xfrm>
            <a:off x="6990564" y="5011719"/>
            <a:ext cx="1500037" cy="934828"/>
          </a:xfrm>
          <a:prstGeom prst="rect">
            <a:avLst/>
          </a:prstGeom>
          <a:noFill/>
        </p:spPr>
        <p:txBody>
          <a:bodyPr wrap="square" rtlCol="0">
            <a:spAutoFit/>
          </a:bodyPr>
          <a:lstStyle/>
          <a:p>
            <a:r>
              <a:rPr lang="fr-FR" b="1" dirty="0">
                <a:latin typeface="Monotype Corsiva" panose="03010101010201010101" pitchFamily="66" charset="0"/>
              </a:rPr>
              <a:t>La </a:t>
            </a:r>
            <a:r>
              <a:rPr lang="fr-FR" b="1" dirty="0">
                <a:latin typeface="Monotype Corsiva" panose="03010101010201010101" pitchFamily="66" charset="0"/>
                <a:hlinkClick r:id="rId5" tooltip="Tablette d'argile">
                  <a:extLst>
                    <a:ext uri="{A12FA001-AC4F-418D-AE19-62706E023703}">
                      <ahyp:hlinkClr xmlns:ahyp="http://schemas.microsoft.com/office/drawing/2018/hyperlinkcolor" val="tx"/>
                    </a:ext>
                  </a:extLst>
                </a:hlinkClick>
              </a:rPr>
              <a:t>tablette</a:t>
            </a:r>
            <a:r>
              <a:rPr lang="fr-FR" b="1" dirty="0">
                <a:latin typeface="Monotype Corsiva" panose="03010101010201010101" pitchFamily="66" charset="0"/>
              </a:rPr>
              <a:t> </a:t>
            </a:r>
          </a:p>
          <a:p>
            <a:r>
              <a:rPr lang="fr-FR" b="1" dirty="0">
                <a:latin typeface="Monotype Corsiva" panose="03010101010201010101" pitchFamily="66" charset="0"/>
                <a:hlinkClick r:id="rId6" tooltip="Babylone">
                  <a:extLst>
                    <a:ext uri="{A12FA001-AC4F-418D-AE19-62706E023703}">
                      <ahyp:hlinkClr xmlns:ahyp="http://schemas.microsoft.com/office/drawing/2018/hyperlinkcolor" val="tx"/>
                    </a:ext>
                  </a:extLst>
                </a:hlinkClick>
              </a:rPr>
              <a:t>prébabylonienne</a:t>
            </a:r>
            <a:r>
              <a:rPr lang="fr-FR" b="1" dirty="0">
                <a:latin typeface="Monotype Corsiva" panose="03010101010201010101" pitchFamily="66" charset="0"/>
              </a:rPr>
              <a:t> </a:t>
            </a:r>
            <a:r>
              <a:rPr lang="fr-FR" b="1" u="sng" dirty="0">
                <a:latin typeface="Monotype Corsiva" panose="03010101010201010101" pitchFamily="66" charset="0"/>
              </a:rPr>
              <a:t>YBC 7289</a:t>
            </a:r>
            <a:endParaRPr lang="en-GB" b="1" dirty="0">
              <a:latin typeface="Monotype Corsiva" panose="03010101010201010101" pitchFamily="66" charset="0"/>
            </a:endParaRPr>
          </a:p>
        </p:txBody>
      </p:sp>
    </p:spTree>
    <p:extLst>
      <p:ext uri="{BB962C8B-B14F-4D97-AF65-F5344CB8AC3E}">
        <p14:creationId xmlns:p14="http://schemas.microsoft.com/office/powerpoint/2010/main" val="1813910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B28E79-36F1-4487-B6B6-7A33F5C3C0B2}"/>
              </a:ext>
            </a:extLst>
          </p:cNvPr>
          <p:cNvSpPr>
            <a:spLocks noGrp="1"/>
          </p:cNvSpPr>
          <p:nvPr>
            <p:ph type="body" idx="1"/>
          </p:nvPr>
        </p:nvSpPr>
        <p:spPr>
          <a:xfrm>
            <a:off x="274666" y="14556"/>
            <a:ext cx="2236198" cy="779996"/>
          </a:xfrm>
        </p:spPr>
        <p:txBody>
          <a:bodyPr rtlCol="0">
            <a:normAutofit fontScale="92500"/>
          </a:bodyPr>
          <a:lstStyle/>
          <a:p>
            <a:pPr algn="just"/>
            <a:r>
              <a:rPr lang="fr-FR" dirty="0">
                <a:latin typeface="Monotype Corsiva" panose="03010101010201010101" pitchFamily="66" charset="0"/>
              </a:rPr>
              <a:t>Géométrie indienne (3000-500 av. J.-C.)</a:t>
            </a:r>
          </a:p>
        </p:txBody>
      </p:sp>
      <p:sp>
        <p:nvSpPr>
          <p:cNvPr id="4" name="Espace réservé du contenu 3">
            <a:extLst>
              <a:ext uri="{FF2B5EF4-FFF2-40B4-BE49-F238E27FC236}">
                <a16:creationId xmlns:a16="http://schemas.microsoft.com/office/drawing/2014/main" id="{245DDB48-166A-4E16-B9DF-C5C6570A1BAD}"/>
              </a:ext>
            </a:extLst>
          </p:cNvPr>
          <p:cNvSpPr>
            <a:spLocks noGrp="1"/>
          </p:cNvSpPr>
          <p:nvPr>
            <p:ph sz="half" idx="2"/>
          </p:nvPr>
        </p:nvSpPr>
        <p:spPr>
          <a:xfrm>
            <a:off x="220615" y="794552"/>
            <a:ext cx="2785531" cy="6063448"/>
          </a:xfrm>
        </p:spPr>
        <p:txBody>
          <a:bodyPr rtlCol="0">
            <a:noAutofit/>
          </a:bodyPr>
          <a:lstStyle/>
          <a:p>
            <a:pPr marL="0" indent="0" algn="just">
              <a:buNone/>
            </a:pPr>
            <a:r>
              <a:rPr lang="fr-FR" sz="2200" dirty="0">
                <a:latin typeface="Monotype Corsiva" panose="03010101010201010101" pitchFamily="66" charset="0"/>
              </a:rPr>
              <a:t>	Les indiens ont utilisé des résultats de géométrie aussi développés que leurs contemporains en Mésopotamie et en Égypte. La géométrie a été pratiquée en Inde depuis lors, et le mathématicien indien du VIIe siècle Brahmagupta, auquel on attribue l’invention du zéro, est aussi l’auteur d’un théorème qui porte son nom. Par ailleurs, la contribution indienne au développement de la trigonométrie est également tout à fait significative.</a:t>
            </a:r>
          </a:p>
          <a:p>
            <a:pPr marL="0" indent="0" algn="just" rtl="0">
              <a:lnSpc>
                <a:spcPct val="100000"/>
              </a:lnSpc>
              <a:buNone/>
            </a:pPr>
            <a:endParaRPr lang="fr-FR" sz="2200" dirty="0">
              <a:latin typeface="Monotype Corsiva" panose="03010101010201010101" pitchFamily="66" charset="0"/>
            </a:endParaRPr>
          </a:p>
        </p:txBody>
      </p:sp>
      <p:sp>
        <p:nvSpPr>
          <p:cNvPr id="5" name="Espace réservé du texte 4">
            <a:extLst>
              <a:ext uri="{FF2B5EF4-FFF2-40B4-BE49-F238E27FC236}">
                <a16:creationId xmlns:a16="http://schemas.microsoft.com/office/drawing/2014/main" id="{7A4C5B2A-12FB-43E3-8389-C0A5E65E6D91}"/>
              </a:ext>
            </a:extLst>
          </p:cNvPr>
          <p:cNvSpPr>
            <a:spLocks noGrp="1"/>
          </p:cNvSpPr>
          <p:nvPr>
            <p:ph type="body" sz="quarter" idx="3"/>
          </p:nvPr>
        </p:nvSpPr>
        <p:spPr>
          <a:xfrm>
            <a:off x="3334283" y="169915"/>
            <a:ext cx="2236199" cy="469278"/>
          </a:xfrm>
        </p:spPr>
        <p:txBody>
          <a:bodyPr rtlCol="0">
            <a:normAutofit fontScale="92500"/>
          </a:bodyPr>
          <a:lstStyle/>
          <a:p>
            <a:pPr algn="just"/>
            <a:r>
              <a:rPr lang="fr-FR" dirty="0">
                <a:latin typeface="Monotype Corsiva" panose="03010101010201010101" pitchFamily="66" charset="0"/>
              </a:rPr>
              <a:t>Géométrie chinoise</a:t>
            </a:r>
          </a:p>
        </p:txBody>
      </p:sp>
      <p:sp>
        <p:nvSpPr>
          <p:cNvPr id="6" name="Espace réservé du contenu 5">
            <a:extLst>
              <a:ext uri="{FF2B5EF4-FFF2-40B4-BE49-F238E27FC236}">
                <a16:creationId xmlns:a16="http://schemas.microsoft.com/office/drawing/2014/main" id="{53C09F06-9236-4635-AFB4-5E7D384A6BAE}"/>
              </a:ext>
            </a:extLst>
          </p:cNvPr>
          <p:cNvSpPr>
            <a:spLocks noGrp="1"/>
          </p:cNvSpPr>
          <p:nvPr>
            <p:ph sz="quarter" idx="4"/>
          </p:nvPr>
        </p:nvSpPr>
        <p:spPr>
          <a:xfrm>
            <a:off x="3135912" y="794552"/>
            <a:ext cx="3038508" cy="3733060"/>
          </a:xfrm>
        </p:spPr>
        <p:txBody>
          <a:bodyPr rtlCol="0">
            <a:noAutofit/>
          </a:bodyPr>
          <a:lstStyle/>
          <a:p>
            <a:pPr marL="0" indent="0" algn="just">
              <a:buNone/>
            </a:pPr>
            <a:r>
              <a:rPr lang="fr-FR" sz="2200" dirty="0">
                <a:latin typeface="Monotype Corsiva" panose="03010101010201010101" pitchFamily="66" charset="0"/>
              </a:rPr>
              <a:t>	Les Neuf Chapitres sur l’art mathématique, textes fondamentaux des connaissances de la civilisation chinoise, offrent des calculs d’aires et de volumes, et une formulation du théorème de Pythagore appelé là le Théorème de Gougu. Ils ont été produits vers le Ier ou le IIe siècle av. J.-C.</a:t>
            </a:r>
          </a:p>
          <a:p>
            <a:pPr marL="0" indent="0" algn="just" rtl="0">
              <a:lnSpc>
                <a:spcPct val="100000"/>
              </a:lnSpc>
              <a:buNone/>
            </a:pPr>
            <a:endParaRPr lang="fr-FR" sz="2200" dirty="0">
              <a:latin typeface="Monotype Corsiva" panose="03010101010201010101" pitchFamily="66" charset="0"/>
            </a:endParaRPr>
          </a:p>
        </p:txBody>
      </p:sp>
      <p:sp>
        <p:nvSpPr>
          <p:cNvPr id="7" name="Espace réservé du texte 6">
            <a:extLst>
              <a:ext uri="{FF2B5EF4-FFF2-40B4-BE49-F238E27FC236}">
                <a16:creationId xmlns:a16="http://schemas.microsoft.com/office/drawing/2014/main" id="{016D0387-7057-4207-9037-65B55A7B211B}"/>
              </a:ext>
            </a:extLst>
          </p:cNvPr>
          <p:cNvSpPr>
            <a:spLocks noGrp="1"/>
          </p:cNvSpPr>
          <p:nvPr>
            <p:ph type="body" sz="quarter" idx="13"/>
          </p:nvPr>
        </p:nvSpPr>
        <p:spPr>
          <a:xfrm>
            <a:off x="6918229" y="169915"/>
            <a:ext cx="4339466" cy="469278"/>
          </a:xfrm>
        </p:spPr>
        <p:txBody>
          <a:bodyPr rtlCol="0">
            <a:normAutofit fontScale="92500"/>
          </a:bodyPr>
          <a:lstStyle/>
          <a:p>
            <a:pPr algn="just"/>
            <a:r>
              <a:rPr lang="fr-FR" dirty="0">
                <a:latin typeface="Monotype Corsiva" panose="03010101010201010101" pitchFamily="66" charset="0"/>
              </a:rPr>
              <a:t>Les Précurseurs Grecs  (600-300 av. J.-C)</a:t>
            </a:r>
          </a:p>
        </p:txBody>
      </p:sp>
      <p:sp>
        <p:nvSpPr>
          <p:cNvPr id="8" name="Espace réservé du contenu 7">
            <a:extLst>
              <a:ext uri="{FF2B5EF4-FFF2-40B4-BE49-F238E27FC236}">
                <a16:creationId xmlns:a16="http://schemas.microsoft.com/office/drawing/2014/main" id="{EE1302F8-9FA6-4CC4-AD07-E8137FCC99A5}"/>
              </a:ext>
            </a:extLst>
          </p:cNvPr>
          <p:cNvSpPr>
            <a:spLocks noGrp="1"/>
          </p:cNvSpPr>
          <p:nvPr>
            <p:ph sz="quarter" idx="14"/>
          </p:nvPr>
        </p:nvSpPr>
        <p:spPr>
          <a:xfrm>
            <a:off x="6215825" y="794552"/>
            <a:ext cx="5900313" cy="6063447"/>
          </a:xfrm>
        </p:spPr>
        <p:txBody>
          <a:bodyPr rtlCol="0">
            <a:noAutofit/>
          </a:bodyPr>
          <a:lstStyle/>
          <a:p>
            <a:pPr marL="0" indent="0" algn="just">
              <a:buNone/>
            </a:pPr>
            <a:r>
              <a:rPr lang="fr-FR" sz="2200" dirty="0">
                <a:latin typeface="Monotype Corsiva" panose="03010101010201010101" pitchFamily="66" charset="0"/>
              </a:rPr>
              <a:t>	On voit ici les scientifiques comme Platon avec son académie et son apport dans l’introduction des cinq solides platoniciens : le tétraèdre, le cube, l’octaèdre, l’icosaèdre et le dodécaèdre réguliers. Par ailleurs, Platon est crédité d’avoir introduit l’idée que toutes les figures géométriques puissent être construites à l’aide d’une règle et d’un compas. Les problèmes de la trisection de l’angle, de la duplication du cube, et de la quadrature du cercle qui résultent de cette hypothèse, ont hanté l’antiquité, les mathématiciens Arabes et modernes jusqu’au XIXe siècle. Ce dernier problème incita Ménechme à introduire les coniques. Aussi Thalès de Milet et Pythagore passent pour être parmi les premiers à avoir développé un raisonnement hypothético-déductif et à s’être interrogés sur la valeur des raisonnements. On attribue généralement à Thalès l’égalité des angles opposés, l’égalité des angles à la base d’un triangle isocèle, l’étude des angles inscrits et bien sûr le théorème de Thalès. Et On attribue aux pythagoriciens la preuve du théorème de Pythagore et la figuration des nombres entiers.</a:t>
            </a:r>
          </a:p>
          <a:p>
            <a:pPr marL="0" indent="0" algn="just" rtl="0">
              <a:lnSpc>
                <a:spcPct val="100000"/>
              </a:lnSpc>
              <a:buNone/>
            </a:pPr>
            <a:endParaRPr lang="fr-FR" sz="2200" dirty="0">
              <a:latin typeface="Monotype Corsiva" panose="03010101010201010101" pitchFamily="66" charset="0"/>
            </a:endParaRPr>
          </a:p>
        </p:txBody>
      </p:sp>
      <p:pic>
        <p:nvPicPr>
          <p:cNvPr id="14" name="Image 13">
            <a:extLst>
              <a:ext uri="{FF2B5EF4-FFF2-40B4-BE49-F238E27FC236}">
                <a16:creationId xmlns:a16="http://schemas.microsoft.com/office/drawing/2014/main" id="{865CD9B0-3E3F-4D2C-A78B-28D1FADC4E8E}"/>
              </a:ext>
            </a:extLst>
          </p:cNvPr>
          <p:cNvPicPr>
            <a:picLocks noChangeAspect="1"/>
          </p:cNvPicPr>
          <p:nvPr/>
        </p:nvPicPr>
        <p:blipFill>
          <a:blip r:embed="rId3"/>
          <a:stretch>
            <a:fillRect/>
          </a:stretch>
        </p:blipFill>
        <p:spPr>
          <a:xfrm>
            <a:off x="3024923" y="4682971"/>
            <a:ext cx="3260486" cy="1778447"/>
          </a:xfrm>
          <a:prstGeom prst="rect">
            <a:avLst/>
          </a:prstGeom>
        </p:spPr>
      </p:pic>
      <p:sp>
        <p:nvSpPr>
          <p:cNvPr id="17" name="Espace réservé du numéro de diapositive 5">
            <a:extLst>
              <a:ext uri="{FF2B5EF4-FFF2-40B4-BE49-F238E27FC236}">
                <a16:creationId xmlns:a16="http://schemas.microsoft.com/office/drawing/2014/main" id="{9DB71737-BB3C-45DD-9EDE-2565941582AD}"/>
              </a:ext>
            </a:extLst>
          </p:cNvPr>
          <p:cNvSpPr txBox="1">
            <a:spLocks/>
          </p:cNvSpPr>
          <p:nvPr/>
        </p:nvSpPr>
        <p:spPr>
          <a:xfrm>
            <a:off x="11854372" y="6554742"/>
            <a:ext cx="313509" cy="3032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7</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5439955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Espace réservé pour une image  9">
            <a:extLst>
              <a:ext uri="{FF2B5EF4-FFF2-40B4-BE49-F238E27FC236}">
                <a16:creationId xmlns:a16="http://schemas.microsoft.com/office/drawing/2014/main" id="{C3C8526D-2A33-4185-9F42-8BDADAD4741F}"/>
              </a:ext>
            </a:extLst>
          </p:cNvPr>
          <p:cNvPicPr>
            <a:picLocks noGrp="1" noChangeAspect="1"/>
          </p:cNvPicPr>
          <p:nvPr>
            <p:ph type="pic" sz="quarter" idx="13"/>
          </p:nvPr>
        </p:nvPicPr>
        <p:blipFill>
          <a:blip r:embed="rId2"/>
          <a:srcRect/>
          <a:stretch/>
        </p:blipFill>
        <p:spPr>
          <a:xfrm>
            <a:off x="6261607" y="458600"/>
            <a:ext cx="3538138" cy="2106800"/>
          </a:xfrm>
        </p:spPr>
      </p:pic>
      <p:pic>
        <p:nvPicPr>
          <p:cNvPr id="12" name="Espace réservé pour une image  11">
            <a:extLst>
              <a:ext uri="{FF2B5EF4-FFF2-40B4-BE49-F238E27FC236}">
                <a16:creationId xmlns:a16="http://schemas.microsoft.com/office/drawing/2014/main" id="{70CA36C7-8252-4A08-85E1-3446DD6F38A5}"/>
              </a:ext>
            </a:extLst>
          </p:cNvPr>
          <p:cNvPicPr>
            <a:picLocks noGrp="1" noChangeAspect="1"/>
          </p:cNvPicPr>
          <p:nvPr>
            <p:ph type="pic" sz="quarter" idx="14"/>
          </p:nvPr>
        </p:nvPicPr>
        <p:blipFill>
          <a:blip r:embed="rId3"/>
          <a:srcRect t="13860" b="13860"/>
          <a:stretch>
            <a:fillRect/>
          </a:stretch>
        </p:blipFill>
        <p:spPr>
          <a:xfrm>
            <a:off x="7901258" y="2727729"/>
            <a:ext cx="4290741" cy="4130272"/>
          </a:xfrm>
        </p:spPr>
      </p:pic>
      <p:sp>
        <p:nvSpPr>
          <p:cNvPr id="8" name="Espace réservé du contenu 7">
            <a:extLst>
              <a:ext uri="{FF2B5EF4-FFF2-40B4-BE49-F238E27FC236}">
                <a16:creationId xmlns:a16="http://schemas.microsoft.com/office/drawing/2014/main" id="{6C685E57-48B9-4AFE-9A0D-D0697A278B8A}"/>
              </a:ext>
            </a:extLst>
          </p:cNvPr>
          <p:cNvSpPr>
            <a:spLocks noGrp="1"/>
          </p:cNvSpPr>
          <p:nvPr>
            <p:ph idx="1"/>
          </p:nvPr>
        </p:nvSpPr>
        <p:spPr>
          <a:xfrm>
            <a:off x="299574" y="683581"/>
            <a:ext cx="5709020" cy="6174419"/>
          </a:xfrm>
        </p:spPr>
        <p:txBody>
          <a:bodyPr>
            <a:noAutofit/>
          </a:bodyPr>
          <a:lstStyle/>
          <a:p>
            <a:pPr algn="just"/>
            <a:r>
              <a:rPr lang="fr-FR" sz="2200" dirty="0">
                <a:latin typeface="Monotype Corsiva" panose="03010101010201010101" pitchFamily="66" charset="0"/>
              </a:rPr>
              <a:t>	Mais le champion de toutes les catégories de la géométrie grecque est bien sûr Euclide. Ses 13 Livres sur les Éléments sont le premier ouvrage de géométrie reconnu pendant plus de 2000 ans comme vérité absolue. Euclide y expose de manière si précise et si rigoureuse les principaux travaux connus à son époque en géométrie, qu’on a pu le considérer comme l’inventeur même de la méthode axiomatique avec ses 5 axiomes fondamentaux de la géométrie, bien que le 5è n’a pas été perçu d’un bon œil par d’autres géomètres.</a:t>
            </a:r>
          </a:p>
          <a:p>
            <a:pPr algn="just"/>
            <a:r>
              <a:rPr lang="fr-FR" sz="2200" dirty="0">
                <a:latin typeface="Monotype Corsiva" panose="03010101010201010101" pitchFamily="66" charset="0"/>
              </a:rPr>
              <a:t>	Il faut également signaler la contribution d’Archimède, qui donna le 1</a:t>
            </a:r>
            <a:r>
              <a:rPr lang="fr-FR" sz="2200" baseline="30000" dirty="0">
                <a:latin typeface="Monotype Corsiva" panose="03010101010201010101" pitchFamily="66" charset="0"/>
              </a:rPr>
              <a:t>er</a:t>
            </a:r>
            <a:r>
              <a:rPr lang="fr-FR" sz="2200" dirty="0">
                <a:latin typeface="Monotype Corsiva" panose="03010101010201010101" pitchFamily="66" charset="0"/>
              </a:rPr>
              <a:t> encadrement le plus précis de Pi, évalua sans connaître l’approche différentielle l’aire du cercle, de la sphère et les volumes des pyramides, cônes et boules.</a:t>
            </a:r>
          </a:p>
          <a:p>
            <a:pPr algn="just"/>
            <a:r>
              <a:rPr lang="fr-FR" sz="2200" dirty="0">
                <a:latin typeface="Monotype Corsiva" panose="03010101010201010101" pitchFamily="66" charset="0"/>
              </a:rPr>
              <a:t>	On mentionnera aussi Apollonius, qui publia au tournant du IIe siècle av. J.-C, un traité sur les coniques qui fit autorité jusqu’aux temps modernes.</a:t>
            </a:r>
          </a:p>
          <a:p>
            <a:pPr algn="just"/>
            <a:endParaRPr lang="fr-FR" sz="2200" dirty="0">
              <a:latin typeface="Monotype Corsiva" panose="03010101010201010101" pitchFamily="66" charset="0"/>
            </a:endParaRPr>
          </a:p>
        </p:txBody>
      </p:sp>
      <p:sp>
        <p:nvSpPr>
          <p:cNvPr id="15" name="Espace réservé du numéro de diapositive 5">
            <a:extLst>
              <a:ext uri="{FF2B5EF4-FFF2-40B4-BE49-F238E27FC236}">
                <a16:creationId xmlns:a16="http://schemas.microsoft.com/office/drawing/2014/main" id="{ACEE35C7-77EC-49CB-8F3D-2A8DEF55E789}"/>
              </a:ext>
            </a:extLst>
          </p:cNvPr>
          <p:cNvSpPr txBox="1">
            <a:spLocks/>
          </p:cNvSpPr>
          <p:nvPr/>
        </p:nvSpPr>
        <p:spPr>
          <a:xfrm>
            <a:off x="11906387" y="6569846"/>
            <a:ext cx="313509" cy="3032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8</a:t>
            </a:fld>
            <a:endParaRPr lang="fr-FR" sz="1400" b="1" dirty="0">
              <a:solidFill>
                <a:schemeClr val="tx1"/>
              </a:solidFill>
              <a:latin typeface="Calibri" panose="020F0502020204030204"/>
            </a:endParaRPr>
          </a:p>
        </p:txBody>
      </p:sp>
      <p:sp>
        <p:nvSpPr>
          <p:cNvPr id="18" name="Titre 1">
            <a:extLst>
              <a:ext uri="{FF2B5EF4-FFF2-40B4-BE49-F238E27FC236}">
                <a16:creationId xmlns:a16="http://schemas.microsoft.com/office/drawing/2014/main" id="{0762CE18-02D8-4B74-A726-C18965B523C2}"/>
              </a:ext>
            </a:extLst>
          </p:cNvPr>
          <p:cNvSpPr txBox="1">
            <a:spLocks/>
          </p:cNvSpPr>
          <p:nvPr/>
        </p:nvSpPr>
        <p:spPr>
          <a:xfrm>
            <a:off x="160370" y="296271"/>
            <a:ext cx="7138851" cy="6683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b="1" dirty="0">
                <a:latin typeface="Monotype Corsiva" panose="03010101010201010101" pitchFamily="66" charset="0"/>
              </a:rPr>
              <a:t>Apogée avec Euclide &amp; Archimède</a:t>
            </a:r>
            <a:br>
              <a:rPr lang="fr-FR" sz="4000" dirty="0">
                <a:latin typeface="Monotype Corsiva" panose="03010101010201010101" pitchFamily="66" charset="0"/>
              </a:rPr>
            </a:br>
            <a:endParaRPr lang="fr-FR" sz="4000" dirty="0">
              <a:latin typeface="Monotype Corsiva" panose="03010101010201010101" pitchFamily="66" charset="0"/>
            </a:endParaRPr>
          </a:p>
        </p:txBody>
      </p:sp>
      <p:sp>
        <p:nvSpPr>
          <p:cNvPr id="19" name="ZoneTexte 18">
            <a:extLst>
              <a:ext uri="{FF2B5EF4-FFF2-40B4-BE49-F238E27FC236}">
                <a16:creationId xmlns:a16="http://schemas.microsoft.com/office/drawing/2014/main" id="{8068EC4E-EF39-4446-A17E-CE31BE91F9B7}"/>
              </a:ext>
            </a:extLst>
          </p:cNvPr>
          <p:cNvSpPr txBox="1"/>
          <p:nvPr/>
        </p:nvSpPr>
        <p:spPr>
          <a:xfrm>
            <a:off x="6767634" y="2565400"/>
            <a:ext cx="2900148" cy="461665"/>
          </a:xfrm>
          <a:prstGeom prst="rect">
            <a:avLst/>
          </a:prstGeom>
          <a:noFill/>
        </p:spPr>
        <p:txBody>
          <a:bodyPr wrap="square" rtlCol="0">
            <a:spAutoFit/>
          </a:bodyPr>
          <a:lstStyle/>
          <a:p>
            <a:r>
              <a:rPr lang="en-GB" sz="2400" b="1" dirty="0">
                <a:latin typeface="Monotype Corsiva" panose="03010101010201010101" pitchFamily="66" charset="0"/>
              </a:rPr>
              <a:t>L</a:t>
            </a:r>
            <a:r>
              <a:rPr lang="fr-FR" sz="2400" b="1" dirty="0">
                <a:latin typeface="Monotype Corsiva" panose="03010101010201010101" pitchFamily="66" charset="0"/>
              </a:rPr>
              <a:t>es Eléments d’Euclide</a:t>
            </a:r>
            <a:endParaRPr lang="en-GB" sz="2400" b="1" dirty="0">
              <a:latin typeface="Monotype Corsiva" panose="03010101010201010101" pitchFamily="66" charset="0"/>
            </a:endParaRPr>
          </a:p>
        </p:txBody>
      </p:sp>
    </p:spTree>
    <p:extLst>
      <p:ext uri="{BB962C8B-B14F-4D97-AF65-F5344CB8AC3E}">
        <p14:creationId xmlns:p14="http://schemas.microsoft.com/office/powerpoint/2010/main" val="37051257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75CD94E-8D4C-4DA1-953F-A7EA7EFAECAB}"/>
              </a:ext>
            </a:extLst>
          </p:cNvPr>
          <p:cNvSpPr>
            <a:spLocks noGrp="1"/>
          </p:cNvSpPr>
          <p:nvPr>
            <p:ph type="body" idx="1"/>
          </p:nvPr>
        </p:nvSpPr>
        <p:spPr>
          <a:xfrm>
            <a:off x="1430879" y="771244"/>
            <a:ext cx="3232561" cy="490762"/>
          </a:xfrm>
        </p:spPr>
        <p:txBody>
          <a:bodyPr>
            <a:normAutofit fontScale="77500" lnSpcReduction="20000"/>
          </a:bodyPr>
          <a:lstStyle/>
          <a:p>
            <a:r>
              <a:rPr lang="fr-FR" dirty="0">
                <a:latin typeface="Monotype Corsiva" panose="03010101010201010101" pitchFamily="66" charset="0"/>
              </a:rPr>
              <a:t>Apport des A</a:t>
            </a:r>
            <a:r>
              <a:rPr lang="fr-FR" sz="2800" dirty="0">
                <a:latin typeface="Monotype Corsiva" panose="03010101010201010101" pitchFamily="66" charset="0"/>
              </a:rPr>
              <a:t>rabes</a:t>
            </a:r>
            <a:r>
              <a:rPr lang="fr-FR" dirty="0">
                <a:latin typeface="Monotype Corsiva" panose="03010101010201010101" pitchFamily="66" charset="0"/>
              </a:rPr>
              <a:t> &amp; des Persans</a:t>
            </a:r>
          </a:p>
        </p:txBody>
      </p:sp>
      <p:sp>
        <p:nvSpPr>
          <p:cNvPr id="5" name="Espace réservé du texte 4">
            <a:extLst>
              <a:ext uri="{FF2B5EF4-FFF2-40B4-BE49-F238E27FC236}">
                <a16:creationId xmlns:a16="http://schemas.microsoft.com/office/drawing/2014/main" id="{AE565BDA-2AA8-4F10-AFD5-163D41E50D64}"/>
              </a:ext>
            </a:extLst>
          </p:cNvPr>
          <p:cNvSpPr>
            <a:spLocks noGrp="1"/>
          </p:cNvSpPr>
          <p:nvPr>
            <p:ph type="body" sz="quarter" idx="3"/>
          </p:nvPr>
        </p:nvSpPr>
        <p:spPr>
          <a:xfrm>
            <a:off x="7122478" y="781835"/>
            <a:ext cx="3346491" cy="401365"/>
          </a:xfrm>
        </p:spPr>
        <p:txBody>
          <a:bodyPr>
            <a:noAutofit/>
          </a:bodyPr>
          <a:lstStyle/>
          <a:p>
            <a:r>
              <a:rPr lang="fr-FR" dirty="0">
                <a:latin typeface="Monotype Corsiva" panose="03010101010201010101" pitchFamily="66" charset="0"/>
              </a:rPr>
              <a:t>Moyen-Age et Renaissance </a:t>
            </a:r>
          </a:p>
        </p:txBody>
      </p:sp>
      <p:sp>
        <p:nvSpPr>
          <p:cNvPr id="35" name="Rectangle 27">
            <a:extLst>
              <a:ext uri="{FF2B5EF4-FFF2-40B4-BE49-F238E27FC236}">
                <a16:creationId xmlns:a16="http://schemas.microsoft.com/office/drawing/2014/main" id="{08CAA2EE-DADD-4210-B67D-6046667A797D}"/>
              </a:ext>
            </a:extLst>
          </p:cNvPr>
          <p:cNvSpPr>
            <a:spLocks noGrp="1" noChangeArrowheads="1"/>
          </p:cNvSpPr>
          <p:nvPr>
            <p:ph sz="half" idx="2"/>
          </p:nvPr>
        </p:nvSpPr>
        <p:spPr bwMode="auto">
          <a:xfrm>
            <a:off x="268947" y="1233318"/>
            <a:ext cx="518318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La contribution des civilisations </a:t>
            </a:r>
            <a:r>
              <a:rPr lang="fr-CM" altLang="fr-FR" sz="2200" dirty="0">
                <a:latin typeface="Monotype Corsiva" panose="03010101010201010101" pitchFamily="66" charset="0"/>
                <a:ea typeface="Times New Roman" panose="02020603050405020304" pitchFamily="18" charset="0"/>
              </a:rPr>
              <a:t>A</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rabe et Perse du Moyen-Age au développement de la géométrie a été tout à fait significative. Outre la traduction des textes antiques, Ceux-ci ont développé la trigonométrie. On doit</a:t>
            </a:r>
            <a:r>
              <a:rPr lang="fr-CM" altLang="fr-FR" sz="2200" dirty="0">
                <a:latin typeface="Monotype Corsiva" panose="03010101010201010101" pitchFamily="66" charset="0"/>
                <a:ea typeface="Times New Roman" panose="02020603050405020304" pitchFamily="18" charset="0"/>
              </a:rPr>
              <a:t>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l'introduction des fonctions trigonométriques à </a:t>
            </a:r>
            <a:r>
              <a:rPr lang="fr-CM" altLang="fr-FR" sz="2200" dirty="0">
                <a:effectLst/>
                <a:latin typeface="Monotype Corsiva" panose="03010101010201010101" pitchFamily="66" charset="0"/>
                <a:ea typeface="Times New Roman" panose="02020603050405020304" pitchFamily="18" charset="0"/>
              </a:rPr>
              <a:t>Nasir ad-Dîn at-</a:t>
            </a:r>
            <a:r>
              <a:rPr lang="fr-CM" altLang="fr-FR" sz="2200" dirty="0" err="1">
                <a:effectLst/>
                <a:latin typeface="Monotype Corsiva" panose="03010101010201010101" pitchFamily="66" charset="0"/>
                <a:ea typeface="Times New Roman" panose="02020603050405020304" pitchFamily="18" charset="0"/>
              </a:rPr>
              <a:t>Tusi</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mathématicien perse du Khorassan. </a:t>
            </a:r>
            <a:r>
              <a:rPr kumimoji="0" lang="fr-CM" altLang="fr-FR" sz="2200" i="0" strike="noStrike" cap="none" normalizeH="0" baseline="0" dirty="0" err="1">
                <a:ln>
                  <a:noFill/>
                </a:ln>
                <a:effectLst/>
                <a:latin typeface="Monotype Corsiva" panose="03010101010201010101" pitchFamily="66" charset="0"/>
                <a:ea typeface="Times New Roman" panose="02020603050405020304" pitchFamily="18" charset="0"/>
              </a:rPr>
              <a:t>Al-Kashi</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autre mathématicien perse, généralise le théorème de Pythagore et donne une meilleure approximation de </a:t>
            </a:r>
            <a:r>
              <a:rPr lang="fr-FR" altLang="fr-FR" sz="2200" dirty="0">
                <a:latin typeface="Monotype Corsiva" panose="03010101010201010101" pitchFamily="66" charset="0"/>
                <a:ea typeface="Times New Roman" panose="02020603050405020304" pitchFamily="18" charset="0"/>
              </a:rPr>
              <a:t>Pi.</a:t>
            </a:r>
            <a:r>
              <a:rPr lang="fr-CM" altLang="fr-FR" sz="2200" dirty="0">
                <a:latin typeface="Monotype Corsiva" panose="03010101010201010101" pitchFamily="66" charset="0"/>
                <a:ea typeface="Times New Roman" panose="02020603050405020304" pitchFamily="18" charset="0"/>
              </a:rPr>
              <a:t>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La démonstration du 5</a:t>
            </a:r>
            <a:r>
              <a:rPr kumimoji="0" lang="fr-CM" altLang="fr-FR" sz="2200" i="0" strike="noStrike" cap="none" normalizeH="0" baseline="30000" dirty="0">
                <a:ln>
                  <a:noFill/>
                </a:ln>
                <a:effectLst/>
                <a:latin typeface="Monotype Corsiva" panose="03010101010201010101" pitchFamily="66" charset="0"/>
                <a:ea typeface="Times New Roman" panose="02020603050405020304" pitchFamily="18" charset="0"/>
                <a:cs typeface="Helvetica" panose="020B0604020202020204" pitchFamily="34" charset="0"/>
              </a:rPr>
              <a:t>e</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cs typeface="Helvetica" panose="020B0604020202020204" pitchFamily="34" charset="0"/>
              </a:rPr>
              <a:t>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axiome et les problèmes de duplication du cube, trisection des angles et quadrature du cercle vont fasciner les savants perses et arabes comme ils l'avaient fait des Anciens.</a:t>
            </a:r>
          </a:p>
        </p:txBody>
      </p:sp>
      <p:sp>
        <p:nvSpPr>
          <p:cNvPr id="36" name="Rectangle 28">
            <a:extLst>
              <a:ext uri="{FF2B5EF4-FFF2-40B4-BE49-F238E27FC236}">
                <a16:creationId xmlns:a16="http://schemas.microsoft.com/office/drawing/2014/main" id="{AFC98BFA-5A3B-40B8-96E4-B5897C86F3D3}"/>
              </a:ext>
            </a:extLst>
          </p:cNvPr>
          <p:cNvSpPr>
            <a:spLocks noGrp="1" noChangeArrowheads="1"/>
          </p:cNvSpPr>
          <p:nvPr>
            <p:ph sz="quarter" idx="4"/>
          </p:nvPr>
        </p:nvSpPr>
        <p:spPr bwMode="auto">
          <a:xfrm>
            <a:off x="5552985" y="1233318"/>
            <a:ext cx="648547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D'une manière générale, le Moyen-Âge constitue, en Europe occidentale, pour la géométrie comme pour bien d'autres sciences, une période de recul. Dans la longue période qui s'étend en gros du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cs typeface="Helvetica" panose="020B0604020202020204" pitchFamily="34" charset="0"/>
              </a:rPr>
              <a:t>Ve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siècle au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cs typeface="Helvetica" panose="020B0604020202020204" pitchFamily="34" charset="0"/>
              </a:rPr>
              <a:t>XVe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siècle, les savants géomètres sont rares en Occident. </a:t>
            </a:r>
          </a:p>
          <a:p>
            <a:pPr marL="0" marR="0" lvl="0" indent="0" algn="just" defTabSz="914400" rtl="0" eaLnBrk="0" fontAlgn="base" latinLnBrk="0" hangingPunct="0">
              <a:lnSpc>
                <a:spcPct val="100000"/>
              </a:lnSpc>
              <a:spcBef>
                <a:spcPct val="0"/>
              </a:spcBef>
              <a:spcAft>
                <a:spcPct val="0"/>
              </a:spcAft>
              <a:buClrTx/>
              <a:buSzTx/>
              <a:buFontTx/>
              <a:buNone/>
              <a:tabLst/>
            </a:pPr>
            <a:r>
              <a:rPr lang="fr-CM" altLang="fr-FR" sz="2200" dirty="0">
                <a:latin typeface="Monotype Corsiva" panose="03010101010201010101" pitchFamily="66" charset="0"/>
                <a:ea typeface="Times New Roman" panose="02020603050405020304" pitchFamily="18" charset="0"/>
              </a:rPr>
              <a:t>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La Renaissance aux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cs typeface="Helvetica" panose="020B0604020202020204" pitchFamily="34" charset="0"/>
              </a:rPr>
              <a:t>XVe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siècle et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cs typeface="Helvetica" panose="020B0604020202020204" pitchFamily="34" charset="0"/>
              </a:rPr>
              <a:t>XVIe </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siècle voit un premier frémissement de nouveautés géométriques avec l'apparition de la </a:t>
            </a:r>
            <a:r>
              <a:rPr lang="fr-CM" altLang="fr-FR" sz="2200" dirty="0">
                <a:latin typeface="Monotype Corsiva" panose="03010101010201010101" pitchFamily="66" charset="0"/>
                <a:ea typeface="Times New Roman" panose="02020603050405020304" pitchFamily="18" charset="0"/>
              </a:rPr>
              <a:t>perspective conique</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dont la théorie est attaquée par toute une série de savants, Italiens en majorité, et dont le plus connu est probablement </a:t>
            </a:r>
            <a:r>
              <a:rPr lang="fr-CM" altLang="fr-FR" sz="2200" dirty="0">
                <a:latin typeface="Monotype Corsiva" panose="03010101010201010101" pitchFamily="66" charset="0"/>
                <a:ea typeface="Times New Roman" panose="02020603050405020304" pitchFamily="18" charset="0"/>
              </a:rPr>
              <a:t>Léonard de Vinci</a:t>
            </a:r>
            <a:r>
              <a:rPr kumimoji="0" lang="fr-CM" altLang="fr-FR" sz="2200" i="0" strike="noStrike" cap="none" normalizeH="0" baseline="0" dirty="0">
                <a:ln>
                  <a:noFill/>
                </a:ln>
                <a:effectLst/>
                <a:latin typeface="Monotype Corsiva" panose="03010101010201010101" pitchFamily="66" charset="0"/>
                <a:ea typeface="Times New Roman" panose="02020603050405020304" pitchFamily="18" charset="0"/>
              </a:rPr>
              <a:t>, devant sa gloire sérieusement plus à son génie artistique que mathématique.</a:t>
            </a:r>
            <a:endParaRPr kumimoji="0" lang="fr-CM" altLang="fr-FR" sz="2200" i="0" strike="noStrike" cap="none" normalizeH="0" baseline="0" dirty="0">
              <a:ln>
                <a:noFill/>
              </a:ln>
              <a:effectLst/>
              <a:latin typeface="Monotype Corsiva" panose="03010101010201010101" pitchFamily="66" charset="0"/>
            </a:endParaRPr>
          </a:p>
        </p:txBody>
      </p:sp>
      <p:sp>
        <p:nvSpPr>
          <p:cNvPr id="10" name="Espace réservé du numéro de diapositive 5">
            <a:extLst>
              <a:ext uri="{FF2B5EF4-FFF2-40B4-BE49-F238E27FC236}">
                <a16:creationId xmlns:a16="http://schemas.microsoft.com/office/drawing/2014/main" id="{11052263-1D6D-4955-945F-C0502F80EA7E}"/>
              </a:ext>
            </a:extLst>
          </p:cNvPr>
          <p:cNvSpPr txBox="1">
            <a:spLocks/>
          </p:cNvSpPr>
          <p:nvPr/>
        </p:nvSpPr>
        <p:spPr>
          <a:xfrm>
            <a:off x="11878491" y="6554742"/>
            <a:ext cx="313509" cy="3032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9</a:t>
            </a:fld>
            <a:endParaRPr lang="fr-FR" sz="1400" b="1" dirty="0">
              <a:solidFill>
                <a:schemeClr val="tx1"/>
              </a:solidFill>
              <a:latin typeface="Calibri" panose="020F0502020204030204"/>
            </a:endParaRPr>
          </a:p>
        </p:txBody>
      </p:sp>
      <p:sp>
        <p:nvSpPr>
          <p:cNvPr id="13" name="Titre 1">
            <a:extLst>
              <a:ext uri="{FF2B5EF4-FFF2-40B4-BE49-F238E27FC236}">
                <a16:creationId xmlns:a16="http://schemas.microsoft.com/office/drawing/2014/main" id="{FE35B689-E74B-4262-86A2-15B80D068778}"/>
              </a:ext>
            </a:extLst>
          </p:cNvPr>
          <p:cNvSpPr>
            <a:spLocks noGrp="1"/>
          </p:cNvSpPr>
          <p:nvPr>
            <p:ph type="title"/>
          </p:nvPr>
        </p:nvSpPr>
        <p:spPr>
          <a:xfrm>
            <a:off x="1555516" y="172036"/>
            <a:ext cx="8426684" cy="490762"/>
          </a:xfrm>
        </p:spPr>
        <p:txBody>
          <a:bodyPr rtlCol="0">
            <a:normAutofit fontScale="90000"/>
          </a:bodyPr>
          <a:lstStyle/>
          <a:p>
            <a:r>
              <a:rPr lang="fr-FR" b="1" dirty="0">
                <a:latin typeface="Monotype Corsiva" panose="03010101010201010101" pitchFamily="66" charset="0"/>
              </a:rPr>
              <a:t>D’Euclide à la forme actuelle de la Géométrie</a:t>
            </a:r>
            <a:endParaRPr lang="fr-FR" dirty="0">
              <a:latin typeface="Monotype Corsiva" panose="03010101010201010101" pitchFamily="66" charset="0"/>
            </a:endParaRPr>
          </a:p>
        </p:txBody>
      </p:sp>
    </p:spTree>
    <p:extLst>
      <p:ext uri="{BB962C8B-B14F-4D97-AF65-F5344CB8AC3E}">
        <p14:creationId xmlns:p14="http://schemas.microsoft.com/office/powerpoint/2010/main" val="672084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28481B2-DD79-455D-8295-1C1EC68EF155}"/>
              </a:ext>
            </a:extLst>
          </p:cNvPr>
          <p:cNvSpPr>
            <a:spLocks noGrp="1"/>
          </p:cNvSpPr>
          <p:nvPr>
            <p:ph type="body" idx="1"/>
          </p:nvPr>
        </p:nvSpPr>
        <p:spPr>
          <a:xfrm>
            <a:off x="194323" y="-9782"/>
            <a:ext cx="3291840" cy="744014"/>
          </a:xfrm>
        </p:spPr>
        <p:txBody>
          <a:bodyPr>
            <a:normAutofit lnSpcReduction="10000"/>
          </a:bodyPr>
          <a:lstStyle/>
          <a:p>
            <a:pPr algn="ctr"/>
            <a:r>
              <a:rPr lang="fr-FR" dirty="0">
                <a:latin typeface="Monotype Corsiva" panose="03010101010201010101" pitchFamily="66" charset="0"/>
              </a:rPr>
              <a:t>Naissance Géométrie Analytique au XVIIe siècle</a:t>
            </a:r>
          </a:p>
        </p:txBody>
      </p:sp>
      <p:sp>
        <p:nvSpPr>
          <p:cNvPr id="4" name="Espace réservé du contenu 3">
            <a:extLst>
              <a:ext uri="{FF2B5EF4-FFF2-40B4-BE49-F238E27FC236}">
                <a16:creationId xmlns:a16="http://schemas.microsoft.com/office/drawing/2014/main" id="{22909015-FD71-4E0A-AA78-D6932B80E80D}"/>
              </a:ext>
            </a:extLst>
          </p:cNvPr>
          <p:cNvSpPr>
            <a:spLocks noGrp="1"/>
          </p:cNvSpPr>
          <p:nvPr>
            <p:ph sz="half" idx="2"/>
          </p:nvPr>
        </p:nvSpPr>
        <p:spPr>
          <a:xfrm>
            <a:off x="137649" y="734232"/>
            <a:ext cx="3488035" cy="5841101"/>
          </a:xfrm>
        </p:spPr>
        <p:txBody>
          <a:bodyPr>
            <a:noAutofit/>
          </a:bodyPr>
          <a:lstStyle/>
          <a:p>
            <a:pPr marL="0" indent="0" algn="just" fontAlgn="base">
              <a:buNone/>
            </a:pPr>
            <a:r>
              <a:rPr lang="fr-CM" dirty="0">
                <a:latin typeface="Monotype Corsiva" panose="03010101010201010101" pitchFamily="66" charset="0"/>
              </a:rPr>
              <a:t>	La création de la géométrie analytique est l'œuvre de Descartes, et à un titre moindre de Fermat. Les idées de Descartes sont celles de repère et de projection orthogonale. Cette théorie permet de concevoir l'espace géométrique comme une collection de points représentés chacun par trois nombres.</a:t>
            </a:r>
            <a:endParaRPr lang="fr-FR" dirty="0">
              <a:latin typeface="Monotype Corsiva" panose="03010101010201010101" pitchFamily="66" charset="0"/>
            </a:endParaRPr>
          </a:p>
          <a:p>
            <a:pPr marL="0" indent="0" algn="just" fontAlgn="base">
              <a:buNone/>
            </a:pPr>
            <a:r>
              <a:rPr lang="fr-CM" dirty="0">
                <a:latin typeface="Monotype Corsiva" panose="03010101010201010101" pitchFamily="66" charset="0"/>
              </a:rPr>
              <a:t>	L'invention cartésienne (1637) constitue une véritable révolution dans le petit monde de la géométrie, puisque par le moyen de l'utilisation de ces repères, cette science se trouve en quelque sorte ramenée à des calculs sur des ensembles de deux ou trois nombres. </a:t>
            </a:r>
            <a:endParaRPr lang="fr-FR" dirty="0">
              <a:latin typeface="Monotype Corsiva" panose="03010101010201010101" pitchFamily="66" charset="0"/>
            </a:endParaRPr>
          </a:p>
          <a:p>
            <a:pPr marL="0" indent="0" algn="just">
              <a:buNone/>
            </a:pPr>
            <a:endParaRPr lang="fr-FR" dirty="0">
              <a:latin typeface="Monotype Corsiva" panose="03010101010201010101" pitchFamily="66" charset="0"/>
            </a:endParaRPr>
          </a:p>
        </p:txBody>
      </p:sp>
      <p:sp>
        <p:nvSpPr>
          <p:cNvPr id="5" name="Espace réservé du texte 4">
            <a:extLst>
              <a:ext uri="{FF2B5EF4-FFF2-40B4-BE49-F238E27FC236}">
                <a16:creationId xmlns:a16="http://schemas.microsoft.com/office/drawing/2014/main" id="{E3E2807B-3341-444D-9063-2D59C84713A9}"/>
              </a:ext>
            </a:extLst>
          </p:cNvPr>
          <p:cNvSpPr>
            <a:spLocks noGrp="1"/>
          </p:cNvSpPr>
          <p:nvPr>
            <p:ph type="body" sz="quarter" idx="3"/>
          </p:nvPr>
        </p:nvSpPr>
        <p:spPr>
          <a:xfrm>
            <a:off x="4015009" y="0"/>
            <a:ext cx="3291840" cy="744013"/>
          </a:xfrm>
        </p:spPr>
        <p:txBody>
          <a:bodyPr>
            <a:normAutofit lnSpcReduction="10000"/>
          </a:bodyPr>
          <a:lstStyle/>
          <a:p>
            <a:pPr algn="ctr"/>
            <a:r>
              <a:rPr lang="fr-FR" dirty="0">
                <a:latin typeface="Monotype Corsiva" panose="03010101010201010101" pitchFamily="66" charset="0"/>
              </a:rPr>
              <a:t>Naissance Géométrie Différentielle</a:t>
            </a:r>
          </a:p>
        </p:txBody>
      </p:sp>
      <p:sp>
        <p:nvSpPr>
          <p:cNvPr id="6" name="Espace réservé du contenu 5">
            <a:extLst>
              <a:ext uri="{FF2B5EF4-FFF2-40B4-BE49-F238E27FC236}">
                <a16:creationId xmlns:a16="http://schemas.microsoft.com/office/drawing/2014/main" id="{7D213066-B66E-4DD6-82B1-2EB14FA76881}"/>
              </a:ext>
            </a:extLst>
          </p:cNvPr>
          <p:cNvSpPr>
            <a:spLocks noGrp="1"/>
          </p:cNvSpPr>
          <p:nvPr>
            <p:ph sz="quarter" idx="4"/>
          </p:nvPr>
        </p:nvSpPr>
        <p:spPr>
          <a:xfrm>
            <a:off x="3649966" y="686713"/>
            <a:ext cx="4383799" cy="6171287"/>
          </a:xfrm>
        </p:spPr>
        <p:txBody>
          <a:bodyPr>
            <a:noAutofit/>
          </a:bodyPr>
          <a:lstStyle/>
          <a:p>
            <a:pPr marL="0" indent="0" algn="just" fontAlgn="base">
              <a:buNone/>
            </a:pPr>
            <a:r>
              <a:rPr lang="fr-CM" dirty="0">
                <a:latin typeface="Monotype Corsiva" panose="03010101010201010101" pitchFamily="66" charset="0"/>
              </a:rPr>
              <a:t>	Certaines méthodes de calcul d'Archimède recouraient à la division d'éléments en d'autres de plus en plus petits. Par exemple, pour approcher pi, Archimède calculait le périmètre du polygone circonscrit au cercle et celui du polygone inscrit. Il obtenait ainsi un encadrement de pi, et avait par cette méthode trouvé l'approximation de 22/7.</a:t>
            </a:r>
            <a:endParaRPr lang="fr-FR" dirty="0">
              <a:latin typeface="Monotype Corsiva" panose="03010101010201010101" pitchFamily="66" charset="0"/>
            </a:endParaRPr>
          </a:p>
          <a:p>
            <a:pPr marL="0" indent="0" algn="just" fontAlgn="base">
              <a:buNone/>
            </a:pPr>
            <a:r>
              <a:rPr lang="fr-CM" dirty="0">
                <a:latin typeface="Monotype Corsiva" panose="03010101010201010101" pitchFamily="66" charset="0"/>
              </a:rPr>
              <a:t>	Vers les années 1670, les illustres savants anglais et allemand que sont Newton et Leibniz explicitent enfin les méthodes de calcul permettant l'utilisation de l’ infiniment petit. Cette découverte est l'une des plus importantes jamais faites en mathématiques si bien qu’elle créa un conflit de paternité entre les 2 scientifiques. Ces méthodes permettent de ramener le calcul de certaines caractéristiques géométriques des figures et courbes telles que les angles entre les tangentes, surfaces, et volumes, à des calculs sur ce qu'on appelle les dérivées et intégrales.</a:t>
            </a:r>
            <a:endParaRPr lang="fr-FR" dirty="0">
              <a:latin typeface="Monotype Corsiva" panose="03010101010201010101" pitchFamily="66" charset="0"/>
            </a:endParaRPr>
          </a:p>
          <a:p>
            <a:pPr marL="0" indent="0" algn="just">
              <a:buNone/>
            </a:pPr>
            <a:endParaRPr lang="fr-FR" dirty="0">
              <a:latin typeface="Monotype Corsiva" panose="03010101010201010101" pitchFamily="66" charset="0"/>
            </a:endParaRPr>
          </a:p>
        </p:txBody>
      </p:sp>
      <p:sp>
        <p:nvSpPr>
          <p:cNvPr id="11" name="Espace réservé du texte 10">
            <a:extLst>
              <a:ext uri="{FF2B5EF4-FFF2-40B4-BE49-F238E27FC236}">
                <a16:creationId xmlns:a16="http://schemas.microsoft.com/office/drawing/2014/main" id="{AA9752E9-0E9B-4101-95AF-F42C4002B7EE}"/>
              </a:ext>
            </a:extLst>
          </p:cNvPr>
          <p:cNvSpPr>
            <a:spLocks noGrp="1"/>
          </p:cNvSpPr>
          <p:nvPr>
            <p:ph type="body" sz="quarter" idx="13"/>
          </p:nvPr>
        </p:nvSpPr>
        <p:spPr>
          <a:xfrm>
            <a:off x="8241673" y="302023"/>
            <a:ext cx="3396065" cy="864418"/>
          </a:xfrm>
        </p:spPr>
        <p:txBody>
          <a:bodyPr>
            <a:normAutofit/>
          </a:bodyPr>
          <a:lstStyle/>
          <a:p>
            <a:pPr algn="ctr"/>
            <a:r>
              <a:rPr lang="fr-FR" dirty="0">
                <a:latin typeface="Monotype Corsiva" panose="03010101010201010101" pitchFamily="66" charset="0"/>
              </a:rPr>
              <a:t>Géométrie au XVIIIe siècle</a:t>
            </a:r>
          </a:p>
          <a:p>
            <a:endParaRPr lang="fr-FR" dirty="0">
              <a:latin typeface="Monotype Corsiva" panose="03010101010201010101" pitchFamily="66" charset="0"/>
            </a:endParaRPr>
          </a:p>
        </p:txBody>
      </p:sp>
      <p:sp>
        <p:nvSpPr>
          <p:cNvPr id="12" name="Espace réservé du contenu 11">
            <a:extLst>
              <a:ext uri="{FF2B5EF4-FFF2-40B4-BE49-F238E27FC236}">
                <a16:creationId xmlns:a16="http://schemas.microsoft.com/office/drawing/2014/main" id="{2BE1EB1A-AACC-4156-961D-83739D3C2903}"/>
              </a:ext>
            </a:extLst>
          </p:cNvPr>
          <p:cNvSpPr>
            <a:spLocks noGrp="1"/>
          </p:cNvSpPr>
          <p:nvPr>
            <p:ph sz="quarter" idx="14"/>
          </p:nvPr>
        </p:nvSpPr>
        <p:spPr>
          <a:xfrm>
            <a:off x="8058047" y="686713"/>
            <a:ext cx="4111543" cy="5939161"/>
          </a:xfrm>
        </p:spPr>
        <p:txBody>
          <a:bodyPr>
            <a:noAutofit/>
          </a:bodyPr>
          <a:lstStyle/>
          <a:p>
            <a:pPr marL="0" indent="0" algn="just" fontAlgn="base">
              <a:buNone/>
            </a:pPr>
            <a:r>
              <a:rPr lang="fr-CM" dirty="0">
                <a:latin typeface="Monotype Corsiva" panose="03010101010201010101" pitchFamily="66" charset="0"/>
              </a:rPr>
              <a:t>	Le </a:t>
            </a:r>
            <a:r>
              <a:rPr lang="fr-CM" cap="small" dirty="0">
                <a:latin typeface="Monotype Corsiva" panose="03010101010201010101" pitchFamily="66" charset="0"/>
              </a:rPr>
              <a:t>XVIIIe</a:t>
            </a:r>
            <a:r>
              <a:rPr lang="fr-CM" dirty="0">
                <a:latin typeface="Monotype Corsiva" panose="03010101010201010101" pitchFamily="66" charset="0"/>
              </a:rPr>
              <a:t> siècle est une période de transition et d'approfondissement.</a:t>
            </a:r>
            <a:r>
              <a:rPr lang="fr-FR" dirty="0">
                <a:latin typeface="Monotype Corsiva" panose="03010101010201010101" pitchFamily="66" charset="0"/>
              </a:rPr>
              <a:t> </a:t>
            </a:r>
            <a:r>
              <a:rPr lang="fr-CM" dirty="0">
                <a:latin typeface="Monotype Corsiva" panose="03010101010201010101" pitchFamily="66" charset="0"/>
              </a:rPr>
              <a:t>Les deux plus grands mathématiciens du siècle, Euler et Lagrange sont de remarquables géomètres, et contribuent également au développement de la géométrie d'Euclide . Les notions importantes de longueur d'un arc d'une courbe, de cercle osculateur sont découvertes. Les expressions différentielles de la courbure et de la torsion d'une courbe  seront données par Cauchy au début du </a:t>
            </a:r>
            <a:r>
              <a:rPr lang="fr-CM" cap="small" dirty="0">
                <a:latin typeface="Monotype Corsiva" panose="03010101010201010101" pitchFamily="66" charset="0"/>
              </a:rPr>
              <a:t>XIXe</a:t>
            </a:r>
            <a:r>
              <a:rPr lang="fr-CM" dirty="0">
                <a:latin typeface="Monotype Corsiva" panose="03010101010201010101" pitchFamily="66" charset="0"/>
              </a:rPr>
              <a:t> siècle. Vers la fin du siècle, Monge crée une branche spécifique de la géométrie appelée géométrie descriptive, qui vise à assister l'ingénieur dans les représentations des machines. À l'issue des travaux des </a:t>
            </a:r>
            <a:r>
              <a:rPr lang="fr-CM" cap="small" dirty="0">
                <a:latin typeface="Monotype Corsiva" panose="03010101010201010101" pitchFamily="66" charset="0"/>
              </a:rPr>
              <a:t>XVIIe</a:t>
            </a:r>
            <a:r>
              <a:rPr lang="fr-CM" dirty="0">
                <a:latin typeface="Monotype Corsiva" panose="03010101010201010101" pitchFamily="66" charset="0"/>
              </a:rPr>
              <a:t> et </a:t>
            </a:r>
            <a:r>
              <a:rPr lang="fr-CM" cap="small" dirty="0">
                <a:latin typeface="Monotype Corsiva" panose="03010101010201010101" pitchFamily="66" charset="0"/>
              </a:rPr>
              <a:t>XVIIIe</a:t>
            </a:r>
            <a:r>
              <a:rPr lang="fr-CM" dirty="0">
                <a:latin typeface="Monotype Corsiva" panose="03010101010201010101" pitchFamily="66" charset="0"/>
              </a:rPr>
              <a:t> siècles, on distingue de façon majeure la géométrie euclidienne et celle analytique.</a:t>
            </a:r>
            <a:endParaRPr lang="fr-FR" dirty="0">
              <a:latin typeface="Monotype Corsiva" panose="03010101010201010101" pitchFamily="66" charset="0"/>
            </a:endParaRPr>
          </a:p>
          <a:p>
            <a:pPr algn="just"/>
            <a:endParaRPr lang="fr-FR" dirty="0">
              <a:latin typeface="Monotype Corsiva" panose="03010101010201010101" pitchFamily="66" charset="0"/>
            </a:endParaRPr>
          </a:p>
          <a:p>
            <a:pPr algn="just"/>
            <a:endParaRPr lang="fr-FR" dirty="0">
              <a:latin typeface="Monotype Corsiva" panose="03010101010201010101" pitchFamily="66" charset="0"/>
            </a:endParaRPr>
          </a:p>
        </p:txBody>
      </p:sp>
      <p:sp>
        <p:nvSpPr>
          <p:cNvPr id="13" name="Espace réservé du numéro de diapositive 5">
            <a:extLst>
              <a:ext uri="{FF2B5EF4-FFF2-40B4-BE49-F238E27FC236}">
                <a16:creationId xmlns:a16="http://schemas.microsoft.com/office/drawing/2014/main" id="{79E58B6D-8C5A-480D-89C8-97E80049D43A}"/>
              </a:ext>
            </a:extLst>
          </p:cNvPr>
          <p:cNvSpPr txBox="1">
            <a:spLocks/>
          </p:cNvSpPr>
          <p:nvPr/>
        </p:nvSpPr>
        <p:spPr>
          <a:xfrm>
            <a:off x="11637738" y="6501587"/>
            <a:ext cx="531853" cy="35641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dirty="0">
                <a:solidFill>
                  <a:schemeClr val="tx1"/>
                </a:solidFill>
                <a:latin typeface="Monotype Corsiva" panose="03010101010201010101" pitchFamily="66" charset="0"/>
              </a:rPr>
              <a:t> </a:t>
            </a:r>
            <a:fld id="{D76B855D-E9CC-4FF8-AD85-6CDC7B89A0DE}" type="slidenum">
              <a:rPr lang="fr-FR" sz="2200" smtClean="0">
                <a:solidFill>
                  <a:schemeClr val="tx1"/>
                </a:solidFill>
                <a:latin typeface="Monotype Corsiva" panose="03010101010201010101" pitchFamily="66" charset="0"/>
              </a:rPr>
              <a:pPr>
                <a:defRPr/>
              </a:pPr>
              <a:t>10</a:t>
            </a:fld>
            <a:endParaRPr lang="fr-FR" sz="2200"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29624855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9A5803-E709-4032-A74A-CD53285FD308}"/>
              </a:ext>
            </a:extLst>
          </p:cNvPr>
          <p:cNvSpPr>
            <a:spLocks noGrp="1"/>
          </p:cNvSpPr>
          <p:nvPr>
            <p:ph type="title"/>
          </p:nvPr>
        </p:nvSpPr>
        <p:spPr>
          <a:xfrm>
            <a:off x="3890829" y="12237"/>
            <a:ext cx="3390905" cy="431646"/>
          </a:xfrm>
        </p:spPr>
        <p:txBody>
          <a:bodyPr>
            <a:noAutofit/>
          </a:bodyPr>
          <a:lstStyle/>
          <a:p>
            <a:r>
              <a:rPr lang="fr-FR" sz="2400" b="1" dirty="0">
                <a:latin typeface="Monotype Corsiva" panose="03010101010201010101" pitchFamily="66" charset="0"/>
              </a:rPr>
              <a:t>La Géométrie au XIXe siècle</a:t>
            </a:r>
          </a:p>
        </p:txBody>
      </p:sp>
      <p:sp>
        <p:nvSpPr>
          <p:cNvPr id="4" name="Espace réservé du contenu 3">
            <a:extLst>
              <a:ext uri="{FF2B5EF4-FFF2-40B4-BE49-F238E27FC236}">
                <a16:creationId xmlns:a16="http://schemas.microsoft.com/office/drawing/2014/main" id="{3D12F616-9E55-4CCF-B3FB-170A76CF600A}"/>
              </a:ext>
            </a:extLst>
          </p:cNvPr>
          <p:cNvSpPr>
            <a:spLocks noGrp="1"/>
          </p:cNvSpPr>
          <p:nvPr>
            <p:ph sz="half" idx="2"/>
          </p:nvPr>
        </p:nvSpPr>
        <p:spPr>
          <a:xfrm>
            <a:off x="175106" y="811452"/>
            <a:ext cx="4166075" cy="6046548"/>
          </a:xfrm>
        </p:spPr>
        <p:txBody>
          <a:bodyPr>
            <a:noAutofit/>
          </a:bodyPr>
          <a:lstStyle/>
          <a:p>
            <a:pPr marL="0" indent="0" algn="just" fontAlgn="base">
              <a:buNone/>
            </a:pPr>
            <a:r>
              <a:rPr lang="fr-CM" dirty="0">
                <a:latin typeface="Monotype Corsiva" panose="03010101010201010101" pitchFamily="66" charset="0"/>
              </a:rPr>
              <a:t>	On a pu qualifier le </a:t>
            </a:r>
            <a:r>
              <a:rPr lang="fr-CM" cap="small" dirty="0">
                <a:latin typeface="Monotype Corsiva" panose="03010101010201010101" pitchFamily="66" charset="0"/>
              </a:rPr>
              <a:t>XIXe</a:t>
            </a:r>
            <a:r>
              <a:rPr lang="fr-CM" dirty="0">
                <a:latin typeface="Monotype Corsiva" panose="03010101010201010101" pitchFamily="66" charset="0"/>
              </a:rPr>
              <a:t> siècle de </a:t>
            </a:r>
            <a:r>
              <a:rPr lang="fr-CM" b="1" dirty="0">
                <a:latin typeface="Monotype Corsiva" panose="03010101010201010101" pitchFamily="66" charset="0"/>
              </a:rPr>
              <a:t>« siècle d'or de la géométrie », </a:t>
            </a:r>
            <a:r>
              <a:rPr lang="fr-CM" dirty="0">
                <a:latin typeface="Monotype Corsiva" panose="03010101010201010101" pitchFamily="66" charset="0"/>
              </a:rPr>
              <a:t>car c’est au cours de ce siècle que les grands problèmes antiques du 5</a:t>
            </a:r>
            <a:r>
              <a:rPr lang="fr-CM" baseline="30000" dirty="0">
                <a:latin typeface="Monotype Corsiva" panose="03010101010201010101" pitchFamily="66" charset="0"/>
              </a:rPr>
              <a:t>e</a:t>
            </a:r>
            <a:r>
              <a:rPr lang="fr-CM" dirty="0">
                <a:latin typeface="Monotype Corsiva" panose="03010101010201010101" pitchFamily="66" charset="0"/>
              </a:rPr>
              <a:t> axiome d'Euclide, de la duplication du cube, trisection de l'angle et quadrature du cercle sont enfin éclaircis.</a:t>
            </a:r>
            <a:r>
              <a:rPr lang="fr-FR" dirty="0">
                <a:latin typeface="Monotype Corsiva" panose="03010101010201010101" pitchFamily="66" charset="0"/>
              </a:rPr>
              <a:t> </a:t>
            </a:r>
            <a:r>
              <a:rPr lang="fr-CM" dirty="0">
                <a:latin typeface="Monotype Corsiva" panose="03010101010201010101" pitchFamily="66" charset="0"/>
              </a:rPr>
              <a:t>On note l'invention de la géométrie projective par Jean-Victor Poncelet qui met la géométrie euclidienne à jour avec le développement des points à l’infini et imaginaires</a:t>
            </a:r>
            <a:r>
              <a:rPr lang="fr-FR" dirty="0">
                <a:latin typeface="Monotype Corsiva" panose="03010101010201010101" pitchFamily="66" charset="0"/>
              </a:rPr>
              <a:t>. </a:t>
            </a:r>
            <a:r>
              <a:rPr lang="fr-CM" dirty="0">
                <a:latin typeface="Monotype Corsiva" panose="03010101010201010101" pitchFamily="66" charset="0"/>
              </a:rPr>
              <a:t>Les méthodes de la géométrie projective font d'abord l'objet d'une certaine méfiance de la part des mathématiciens plus algébristes comme Cauchy, mais au fil des années, elles vont s'imposer comme « l'une des manières de pratiquer la géométrie ».</a:t>
            </a:r>
            <a:r>
              <a:rPr lang="fr-FR" dirty="0">
                <a:latin typeface="Monotype Corsiva" panose="03010101010201010101" pitchFamily="66" charset="0"/>
              </a:rPr>
              <a:t> </a:t>
            </a:r>
            <a:r>
              <a:rPr lang="fr-CM" dirty="0">
                <a:latin typeface="Monotype Corsiva" panose="03010101010201010101" pitchFamily="66" charset="0"/>
              </a:rPr>
              <a:t>Dans la seconde moitié du siècle, le français Laguerre, et surtout l’anglais Cayley généralisent la géométrie euclidienne à la géométrie projective qui inclue en plus les géométries elliptiques et hyperboliques.</a:t>
            </a:r>
            <a:endParaRPr lang="fr-FR" dirty="0">
              <a:latin typeface="Monotype Corsiva" panose="03010101010201010101" pitchFamily="66" charset="0"/>
            </a:endParaRPr>
          </a:p>
          <a:p>
            <a:pPr algn="just"/>
            <a:endParaRPr lang="fr-FR" dirty="0">
              <a:latin typeface="Monotype Corsiva" panose="03010101010201010101" pitchFamily="66" charset="0"/>
            </a:endParaRPr>
          </a:p>
          <a:p>
            <a:pPr algn="just"/>
            <a:endParaRPr lang="fr-FR" dirty="0">
              <a:latin typeface="Monotype Corsiva" panose="03010101010201010101" pitchFamily="66" charset="0"/>
            </a:endParaRPr>
          </a:p>
        </p:txBody>
      </p:sp>
      <p:sp>
        <p:nvSpPr>
          <p:cNvPr id="5" name="Espace réservé du texte 4">
            <a:extLst>
              <a:ext uri="{FF2B5EF4-FFF2-40B4-BE49-F238E27FC236}">
                <a16:creationId xmlns:a16="http://schemas.microsoft.com/office/drawing/2014/main" id="{184239EE-76C9-40B3-B70D-F4955E45CAFC}"/>
              </a:ext>
            </a:extLst>
          </p:cNvPr>
          <p:cNvSpPr>
            <a:spLocks noGrp="1"/>
          </p:cNvSpPr>
          <p:nvPr>
            <p:ph type="body" sz="quarter" idx="3"/>
          </p:nvPr>
        </p:nvSpPr>
        <p:spPr>
          <a:xfrm>
            <a:off x="4131526" y="379806"/>
            <a:ext cx="2909509" cy="431646"/>
          </a:xfrm>
        </p:spPr>
        <p:txBody>
          <a:bodyPr>
            <a:normAutofit/>
          </a:bodyPr>
          <a:lstStyle/>
          <a:p>
            <a:r>
              <a:rPr lang="fr-FR" sz="2200" dirty="0">
                <a:latin typeface="Monotype Corsiva" panose="03010101010201010101" pitchFamily="66" charset="0"/>
              </a:rPr>
              <a:t>Géométrie  non-euclidienne</a:t>
            </a:r>
          </a:p>
        </p:txBody>
      </p:sp>
      <p:sp>
        <p:nvSpPr>
          <p:cNvPr id="6" name="Espace réservé du contenu 5">
            <a:extLst>
              <a:ext uri="{FF2B5EF4-FFF2-40B4-BE49-F238E27FC236}">
                <a16:creationId xmlns:a16="http://schemas.microsoft.com/office/drawing/2014/main" id="{7209E036-52E7-4D0F-9B1D-058477AABFB3}"/>
              </a:ext>
            </a:extLst>
          </p:cNvPr>
          <p:cNvSpPr>
            <a:spLocks noGrp="1"/>
          </p:cNvSpPr>
          <p:nvPr>
            <p:ph sz="quarter" idx="4"/>
          </p:nvPr>
        </p:nvSpPr>
        <p:spPr>
          <a:xfrm>
            <a:off x="4341181" y="791763"/>
            <a:ext cx="2633238" cy="5865635"/>
          </a:xfrm>
        </p:spPr>
        <p:txBody>
          <a:bodyPr>
            <a:noAutofit/>
          </a:bodyPr>
          <a:lstStyle/>
          <a:p>
            <a:pPr marL="0" indent="0" algn="just" fontAlgn="base">
              <a:buNone/>
            </a:pPr>
            <a:r>
              <a:rPr lang="fr-CM" dirty="0">
                <a:latin typeface="Monotype Corsiva" panose="03010101010201010101" pitchFamily="66" charset="0"/>
              </a:rPr>
              <a:t>	Il fallut attendre les travaux de Gauss pour découvrir une nouvelle géométrie dite non euclidienne où le 5è postulat d’Euclide stipulant : «Par un point donné, on peut mener une et une seule parallèle à une droite donnée » serait faux. Ce ne fut qu’à la mort de Gauss que ses travaux furent découverts car il avait peur de son vivant du choc qu’il créerait.</a:t>
            </a:r>
            <a:r>
              <a:rPr lang="fr-FR" dirty="0">
                <a:latin typeface="Monotype Corsiva" panose="03010101010201010101" pitchFamily="66" charset="0"/>
              </a:rPr>
              <a:t> </a:t>
            </a:r>
            <a:r>
              <a:rPr lang="fr-CM" dirty="0">
                <a:latin typeface="Monotype Corsiva" panose="03010101010201010101" pitchFamily="66" charset="0"/>
              </a:rPr>
              <a:t>Riemann, ancien élève de Gauss, invente peu après un autre type de géométrie non euclidienne liée cette fois à la géométrie différentielle. </a:t>
            </a:r>
            <a:endParaRPr lang="fr-FR" dirty="0">
              <a:latin typeface="Monotype Corsiva" panose="03010101010201010101" pitchFamily="66" charset="0"/>
            </a:endParaRPr>
          </a:p>
          <a:p>
            <a:pPr algn="just"/>
            <a:endParaRPr lang="fr-FR" dirty="0">
              <a:latin typeface="Monotype Corsiva" panose="03010101010201010101" pitchFamily="66" charset="0"/>
            </a:endParaRPr>
          </a:p>
        </p:txBody>
      </p:sp>
      <p:sp>
        <p:nvSpPr>
          <p:cNvPr id="10" name="Espace réservé du texte 9">
            <a:extLst>
              <a:ext uri="{FF2B5EF4-FFF2-40B4-BE49-F238E27FC236}">
                <a16:creationId xmlns:a16="http://schemas.microsoft.com/office/drawing/2014/main" id="{F3322D37-5C25-4CAE-A139-475B20D91C91}"/>
              </a:ext>
            </a:extLst>
          </p:cNvPr>
          <p:cNvSpPr>
            <a:spLocks noGrp="1"/>
          </p:cNvSpPr>
          <p:nvPr>
            <p:ph type="body" sz="quarter" idx="13"/>
          </p:nvPr>
        </p:nvSpPr>
        <p:spPr>
          <a:xfrm>
            <a:off x="7506545" y="379806"/>
            <a:ext cx="4243526" cy="411957"/>
          </a:xfrm>
        </p:spPr>
        <p:txBody>
          <a:bodyPr>
            <a:noAutofit/>
          </a:bodyPr>
          <a:lstStyle/>
          <a:p>
            <a:r>
              <a:rPr lang="fr-FR" sz="2200" dirty="0">
                <a:latin typeface="Monotype Corsiva" panose="03010101010201010101" pitchFamily="66" charset="0"/>
              </a:rPr>
              <a:t>Géométrie Analytique &amp; Différentielle</a:t>
            </a:r>
          </a:p>
        </p:txBody>
      </p:sp>
      <p:sp>
        <p:nvSpPr>
          <p:cNvPr id="11" name="Espace réservé du contenu 10">
            <a:extLst>
              <a:ext uri="{FF2B5EF4-FFF2-40B4-BE49-F238E27FC236}">
                <a16:creationId xmlns:a16="http://schemas.microsoft.com/office/drawing/2014/main" id="{D88251F8-83F3-46C1-AAA2-3A27AB5860DF}"/>
              </a:ext>
            </a:extLst>
          </p:cNvPr>
          <p:cNvSpPr>
            <a:spLocks noGrp="1"/>
          </p:cNvSpPr>
          <p:nvPr>
            <p:ph sz="quarter" idx="14"/>
          </p:nvPr>
        </p:nvSpPr>
        <p:spPr>
          <a:xfrm>
            <a:off x="6974419" y="791763"/>
            <a:ext cx="5216328" cy="3684588"/>
          </a:xfrm>
        </p:spPr>
        <p:txBody>
          <a:bodyPr>
            <a:noAutofit/>
          </a:bodyPr>
          <a:lstStyle/>
          <a:p>
            <a:pPr marL="0" indent="0" algn="just" fontAlgn="base">
              <a:buNone/>
            </a:pPr>
            <a:r>
              <a:rPr lang="fr-CM" dirty="0">
                <a:latin typeface="Monotype Corsiva" panose="03010101010201010101" pitchFamily="66" charset="0"/>
              </a:rPr>
              <a:t>	La géométrie analytique continue de se développer. Les découvertes fondamentales du début du siècle sur la résolution des équations polynomiales (avec Galois &amp; Abel), et ceux de Gauss portant sur la constructibilité de certains polygones à la règle et au compas permettent à Pierre-Laurent Wantzel d'énoncer en 1837 un théorème portant sur la non-constructibilité à la règle et au compas. L'impossibilité de la duplication du cube et celle de la trisection de l'angle en résultent. Ce sont également des considérations algébriques qui permettront à Lindemann de démontrer la transcendance du nombre Pi, confirmant ainsi rigoureusement l'impossibilité de la quadrature du cercle.</a:t>
            </a:r>
            <a:r>
              <a:rPr lang="fr-FR" dirty="0">
                <a:latin typeface="Monotype Corsiva" panose="03010101010201010101" pitchFamily="66" charset="0"/>
              </a:rPr>
              <a:t> </a:t>
            </a:r>
            <a:r>
              <a:rPr lang="fr-CM" dirty="0">
                <a:latin typeface="Monotype Corsiva" panose="03010101010201010101" pitchFamily="66" charset="0"/>
              </a:rPr>
              <a:t>La géométrie différentielle va connaître un développement extraordinaire notamment avec la possibilité découverte et développée par Gauss et Riemann, d'écrire les équations des surfaces sous forme de systèmes de deux équations à deux inconnues. Elle permettra de développer une géométrie intrinsèque aux surfaces. On notera que c'est la géométrie différentielle qui permettra à Einstein de développer sa théorie de la relativité générale.</a:t>
            </a:r>
            <a:endParaRPr lang="fr-FR" dirty="0">
              <a:latin typeface="Monotype Corsiva" panose="03010101010201010101" pitchFamily="66" charset="0"/>
            </a:endParaRPr>
          </a:p>
        </p:txBody>
      </p:sp>
      <p:sp>
        <p:nvSpPr>
          <p:cNvPr id="12" name="Espace réservé du numéro de diapositive 5">
            <a:extLst>
              <a:ext uri="{FF2B5EF4-FFF2-40B4-BE49-F238E27FC236}">
                <a16:creationId xmlns:a16="http://schemas.microsoft.com/office/drawing/2014/main" id="{D471E872-76E1-4201-83E1-B6E59FA18033}"/>
              </a:ext>
            </a:extLst>
          </p:cNvPr>
          <p:cNvSpPr txBox="1">
            <a:spLocks/>
          </p:cNvSpPr>
          <p:nvPr/>
        </p:nvSpPr>
        <p:spPr>
          <a:xfrm>
            <a:off x="11683014" y="6604986"/>
            <a:ext cx="508986" cy="27668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dirty="0">
                <a:solidFill>
                  <a:schemeClr val="tx1"/>
                </a:solidFill>
                <a:latin typeface="Monotype Corsiva" panose="03010101010201010101" pitchFamily="66" charset="0"/>
              </a:rPr>
              <a:t> </a:t>
            </a:r>
            <a:fld id="{D76B855D-E9CC-4FF8-AD85-6CDC7B89A0DE}" type="slidenum">
              <a:rPr lang="fr-FR" sz="2200" smtClean="0">
                <a:solidFill>
                  <a:schemeClr val="tx1"/>
                </a:solidFill>
                <a:latin typeface="Monotype Corsiva" panose="03010101010201010101" pitchFamily="66" charset="0"/>
              </a:rPr>
              <a:pPr>
                <a:defRPr/>
              </a:pPr>
              <a:t>11</a:t>
            </a:fld>
            <a:endParaRPr lang="fr-FR" sz="2200" dirty="0">
              <a:solidFill>
                <a:schemeClr val="tx1"/>
              </a:solidFill>
              <a:latin typeface="Monotype Corsiva" panose="03010101010201010101" pitchFamily="66" charset="0"/>
            </a:endParaRPr>
          </a:p>
        </p:txBody>
      </p:sp>
      <p:sp>
        <p:nvSpPr>
          <p:cNvPr id="15" name="Espace réservé du texte 4">
            <a:extLst>
              <a:ext uri="{FF2B5EF4-FFF2-40B4-BE49-F238E27FC236}">
                <a16:creationId xmlns:a16="http://schemas.microsoft.com/office/drawing/2014/main" id="{F7498965-787F-4234-983F-653A0C092702}"/>
              </a:ext>
            </a:extLst>
          </p:cNvPr>
          <p:cNvSpPr txBox="1">
            <a:spLocks/>
          </p:cNvSpPr>
          <p:nvPr/>
        </p:nvSpPr>
        <p:spPr>
          <a:xfrm>
            <a:off x="850261" y="379806"/>
            <a:ext cx="2619279" cy="431646"/>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200" dirty="0">
                <a:latin typeface="Monotype Corsiva" panose="03010101010201010101" pitchFamily="66" charset="0"/>
              </a:rPr>
              <a:t>Géométrie  Projective</a:t>
            </a:r>
          </a:p>
        </p:txBody>
      </p:sp>
    </p:spTree>
    <p:extLst>
      <p:ext uri="{BB962C8B-B14F-4D97-AF65-F5344CB8AC3E}">
        <p14:creationId xmlns:p14="http://schemas.microsoft.com/office/powerpoint/2010/main" val="35046847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45C6405-9D6C-48F5-9EFB-4CF1F3193EA4}"/>
              </a:ext>
            </a:extLst>
          </p:cNvPr>
          <p:cNvSpPr>
            <a:spLocks noGrp="1"/>
          </p:cNvSpPr>
          <p:nvPr>
            <p:ph type="title"/>
          </p:nvPr>
        </p:nvSpPr>
        <p:spPr>
          <a:xfrm>
            <a:off x="189576" y="377745"/>
            <a:ext cx="6556373" cy="664671"/>
          </a:xfrm>
        </p:spPr>
        <p:txBody>
          <a:bodyPr rtlCol="0">
            <a:normAutofit fontScale="90000"/>
          </a:bodyPr>
          <a:lstStyle/>
          <a:p>
            <a:pPr rtl="0"/>
            <a:r>
              <a:rPr lang="fr-FR" b="1" dirty="0">
                <a:latin typeface="Monotype Corsiva" panose="03010101010201010101" pitchFamily="66" charset="0"/>
              </a:rPr>
              <a:t>Géométrie du XXe siècle à nos jours</a:t>
            </a:r>
          </a:p>
        </p:txBody>
      </p:sp>
      <p:sp>
        <p:nvSpPr>
          <p:cNvPr id="5" name="Espace réservé du contenu 4">
            <a:extLst>
              <a:ext uri="{FF2B5EF4-FFF2-40B4-BE49-F238E27FC236}">
                <a16:creationId xmlns:a16="http://schemas.microsoft.com/office/drawing/2014/main" id="{42E3A3A9-5E96-4CDD-A971-9C272EFD97D9}"/>
              </a:ext>
            </a:extLst>
          </p:cNvPr>
          <p:cNvSpPr>
            <a:spLocks noGrp="1"/>
          </p:cNvSpPr>
          <p:nvPr>
            <p:ph idx="1"/>
          </p:nvPr>
        </p:nvSpPr>
        <p:spPr>
          <a:xfrm>
            <a:off x="452761" y="1042416"/>
            <a:ext cx="5550847" cy="5889838"/>
          </a:xfrm>
        </p:spPr>
        <p:txBody>
          <a:bodyPr rtlCol="0">
            <a:noAutofit/>
          </a:bodyPr>
          <a:lstStyle/>
          <a:p>
            <a:pPr algn="just" fontAlgn="base"/>
            <a:r>
              <a:rPr lang="fr-CM" sz="2200" dirty="0">
                <a:latin typeface="Monotype Corsiva" panose="03010101010201010101" pitchFamily="66" charset="0"/>
              </a:rPr>
              <a:t>	Au </a:t>
            </a:r>
            <a:r>
              <a:rPr lang="fr-CM" sz="2200" cap="small" dirty="0">
                <a:latin typeface="Monotype Corsiva" panose="03010101010201010101" pitchFamily="66" charset="0"/>
              </a:rPr>
              <a:t>XXe</a:t>
            </a:r>
            <a:r>
              <a:rPr lang="fr-CM" sz="2200" dirty="0">
                <a:latin typeface="Monotype Corsiva" panose="03010101010201010101" pitchFamily="66" charset="0"/>
              </a:rPr>
              <a:t> siècle, la division traditionnelle des mathématiques en arithmétique, algèbre, analyse, et géométrie a explosé, en sorte que la définition même de ce qui pourrait être appelé « travaux de géométrie » est pour partie sujette à débats tant les branches de la géométrie que sont la géométrie différentielle, analytique, projective, euclidienne et la topologie divergent les unes des autres.</a:t>
            </a:r>
            <a:r>
              <a:rPr lang="fr-FR" sz="2200" dirty="0">
                <a:latin typeface="Monotype Corsiva" panose="03010101010201010101" pitchFamily="66" charset="0"/>
              </a:rPr>
              <a:t> </a:t>
            </a:r>
            <a:r>
              <a:rPr lang="fr-CM" sz="2200" dirty="0">
                <a:latin typeface="Monotype Corsiva" panose="03010101010201010101" pitchFamily="66" charset="0"/>
              </a:rPr>
              <a:t>Durant ce siècle, des mathématiciens comme David Hilbert et Georg Cantor, vu l’importance de la géométrie euclidienne, ont retenté de l’axiomatiser en s’attaquant particulièrement au 5è axiome d’Euclide. On note également le russe Grigori Perelman, qui vainquit la conjecture de Poincaré en Topologie en 2003. </a:t>
            </a:r>
            <a:endParaRPr lang="fr-FR" sz="2200" dirty="0">
              <a:latin typeface="Monotype Corsiva" panose="03010101010201010101" pitchFamily="66" charset="0"/>
            </a:endParaRPr>
          </a:p>
          <a:p>
            <a:pPr algn="just" fontAlgn="base"/>
            <a:r>
              <a:rPr lang="fr-CM" sz="2200" dirty="0">
                <a:latin typeface="Monotype Corsiva" panose="03010101010201010101" pitchFamily="66" charset="0"/>
              </a:rPr>
              <a:t>	Depuis lors, les branches nouvellement nées comme la topologie ont connues des avancées majeures avec les théories des graphes, des </a:t>
            </a:r>
            <a:r>
              <a:rPr lang="fr-FR" sz="2200" dirty="0">
                <a:latin typeface="Monotype Corsiva" panose="03010101010201010101" pitchFamily="66" charset="0"/>
              </a:rPr>
              <a:t>nœuds…</a:t>
            </a:r>
          </a:p>
        </p:txBody>
      </p:sp>
      <p:pic>
        <p:nvPicPr>
          <p:cNvPr id="9" name="Espace réservé d’image 8">
            <a:extLst>
              <a:ext uri="{FF2B5EF4-FFF2-40B4-BE49-F238E27FC236}">
                <a16:creationId xmlns:a16="http://schemas.microsoft.com/office/drawing/2014/main" id="{BB00A97C-4C32-42DA-9838-F3D341AB0DCC}"/>
              </a:ext>
            </a:extLst>
          </p:cNvPr>
          <p:cNvPicPr>
            <a:picLocks noGrp="1" noChangeAspect="1"/>
          </p:cNvPicPr>
          <p:nvPr>
            <p:ph type="pic" sz="quarter" idx="13"/>
          </p:nvPr>
        </p:nvPicPr>
        <p:blipFill>
          <a:blip r:embed="rId3"/>
          <a:srcRect/>
          <a:stretch/>
        </p:blipFill>
        <p:spPr>
          <a:xfrm>
            <a:off x="6745949" y="-1"/>
            <a:ext cx="3318726" cy="3007909"/>
          </a:xfrm>
          <a:prstGeom prst="rect">
            <a:avLst/>
          </a:prstGeom>
          <a:ln>
            <a:noFill/>
          </a:ln>
          <a:effectLst>
            <a:outerShdw blurRad="190500" algn="tl" rotWithShape="0">
              <a:srgbClr val="000000">
                <a:alpha val="70000"/>
              </a:srgbClr>
            </a:outerShdw>
          </a:effectLst>
        </p:spPr>
      </p:pic>
      <p:pic>
        <p:nvPicPr>
          <p:cNvPr id="11" name="Espace réservé d’image 10">
            <a:extLst>
              <a:ext uri="{FF2B5EF4-FFF2-40B4-BE49-F238E27FC236}">
                <a16:creationId xmlns:a16="http://schemas.microsoft.com/office/drawing/2014/main" id="{89C83A94-9400-40DF-9CE0-AFEB3C742BC3}"/>
              </a:ext>
            </a:extLst>
          </p:cNvPr>
          <p:cNvPicPr>
            <a:picLocks noGrp="1" noChangeAspect="1"/>
          </p:cNvPicPr>
          <p:nvPr>
            <p:ph type="pic" sz="quarter" idx="14"/>
          </p:nvPr>
        </p:nvPicPr>
        <p:blipFill>
          <a:blip r:embed="rId4"/>
          <a:srcRect/>
          <a:stretch/>
        </p:blipFill>
        <p:spPr>
          <a:xfrm>
            <a:off x="9142807" y="2727729"/>
            <a:ext cx="3049193" cy="4130271"/>
          </a:xfrm>
        </p:spPr>
      </p:pic>
      <p:sp>
        <p:nvSpPr>
          <p:cNvPr id="10" name="Espace réservé du numéro de diapositive 5">
            <a:extLst>
              <a:ext uri="{FF2B5EF4-FFF2-40B4-BE49-F238E27FC236}">
                <a16:creationId xmlns:a16="http://schemas.microsoft.com/office/drawing/2014/main" id="{E414ACE5-B018-406E-8DB8-692410344735}"/>
              </a:ext>
            </a:extLst>
          </p:cNvPr>
          <p:cNvSpPr txBox="1">
            <a:spLocks/>
          </p:cNvSpPr>
          <p:nvPr/>
        </p:nvSpPr>
        <p:spPr>
          <a:xfrm>
            <a:off x="11766306" y="6492875"/>
            <a:ext cx="425694" cy="36512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12</a:t>
            </a:fld>
            <a:endParaRPr lang="fr-FR" sz="1400" b="1" dirty="0">
              <a:solidFill>
                <a:schemeClr val="tx1"/>
              </a:solidFill>
              <a:latin typeface="Calibri" panose="020F0502020204030204"/>
            </a:endParaRPr>
          </a:p>
        </p:txBody>
      </p:sp>
      <p:sp>
        <p:nvSpPr>
          <p:cNvPr id="2" name="ZoneTexte 1">
            <a:extLst>
              <a:ext uri="{FF2B5EF4-FFF2-40B4-BE49-F238E27FC236}">
                <a16:creationId xmlns:a16="http://schemas.microsoft.com/office/drawing/2014/main" id="{30746700-32C1-4A6A-89B4-6772E5FB903D}"/>
              </a:ext>
            </a:extLst>
          </p:cNvPr>
          <p:cNvSpPr txBox="1"/>
          <p:nvPr/>
        </p:nvSpPr>
        <p:spPr>
          <a:xfrm>
            <a:off x="7509410" y="6428017"/>
            <a:ext cx="1970103" cy="461665"/>
          </a:xfrm>
          <a:prstGeom prst="rect">
            <a:avLst/>
          </a:prstGeom>
          <a:noFill/>
        </p:spPr>
        <p:txBody>
          <a:bodyPr wrap="square" rtlCol="0">
            <a:spAutoFit/>
          </a:bodyPr>
          <a:lstStyle/>
          <a:p>
            <a:r>
              <a:rPr lang="fr-FR" sz="2400" dirty="0">
                <a:latin typeface="Monotype Corsiva" panose="03010101010201010101" pitchFamily="66" charset="0"/>
              </a:rPr>
              <a:t>David Hilbert</a:t>
            </a:r>
            <a:endParaRPr lang="en-GB" sz="2400" dirty="0">
              <a:latin typeface="Monotype Corsiva" panose="03010101010201010101" pitchFamily="66" charset="0"/>
            </a:endParaRPr>
          </a:p>
        </p:txBody>
      </p:sp>
      <p:sp>
        <p:nvSpPr>
          <p:cNvPr id="15" name="ZoneTexte 14">
            <a:extLst>
              <a:ext uri="{FF2B5EF4-FFF2-40B4-BE49-F238E27FC236}">
                <a16:creationId xmlns:a16="http://schemas.microsoft.com/office/drawing/2014/main" id="{72672977-7BB9-43BF-A696-86D81DD6EB50}"/>
              </a:ext>
            </a:extLst>
          </p:cNvPr>
          <p:cNvSpPr txBox="1"/>
          <p:nvPr/>
        </p:nvSpPr>
        <p:spPr>
          <a:xfrm>
            <a:off x="7307275" y="2792918"/>
            <a:ext cx="2949259" cy="461665"/>
          </a:xfrm>
          <a:prstGeom prst="rect">
            <a:avLst/>
          </a:prstGeom>
          <a:noFill/>
        </p:spPr>
        <p:txBody>
          <a:bodyPr wrap="square" rtlCol="0">
            <a:spAutoFit/>
          </a:bodyPr>
          <a:lstStyle/>
          <a:p>
            <a:r>
              <a:rPr lang="fr-FR" sz="2400" dirty="0">
                <a:latin typeface="Monotype Corsiva" panose="03010101010201010101" pitchFamily="66" charset="0"/>
              </a:rPr>
              <a:t>Géométrie Hyperbolique</a:t>
            </a:r>
            <a:endParaRPr lang="en-GB" sz="2400" dirty="0">
              <a:latin typeface="Monotype Corsiva" panose="03010101010201010101" pitchFamily="66" charset="0"/>
            </a:endParaRPr>
          </a:p>
        </p:txBody>
      </p:sp>
    </p:spTree>
    <p:extLst>
      <p:ext uri="{BB962C8B-B14F-4D97-AF65-F5344CB8AC3E}">
        <p14:creationId xmlns:p14="http://schemas.microsoft.com/office/powerpoint/2010/main" val="178397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DE39-A4AE-4159-856D-AF841A3D16B6}"/>
              </a:ext>
            </a:extLst>
          </p:cNvPr>
          <p:cNvSpPr>
            <a:spLocks noGrp="1"/>
          </p:cNvSpPr>
          <p:nvPr>
            <p:ph type="title"/>
          </p:nvPr>
        </p:nvSpPr>
        <p:spPr/>
        <p:txBody>
          <a:bodyPr>
            <a:normAutofit fontScale="90000"/>
          </a:bodyPr>
          <a:lstStyle/>
          <a:p>
            <a:r>
              <a:rPr lang="fr-FR" dirty="0"/>
              <a:t>OBJECTIFS &amp; RÔLE DE LA GEOMETRIE</a:t>
            </a:r>
          </a:p>
        </p:txBody>
      </p:sp>
      <p:sp>
        <p:nvSpPr>
          <p:cNvPr id="3" name="Espace réservé du texte 2">
            <a:extLst>
              <a:ext uri="{FF2B5EF4-FFF2-40B4-BE49-F238E27FC236}">
                <a16:creationId xmlns:a16="http://schemas.microsoft.com/office/drawing/2014/main" id="{227A9D77-3F96-4923-B07D-527E6B6C43BA}"/>
              </a:ext>
            </a:extLst>
          </p:cNvPr>
          <p:cNvSpPr>
            <a:spLocks noGrp="1"/>
          </p:cNvSpPr>
          <p:nvPr>
            <p:ph type="body" idx="1"/>
          </p:nvPr>
        </p:nvSpPr>
        <p:spPr/>
        <p:txBody>
          <a:bodyPr/>
          <a:lstStyle/>
          <a:p>
            <a:r>
              <a:rPr lang="fr-FR" dirty="0"/>
              <a:t>«  La nature est une sphère infinie dont le centre est partout et la circonférence nulle part.» Blaise Pascal</a:t>
            </a:r>
          </a:p>
        </p:txBody>
      </p:sp>
      <p:sp>
        <p:nvSpPr>
          <p:cNvPr id="4" name="Espace réservé du numéro de diapositive 5">
            <a:extLst>
              <a:ext uri="{FF2B5EF4-FFF2-40B4-BE49-F238E27FC236}">
                <a16:creationId xmlns:a16="http://schemas.microsoft.com/office/drawing/2014/main" id="{88A5AC4C-B842-43F1-A071-4CAD6CEABD2E}"/>
              </a:ext>
            </a:extLst>
          </p:cNvPr>
          <p:cNvSpPr txBox="1">
            <a:spLocks/>
          </p:cNvSpPr>
          <p:nvPr/>
        </p:nvSpPr>
        <p:spPr>
          <a:xfrm>
            <a:off x="11775184" y="6563731"/>
            <a:ext cx="416816" cy="29426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13</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34246963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re 22">
            <a:extLst>
              <a:ext uri="{FF2B5EF4-FFF2-40B4-BE49-F238E27FC236}">
                <a16:creationId xmlns:a16="http://schemas.microsoft.com/office/drawing/2014/main" id="{1679CB1A-7120-4A96-9E7B-DBD161C68814}"/>
              </a:ext>
            </a:extLst>
          </p:cNvPr>
          <p:cNvSpPr>
            <a:spLocks noGrp="1"/>
          </p:cNvSpPr>
          <p:nvPr>
            <p:ph type="title"/>
          </p:nvPr>
        </p:nvSpPr>
        <p:spPr>
          <a:xfrm>
            <a:off x="2820988" y="25133"/>
            <a:ext cx="5332412" cy="823912"/>
          </a:xfrm>
        </p:spPr>
        <p:txBody>
          <a:bodyPr/>
          <a:lstStyle/>
          <a:p>
            <a:r>
              <a:rPr lang="fr-FR" b="1" dirty="0">
                <a:latin typeface="Monotype Corsiva" panose="03010101010201010101" pitchFamily="66" charset="0"/>
              </a:rPr>
              <a:t>Objectifs  de la Géométrie</a:t>
            </a:r>
          </a:p>
        </p:txBody>
      </p:sp>
      <p:sp>
        <p:nvSpPr>
          <p:cNvPr id="19" name="Espace réservé du texte 18">
            <a:extLst>
              <a:ext uri="{FF2B5EF4-FFF2-40B4-BE49-F238E27FC236}">
                <a16:creationId xmlns:a16="http://schemas.microsoft.com/office/drawing/2014/main" id="{29C64574-DABC-4A8E-900F-06DAF0519093}"/>
              </a:ext>
            </a:extLst>
          </p:cNvPr>
          <p:cNvSpPr>
            <a:spLocks noGrp="1"/>
          </p:cNvSpPr>
          <p:nvPr>
            <p:ph type="body" idx="1"/>
          </p:nvPr>
        </p:nvSpPr>
        <p:spPr>
          <a:xfrm>
            <a:off x="1514493" y="908017"/>
            <a:ext cx="2968732" cy="476517"/>
          </a:xfrm>
        </p:spPr>
        <p:txBody>
          <a:bodyPr>
            <a:normAutofit/>
          </a:bodyPr>
          <a:lstStyle/>
          <a:p>
            <a:pPr algn="ctr"/>
            <a:r>
              <a:rPr lang="fr-FR" dirty="0">
                <a:latin typeface="Monotype Corsiva" panose="03010101010201010101" pitchFamily="66" charset="0"/>
              </a:rPr>
              <a:t>Au Commencement…</a:t>
            </a:r>
          </a:p>
        </p:txBody>
      </p:sp>
      <p:sp>
        <p:nvSpPr>
          <p:cNvPr id="20" name="Espace réservé du contenu 19">
            <a:extLst>
              <a:ext uri="{FF2B5EF4-FFF2-40B4-BE49-F238E27FC236}">
                <a16:creationId xmlns:a16="http://schemas.microsoft.com/office/drawing/2014/main" id="{83DC38C9-5AFE-4738-B234-247A836A9137}"/>
              </a:ext>
            </a:extLst>
          </p:cNvPr>
          <p:cNvSpPr>
            <a:spLocks noGrp="1"/>
          </p:cNvSpPr>
          <p:nvPr>
            <p:ph sz="half" idx="2"/>
          </p:nvPr>
        </p:nvSpPr>
        <p:spPr>
          <a:xfrm>
            <a:off x="564580" y="1679452"/>
            <a:ext cx="5157787" cy="3684588"/>
          </a:xfrm>
        </p:spPr>
        <p:txBody>
          <a:bodyPr>
            <a:normAutofit fontScale="92500" lnSpcReduction="20000"/>
          </a:bodyPr>
          <a:lstStyle/>
          <a:p>
            <a:pPr marL="0" indent="0" algn="just">
              <a:buNone/>
            </a:pPr>
            <a:r>
              <a:rPr lang="fr-FR" dirty="0">
                <a:latin typeface="Monotype Corsiva" panose="03010101010201010101" pitchFamily="66" charset="0"/>
              </a:rPr>
              <a:t>La géométrie fut mise sur pied :</a:t>
            </a:r>
          </a:p>
          <a:p>
            <a:pPr algn="just"/>
            <a:r>
              <a:rPr lang="fr-FR" dirty="0">
                <a:latin typeface="Monotype Corsiva" panose="03010101010201010101" pitchFamily="66" charset="0"/>
              </a:rPr>
              <a:t>Par les Egyptiens avec pour objectif de leur permettre d’arpenter, d’estimer les dimensions des terrains transformés par les crues du Nil: puis  de réaliser des œuvres architecturales et de décrire les trajectoires des astres.</a:t>
            </a:r>
          </a:p>
          <a:p>
            <a:pPr algn="just"/>
            <a:r>
              <a:rPr lang="fr-FR" dirty="0">
                <a:latin typeface="Monotype Corsiva" panose="03010101010201010101" pitchFamily="66" charset="0"/>
              </a:rPr>
              <a:t>Par les babyloniens en vue de calculer les longueurs comme la diagonale d’un carré.</a:t>
            </a:r>
          </a:p>
          <a:p>
            <a:pPr algn="just"/>
            <a:r>
              <a:rPr lang="fr-FR" dirty="0">
                <a:latin typeface="Monotype Corsiva" panose="03010101010201010101" pitchFamily="66" charset="0"/>
              </a:rPr>
              <a:t>Par les grecs pour étudier les propriétés des courbes, surfaces et solides.</a:t>
            </a:r>
          </a:p>
          <a:p>
            <a:pPr algn="just"/>
            <a:r>
              <a:rPr lang="fr-FR" dirty="0">
                <a:latin typeface="Monotype Corsiva" panose="03010101010201010101" pitchFamily="66" charset="0"/>
              </a:rPr>
              <a:t>Par les indiens et les chinois pour explorer les propriétés des triangles.</a:t>
            </a:r>
          </a:p>
        </p:txBody>
      </p:sp>
      <p:sp>
        <p:nvSpPr>
          <p:cNvPr id="21" name="Espace réservé du texte 20">
            <a:extLst>
              <a:ext uri="{FF2B5EF4-FFF2-40B4-BE49-F238E27FC236}">
                <a16:creationId xmlns:a16="http://schemas.microsoft.com/office/drawing/2014/main" id="{60B8F4A0-E9DE-4EE7-B9FD-7A7C6B5BA710}"/>
              </a:ext>
            </a:extLst>
          </p:cNvPr>
          <p:cNvSpPr>
            <a:spLocks noGrp="1"/>
          </p:cNvSpPr>
          <p:nvPr>
            <p:ph type="body" sz="quarter" idx="3"/>
          </p:nvPr>
        </p:nvSpPr>
        <p:spPr>
          <a:xfrm>
            <a:off x="6846904" y="908017"/>
            <a:ext cx="2983352" cy="476517"/>
          </a:xfrm>
        </p:spPr>
        <p:txBody>
          <a:bodyPr>
            <a:normAutofit/>
          </a:bodyPr>
          <a:lstStyle/>
          <a:p>
            <a:pPr algn="ctr"/>
            <a:r>
              <a:rPr lang="fr-FR" dirty="0">
                <a:latin typeface="Monotype Corsiva" panose="03010101010201010101" pitchFamily="66" charset="0"/>
              </a:rPr>
              <a:t>Avec le temps…</a:t>
            </a:r>
          </a:p>
        </p:txBody>
      </p:sp>
      <p:sp>
        <p:nvSpPr>
          <p:cNvPr id="22" name="Espace réservé du contenu 21">
            <a:extLst>
              <a:ext uri="{FF2B5EF4-FFF2-40B4-BE49-F238E27FC236}">
                <a16:creationId xmlns:a16="http://schemas.microsoft.com/office/drawing/2014/main" id="{C8D10A0A-2FE3-48D6-A08B-91751AA32D18}"/>
              </a:ext>
            </a:extLst>
          </p:cNvPr>
          <p:cNvSpPr>
            <a:spLocks noGrp="1"/>
          </p:cNvSpPr>
          <p:nvPr>
            <p:ph sz="quarter" idx="4"/>
          </p:nvPr>
        </p:nvSpPr>
        <p:spPr>
          <a:xfrm>
            <a:off x="5896992" y="1679452"/>
            <a:ext cx="5183188" cy="3684588"/>
          </a:xfrm>
        </p:spPr>
        <p:txBody>
          <a:bodyPr>
            <a:normAutofit fontScale="92500" lnSpcReduction="20000"/>
          </a:bodyPr>
          <a:lstStyle/>
          <a:p>
            <a:pPr algn="just"/>
            <a:r>
              <a:rPr lang="fr-FR" dirty="0">
                <a:latin typeface="Monotype Corsiva" panose="03010101010201010101" pitchFamily="66" charset="0"/>
              </a:rPr>
              <a:t>La géométrie euclidienne a gardé les mêmes objectifs qu’à la base sauf que ceux-ci se sont généralisés à l’étude des hyper-espaces.</a:t>
            </a:r>
          </a:p>
          <a:p>
            <a:pPr algn="just"/>
            <a:r>
              <a:rPr lang="fr-FR" dirty="0">
                <a:latin typeface="Monotype Corsiva" panose="03010101010201010101" pitchFamily="66" charset="0"/>
              </a:rPr>
              <a:t>La géométrie projective quant à elle visait à mieux réaliser les dessins et projets architecturaux.</a:t>
            </a:r>
          </a:p>
          <a:p>
            <a:pPr algn="just"/>
            <a:r>
              <a:rPr lang="fr-FR" dirty="0">
                <a:latin typeface="Monotype Corsiva" panose="03010101010201010101" pitchFamily="66" charset="0"/>
              </a:rPr>
              <a:t>La géométrie non-euclidienne de son côté avait pour mission de répondre dans un cadre plus généralisé aux insuffisances de la géométrie euclidienne.</a:t>
            </a:r>
          </a:p>
          <a:p>
            <a:pPr algn="just"/>
            <a:r>
              <a:rPr lang="fr-FR" dirty="0">
                <a:latin typeface="Monotype Corsiva" panose="03010101010201010101" pitchFamily="66" charset="0"/>
              </a:rPr>
              <a:t>La géométrie différentielle enfin avait pour mission de faciliter l’étude des astres célestes. </a:t>
            </a:r>
          </a:p>
        </p:txBody>
      </p:sp>
      <p:sp>
        <p:nvSpPr>
          <p:cNvPr id="10" name="Espace réservé du numéro de diapositive 5">
            <a:extLst>
              <a:ext uri="{FF2B5EF4-FFF2-40B4-BE49-F238E27FC236}">
                <a16:creationId xmlns:a16="http://schemas.microsoft.com/office/drawing/2014/main" id="{12BB14B0-5B7B-43F7-B09D-00A9F85C5B21}"/>
              </a:ext>
            </a:extLst>
          </p:cNvPr>
          <p:cNvSpPr txBox="1">
            <a:spLocks/>
          </p:cNvSpPr>
          <p:nvPr/>
        </p:nvSpPr>
        <p:spPr>
          <a:xfrm>
            <a:off x="11766306" y="6572608"/>
            <a:ext cx="425694" cy="28539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14</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387102611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289F5731-4766-4638-85B5-162A53360848}"/>
              </a:ext>
            </a:extLst>
          </p:cNvPr>
          <p:cNvSpPr>
            <a:spLocks noGrp="1"/>
          </p:cNvSpPr>
          <p:nvPr>
            <p:ph type="title"/>
          </p:nvPr>
        </p:nvSpPr>
        <p:spPr>
          <a:xfrm>
            <a:off x="3286249" y="0"/>
            <a:ext cx="4296916" cy="515582"/>
          </a:xfrm>
        </p:spPr>
        <p:txBody>
          <a:bodyPr>
            <a:normAutofit fontScale="90000"/>
          </a:bodyPr>
          <a:lstStyle/>
          <a:p>
            <a:r>
              <a:rPr lang="fr-FR" b="1" dirty="0">
                <a:latin typeface="Monotype Corsiva" panose="03010101010201010101" pitchFamily="66" charset="0"/>
              </a:rPr>
              <a:t>Rôle de la </a:t>
            </a:r>
            <a:r>
              <a:rPr lang="fr-FR" sz="4900" b="1" dirty="0">
                <a:latin typeface="Monotype Corsiva" panose="03010101010201010101" pitchFamily="66" charset="0"/>
              </a:rPr>
              <a:t>Géométrie</a:t>
            </a:r>
          </a:p>
        </p:txBody>
      </p:sp>
      <p:sp>
        <p:nvSpPr>
          <p:cNvPr id="15" name="Espace réservé du texte 14">
            <a:extLst>
              <a:ext uri="{FF2B5EF4-FFF2-40B4-BE49-F238E27FC236}">
                <a16:creationId xmlns:a16="http://schemas.microsoft.com/office/drawing/2014/main" id="{0747DCA2-9D38-4A92-BD56-415EEB791BEE}"/>
              </a:ext>
            </a:extLst>
          </p:cNvPr>
          <p:cNvSpPr>
            <a:spLocks noGrp="1"/>
          </p:cNvSpPr>
          <p:nvPr>
            <p:ph type="body" idx="1"/>
          </p:nvPr>
        </p:nvSpPr>
        <p:spPr>
          <a:xfrm>
            <a:off x="304802" y="439960"/>
            <a:ext cx="3120503" cy="482060"/>
          </a:xfrm>
        </p:spPr>
        <p:txBody>
          <a:bodyPr>
            <a:noAutofit/>
          </a:bodyPr>
          <a:lstStyle/>
          <a:p>
            <a:r>
              <a:rPr lang="fr-FR" dirty="0">
                <a:latin typeface="Monotype Corsiva" panose="03010101010201010101" pitchFamily="66" charset="0"/>
              </a:rPr>
              <a:t>Dans l’Enseignement</a:t>
            </a:r>
          </a:p>
        </p:txBody>
      </p:sp>
      <p:sp>
        <p:nvSpPr>
          <p:cNvPr id="16" name="Espace réservé du contenu 15">
            <a:extLst>
              <a:ext uri="{FF2B5EF4-FFF2-40B4-BE49-F238E27FC236}">
                <a16:creationId xmlns:a16="http://schemas.microsoft.com/office/drawing/2014/main" id="{3FE2FD26-C2DA-441A-8448-B6B9A0FA40C0}"/>
              </a:ext>
            </a:extLst>
          </p:cNvPr>
          <p:cNvSpPr>
            <a:spLocks noGrp="1"/>
          </p:cNvSpPr>
          <p:nvPr>
            <p:ph sz="half" idx="2"/>
          </p:nvPr>
        </p:nvSpPr>
        <p:spPr>
          <a:xfrm>
            <a:off x="246886" y="920742"/>
            <a:ext cx="2814002" cy="5937258"/>
          </a:xfrm>
        </p:spPr>
        <p:txBody>
          <a:bodyPr>
            <a:normAutofit/>
          </a:bodyPr>
          <a:lstStyle/>
          <a:p>
            <a:pPr algn="just"/>
            <a:r>
              <a:rPr lang="fr-FR" dirty="0">
                <a:latin typeface="Monotype Corsiva" panose="03010101010201010101" pitchFamily="66" charset="0"/>
              </a:rPr>
              <a:t>La Géométrie en particulier et la science en général permet de forger chez l’apprenant un esprit scientifique de rigueur.</a:t>
            </a:r>
          </a:p>
          <a:p>
            <a:pPr algn="just"/>
            <a:r>
              <a:rPr lang="fr-FR" dirty="0">
                <a:latin typeface="Monotype Corsiva" panose="03010101010201010101" pitchFamily="66" charset="0"/>
              </a:rPr>
              <a:t>De surcroit, des notions abstraites comme l’Algèbre Linéaire s’éclaircissent grâce à une intuition géométrique. </a:t>
            </a:r>
          </a:p>
          <a:p>
            <a:pPr algn="just"/>
            <a:r>
              <a:rPr lang="fr-FR" dirty="0">
                <a:latin typeface="Monotype Corsiva" panose="03010101010201010101" pitchFamily="66" charset="0"/>
              </a:rPr>
              <a:t>De plus, La géométrie permet aux étudiants d’avoir une meilleure vue des phénomènes physiques. C’est une discipline qui permet la représentation dans l’espace; elle lui donne (à l’étudiant) le sens de l’orientation, de l’observation, de l’analyse. </a:t>
            </a:r>
          </a:p>
        </p:txBody>
      </p:sp>
      <p:sp>
        <p:nvSpPr>
          <p:cNvPr id="17" name="Espace réservé du texte 16">
            <a:extLst>
              <a:ext uri="{FF2B5EF4-FFF2-40B4-BE49-F238E27FC236}">
                <a16:creationId xmlns:a16="http://schemas.microsoft.com/office/drawing/2014/main" id="{AC281E31-0489-4298-A294-32EDB4700DA2}"/>
              </a:ext>
            </a:extLst>
          </p:cNvPr>
          <p:cNvSpPr>
            <a:spLocks noGrp="1"/>
          </p:cNvSpPr>
          <p:nvPr>
            <p:ph type="body" sz="quarter" idx="3"/>
          </p:nvPr>
        </p:nvSpPr>
        <p:spPr>
          <a:xfrm>
            <a:off x="3585001" y="507057"/>
            <a:ext cx="3120503" cy="400185"/>
          </a:xfrm>
        </p:spPr>
        <p:txBody>
          <a:bodyPr>
            <a:normAutofit fontScale="92500" lnSpcReduction="10000"/>
          </a:bodyPr>
          <a:lstStyle/>
          <a:p>
            <a:r>
              <a:rPr lang="fr-FR" dirty="0">
                <a:latin typeface="Monotype Corsiva" panose="03010101010201010101" pitchFamily="66" charset="0"/>
              </a:rPr>
              <a:t>Dans les Mathématiques</a:t>
            </a:r>
          </a:p>
        </p:txBody>
      </p:sp>
      <p:sp>
        <p:nvSpPr>
          <p:cNvPr id="18" name="Espace réservé du contenu 17">
            <a:extLst>
              <a:ext uri="{FF2B5EF4-FFF2-40B4-BE49-F238E27FC236}">
                <a16:creationId xmlns:a16="http://schemas.microsoft.com/office/drawing/2014/main" id="{389BD256-DDD0-482F-9C67-C2A9CB2B1D28}"/>
              </a:ext>
            </a:extLst>
          </p:cNvPr>
          <p:cNvSpPr>
            <a:spLocks noGrp="1"/>
          </p:cNvSpPr>
          <p:nvPr>
            <p:ph sz="quarter" idx="4"/>
          </p:nvPr>
        </p:nvSpPr>
        <p:spPr>
          <a:xfrm>
            <a:off x="3060888" y="947741"/>
            <a:ext cx="3728665" cy="5883258"/>
          </a:xfrm>
        </p:spPr>
        <p:txBody>
          <a:bodyPr>
            <a:noAutofit/>
          </a:bodyPr>
          <a:lstStyle/>
          <a:p>
            <a:pPr algn="just"/>
            <a:r>
              <a:rPr lang="fr-FR" b="1" dirty="0">
                <a:latin typeface="Monotype Corsiva" panose="03010101010201010101" pitchFamily="66" charset="0"/>
              </a:rPr>
              <a:t>En algèbre</a:t>
            </a:r>
            <a:r>
              <a:rPr lang="fr-FR" dirty="0">
                <a:latin typeface="Monotype Corsiva" panose="03010101010201010101" pitchFamily="66" charset="0"/>
              </a:rPr>
              <a:t>, la résolution des systèmes linéaires d’équations et d’inéquations peut se faire de façon géométrique. </a:t>
            </a:r>
          </a:p>
          <a:p>
            <a:pPr algn="just"/>
            <a:r>
              <a:rPr lang="fr-FR" b="1" dirty="0">
                <a:latin typeface="Monotype Corsiva" panose="03010101010201010101" pitchFamily="66" charset="0"/>
              </a:rPr>
              <a:t>En analyse</a:t>
            </a:r>
            <a:r>
              <a:rPr lang="fr-FR" dirty="0">
                <a:latin typeface="Monotype Corsiva" panose="03010101010201010101" pitchFamily="66" charset="0"/>
              </a:rPr>
              <a:t>, quand on fait la représentation des courbes de fonctions, on a recours aux éléments de la géométrie (utilisation des repères plans et d’espaces, outils géométriques : droites…)</a:t>
            </a:r>
          </a:p>
          <a:p>
            <a:pPr algn="just"/>
            <a:r>
              <a:rPr lang="fr-FR" b="1" dirty="0">
                <a:latin typeface="Monotype Corsiva" panose="03010101010201010101" pitchFamily="66" charset="0"/>
              </a:rPr>
              <a:t>En Trigonométrie</a:t>
            </a:r>
            <a:r>
              <a:rPr lang="fr-FR" dirty="0">
                <a:latin typeface="Monotype Corsiva" panose="03010101010201010101" pitchFamily="66" charset="0"/>
              </a:rPr>
              <a:t>, la trigonométrie sphérique qui peut être considérée comme une extension de celle-ci dans le plan, utilise tout particulièrement les propriétés de la géométrie de l’espace. Cette branche de la trigonométrie, employée notamment en navigation et en astronomie, permet des mesures, des repérages et des projections appelées projections stéréographiques sur une sphère.</a:t>
            </a:r>
          </a:p>
          <a:p>
            <a:pPr algn="just"/>
            <a:endParaRPr lang="fr-FR" dirty="0">
              <a:latin typeface="Monotype Corsiva" panose="03010101010201010101" pitchFamily="66" charset="0"/>
            </a:endParaRPr>
          </a:p>
          <a:p>
            <a:pPr algn="just"/>
            <a:endParaRPr lang="fr-FR" dirty="0">
              <a:latin typeface="Monotype Corsiva" panose="03010101010201010101" pitchFamily="66" charset="0"/>
            </a:endParaRPr>
          </a:p>
        </p:txBody>
      </p:sp>
      <p:sp>
        <p:nvSpPr>
          <p:cNvPr id="19" name="Espace réservé du texte 18">
            <a:extLst>
              <a:ext uri="{FF2B5EF4-FFF2-40B4-BE49-F238E27FC236}">
                <a16:creationId xmlns:a16="http://schemas.microsoft.com/office/drawing/2014/main" id="{DD79B59C-587C-4E7F-8585-59FE15CB64D5}"/>
              </a:ext>
            </a:extLst>
          </p:cNvPr>
          <p:cNvSpPr>
            <a:spLocks noGrp="1"/>
          </p:cNvSpPr>
          <p:nvPr>
            <p:ph type="body" sz="quarter" idx="13"/>
          </p:nvPr>
        </p:nvSpPr>
        <p:spPr>
          <a:xfrm>
            <a:off x="8153400" y="445161"/>
            <a:ext cx="3291840" cy="482060"/>
          </a:xfrm>
        </p:spPr>
        <p:txBody>
          <a:bodyPr>
            <a:normAutofit/>
          </a:bodyPr>
          <a:lstStyle/>
          <a:p>
            <a:r>
              <a:rPr lang="fr-FR" dirty="0">
                <a:latin typeface="Monotype Corsiva" panose="03010101010201010101" pitchFamily="66" charset="0"/>
              </a:rPr>
              <a:t>Dans les Sciences Physiques</a:t>
            </a:r>
          </a:p>
        </p:txBody>
      </p:sp>
      <p:sp>
        <p:nvSpPr>
          <p:cNvPr id="20" name="Espace réservé du contenu 19">
            <a:extLst>
              <a:ext uri="{FF2B5EF4-FFF2-40B4-BE49-F238E27FC236}">
                <a16:creationId xmlns:a16="http://schemas.microsoft.com/office/drawing/2014/main" id="{C6457BFB-A06F-4E6B-9787-3B04A3FA17FD}"/>
              </a:ext>
            </a:extLst>
          </p:cNvPr>
          <p:cNvSpPr>
            <a:spLocks noGrp="1"/>
          </p:cNvSpPr>
          <p:nvPr>
            <p:ph sz="quarter" idx="14"/>
          </p:nvPr>
        </p:nvSpPr>
        <p:spPr>
          <a:xfrm>
            <a:off x="6705504" y="893742"/>
            <a:ext cx="5347243" cy="5937257"/>
          </a:xfrm>
        </p:spPr>
        <p:txBody>
          <a:bodyPr>
            <a:noAutofit/>
          </a:bodyPr>
          <a:lstStyle/>
          <a:p>
            <a:pPr algn="just"/>
            <a:r>
              <a:rPr lang="fr-FR" b="1" dirty="0">
                <a:latin typeface="Monotype Corsiva" panose="03010101010201010101" pitchFamily="66" charset="0"/>
              </a:rPr>
              <a:t>En mécanique classique</a:t>
            </a:r>
            <a:r>
              <a:rPr lang="fr-FR" dirty="0">
                <a:latin typeface="Monotype Corsiva" panose="03010101010201010101" pitchFamily="66" charset="0"/>
              </a:rPr>
              <a:t>, Cette branche de la physique a longtemps été considérée comme une branche des mathématiques. En effet, l’approche analytique des problèmes de mécanique classique permet de la ramener à la géométrie analytique. A la fin du XIXe siècle, les travaux de Lagrange et de Hamilton donnent à la mécanique une formulation féconde tant sur le plan pratique que sur le plan théorique. Dans cette formulation, un système physique est décrit par ses coordonnées généralisées (X</a:t>
            </a:r>
            <a:r>
              <a:rPr lang="fr-FR" sz="1600" dirty="0">
                <a:latin typeface="Monotype Corsiva" panose="03010101010201010101" pitchFamily="66" charset="0"/>
              </a:rPr>
              <a:t>1</a:t>
            </a:r>
            <a:r>
              <a:rPr lang="fr-FR" dirty="0">
                <a:latin typeface="Monotype Corsiva" panose="03010101010201010101" pitchFamily="66" charset="0"/>
              </a:rPr>
              <a:t>, X</a:t>
            </a:r>
            <a:r>
              <a:rPr lang="fr-FR" sz="1600" dirty="0">
                <a:latin typeface="Monotype Corsiva" panose="03010101010201010101" pitchFamily="66" charset="0"/>
              </a:rPr>
              <a:t>2</a:t>
            </a:r>
            <a:r>
              <a:rPr lang="fr-FR" dirty="0">
                <a:latin typeface="Monotype Corsiva" panose="03010101010201010101" pitchFamily="66" charset="0"/>
              </a:rPr>
              <a:t>, X</a:t>
            </a:r>
            <a:r>
              <a:rPr lang="fr-FR" sz="1600" dirty="0">
                <a:latin typeface="Monotype Corsiva" panose="03010101010201010101" pitchFamily="66" charset="0"/>
              </a:rPr>
              <a:t>3</a:t>
            </a:r>
            <a:r>
              <a:rPr lang="fr-FR" dirty="0">
                <a:latin typeface="Monotype Corsiva" panose="03010101010201010101" pitchFamily="66" charset="0"/>
              </a:rPr>
              <a:t>, … , </a:t>
            </a:r>
            <a:r>
              <a:rPr lang="fr-FR" dirty="0" err="1">
                <a:latin typeface="Monotype Corsiva" panose="03010101010201010101" pitchFamily="66" charset="0"/>
              </a:rPr>
              <a:t>Xn</a:t>
            </a:r>
            <a:r>
              <a:rPr lang="fr-FR" dirty="0">
                <a:latin typeface="Monotype Corsiva" panose="03010101010201010101" pitchFamily="66" charset="0"/>
              </a:rPr>
              <a:t>) et ses vitesses généralisées, qui sont les dérivées par rapport au temps des coordonnées généralisées. De plus, les modèles physiques se basent sur des théorèmes et lois géométriques (c’est le cas de la formule de conjugaison de Descartes, les fentes de Young, la réflexion de la lumière, l’équation de la trajectoire…).</a:t>
            </a:r>
          </a:p>
          <a:p>
            <a:pPr algn="just"/>
            <a:r>
              <a:rPr lang="fr-FR" b="1" dirty="0">
                <a:latin typeface="Monotype Corsiva" panose="03010101010201010101" pitchFamily="66" charset="0"/>
              </a:rPr>
              <a:t>Dans la théorie de la relativité</a:t>
            </a:r>
            <a:r>
              <a:rPr lang="fr-FR" dirty="0">
                <a:latin typeface="Monotype Corsiva" panose="03010101010201010101" pitchFamily="66" charset="0"/>
              </a:rPr>
              <a:t>, l’espace n’est plus euclidien, d’où l’importance de la géométrie non euclidienne. Du fait de la limite de la vitesse de la lumière, l’addition des vitesses dites relativistes trouve un cadre cohérent dans la géométrie hyperbolique.</a:t>
            </a:r>
          </a:p>
          <a:p>
            <a:pPr algn="just"/>
            <a:endParaRPr lang="fr-FR" dirty="0">
              <a:latin typeface="Monotype Corsiva" panose="03010101010201010101" pitchFamily="66" charset="0"/>
            </a:endParaRPr>
          </a:p>
          <a:p>
            <a:pPr algn="just"/>
            <a:endParaRPr lang="fr-FR" dirty="0">
              <a:latin typeface="Monotype Corsiva" panose="03010101010201010101" pitchFamily="66" charset="0"/>
            </a:endParaRPr>
          </a:p>
        </p:txBody>
      </p:sp>
      <p:sp>
        <p:nvSpPr>
          <p:cNvPr id="12" name="Espace réservé du numéro de diapositive 5">
            <a:extLst>
              <a:ext uri="{FF2B5EF4-FFF2-40B4-BE49-F238E27FC236}">
                <a16:creationId xmlns:a16="http://schemas.microsoft.com/office/drawing/2014/main" id="{174DE4F8-9475-4EB4-AFF4-51188BC8E48A}"/>
              </a:ext>
            </a:extLst>
          </p:cNvPr>
          <p:cNvSpPr txBox="1">
            <a:spLocks/>
          </p:cNvSpPr>
          <p:nvPr/>
        </p:nvSpPr>
        <p:spPr>
          <a:xfrm>
            <a:off x="11713966" y="6587743"/>
            <a:ext cx="461205" cy="26746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15</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2342735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B4D03C48-BDFE-41A0-B7ED-91C4F8E4EBC0}"/>
              </a:ext>
            </a:extLst>
          </p:cNvPr>
          <p:cNvPicPr/>
          <p:nvPr/>
        </p:nvPicPr>
        <p:blipFill>
          <a:blip r:embed="rId4">
            <a:extLst>
              <a:ext uri="{28A0092B-C50C-407E-A947-70E740481C1C}">
                <a14:useLocalDpi xmlns:a14="http://schemas.microsoft.com/office/drawing/2010/main" val="0"/>
              </a:ext>
            </a:extLst>
          </a:blip>
          <a:stretch>
            <a:fillRect/>
          </a:stretch>
        </p:blipFill>
        <p:spPr>
          <a:xfrm>
            <a:off x="3355655" y="0"/>
            <a:ext cx="4799120" cy="2984582"/>
          </a:xfrm>
          <a:prstGeom prst="rect">
            <a:avLst/>
          </a:prstGeom>
        </p:spPr>
      </p:pic>
      <p:pic>
        <p:nvPicPr>
          <p:cNvPr id="13" name="Image 12">
            <a:extLst>
              <a:ext uri="{FF2B5EF4-FFF2-40B4-BE49-F238E27FC236}">
                <a16:creationId xmlns:a16="http://schemas.microsoft.com/office/drawing/2014/main" id="{99745550-FE43-404A-808C-20B4B58C0886}"/>
              </a:ext>
            </a:extLst>
          </p:cNvPr>
          <p:cNvPicPr/>
          <p:nvPr/>
        </p:nvPicPr>
        <p:blipFill>
          <a:blip r:embed="rId5">
            <a:extLst>
              <a:ext uri="{28A0092B-C50C-407E-A947-70E740481C1C}">
                <a14:useLocalDpi xmlns:a14="http://schemas.microsoft.com/office/drawing/2010/main" val="0"/>
              </a:ext>
            </a:extLst>
          </a:blip>
          <a:stretch>
            <a:fillRect/>
          </a:stretch>
        </p:blipFill>
        <p:spPr>
          <a:xfrm>
            <a:off x="8414979" y="172088"/>
            <a:ext cx="3172969" cy="2745870"/>
          </a:xfrm>
          <a:prstGeom prst="rect">
            <a:avLst/>
          </a:prstGeom>
        </p:spPr>
      </p:pic>
      <p:pic>
        <p:nvPicPr>
          <p:cNvPr id="15" name="vlc-record-2022-03-06-22h11m01s-Une nouvelle façon d_illustrer la Relativité Générale(360P).mp4-">
            <a:hlinkClick r:id="" action="ppaction://media"/>
            <a:extLst>
              <a:ext uri="{FF2B5EF4-FFF2-40B4-BE49-F238E27FC236}">
                <a16:creationId xmlns:a16="http://schemas.microsoft.com/office/drawing/2014/main" id="{7C241766-1C11-4F17-8467-7F56F02D813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215726" y="3380721"/>
            <a:ext cx="5440050" cy="3060028"/>
          </a:xfrm>
          <a:prstGeom prst="rect">
            <a:avLst/>
          </a:prstGeom>
        </p:spPr>
      </p:pic>
      <p:sp>
        <p:nvSpPr>
          <p:cNvPr id="16" name="ZoneTexte 15">
            <a:extLst>
              <a:ext uri="{FF2B5EF4-FFF2-40B4-BE49-F238E27FC236}">
                <a16:creationId xmlns:a16="http://schemas.microsoft.com/office/drawing/2014/main" id="{BF4759BA-B03C-4C50-956F-494BE080677A}"/>
              </a:ext>
            </a:extLst>
          </p:cNvPr>
          <p:cNvSpPr txBox="1"/>
          <p:nvPr/>
        </p:nvSpPr>
        <p:spPr>
          <a:xfrm>
            <a:off x="4328869" y="2919056"/>
            <a:ext cx="2852692" cy="461665"/>
          </a:xfrm>
          <a:prstGeom prst="rect">
            <a:avLst/>
          </a:prstGeom>
          <a:noFill/>
        </p:spPr>
        <p:txBody>
          <a:bodyPr wrap="square" rtlCol="0">
            <a:spAutoFit/>
          </a:bodyPr>
          <a:lstStyle/>
          <a:p>
            <a:r>
              <a:rPr lang="fr-FR" sz="2400" dirty="0">
                <a:latin typeface="Monotype Corsiva" panose="03010101010201010101" pitchFamily="66" charset="0"/>
              </a:rPr>
              <a:t>Trigonométrie Sphérique</a:t>
            </a:r>
            <a:endParaRPr lang="en-GB" sz="2400" dirty="0">
              <a:latin typeface="Monotype Corsiva" panose="03010101010201010101" pitchFamily="66" charset="0"/>
            </a:endParaRPr>
          </a:p>
        </p:txBody>
      </p:sp>
      <p:sp>
        <p:nvSpPr>
          <p:cNvPr id="17" name="ZoneTexte 16">
            <a:extLst>
              <a:ext uri="{FF2B5EF4-FFF2-40B4-BE49-F238E27FC236}">
                <a16:creationId xmlns:a16="http://schemas.microsoft.com/office/drawing/2014/main" id="{8EAF0CF0-6280-48A6-95E4-7B2166A8F22A}"/>
              </a:ext>
            </a:extLst>
          </p:cNvPr>
          <p:cNvSpPr txBox="1"/>
          <p:nvPr/>
        </p:nvSpPr>
        <p:spPr>
          <a:xfrm>
            <a:off x="3355655" y="6400773"/>
            <a:ext cx="5265456" cy="461665"/>
          </a:xfrm>
          <a:prstGeom prst="rect">
            <a:avLst/>
          </a:prstGeom>
          <a:noFill/>
        </p:spPr>
        <p:txBody>
          <a:bodyPr wrap="square" rtlCol="0">
            <a:spAutoFit/>
          </a:bodyPr>
          <a:lstStyle/>
          <a:p>
            <a:r>
              <a:rPr lang="fr-FR" sz="2400" dirty="0">
                <a:latin typeface="Monotype Corsiva" panose="03010101010201010101" pitchFamily="66" charset="0"/>
              </a:rPr>
              <a:t>Géométrie Hyperbolique &amp; Relativité Générale</a:t>
            </a:r>
            <a:endParaRPr lang="en-GB" sz="2400" dirty="0">
              <a:latin typeface="Monotype Corsiva" panose="03010101010201010101" pitchFamily="66" charset="0"/>
            </a:endParaRPr>
          </a:p>
        </p:txBody>
      </p:sp>
      <p:sp>
        <p:nvSpPr>
          <p:cNvPr id="18" name="ZoneTexte 17">
            <a:extLst>
              <a:ext uri="{FF2B5EF4-FFF2-40B4-BE49-F238E27FC236}">
                <a16:creationId xmlns:a16="http://schemas.microsoft.com/office/drawing/2014/main" id="{1CA4B608-15A6-4738-A74C-6FFE50D652D5}"/>
              </a:ext>
            </a:extLst>
          </p:cNvPr>
          <p:cNvSpPr txBox="1"/>
          <p:nvPr/>
        </p:nvSpPr>
        <p:spPr>
          <a:xfrm>
            <a:off x="9429082" y="2901299"/>
            <a:ext cx="1556552" cy="461665"/>
          </a:xfrm>
          <a:prstGeom prst="rect">
            <a:avLst/>
          </a:prstGeom>
          <a:noFill/>
        </p:spPr>
        <p:txBody>
          <a:bodyPr wrap="square" rtlCol="0">
            <a:spAutoFit/>
          </a:bodyPr>
          <a:lstStyle/>
          <a:p>
            <a:r>
              <a:rPr lang="fr-FR" sz="2400" dirty="0">
                <a:latin typeface="Monotype Corsiva" panose="03010101010201010101" pitchFamily="66" charset="0"/>
              </a:rPr>
              <a:t>Chute Libre</a:t>
            </a:r>
            <a:endParaRPr lang="en-GB" sz="2400" dirty="0">
              <a:latin typeface="Monotype Corsiva" panose="03010101010201010101" pitchFamily="66" charset="0"/>
            </a:endParaRPr>
          </a:p>
        </p:txBody>
      </p:sp>
      <p:pic>
        <p:nvPicPr>
          <p:cNvPr id="21" name="Image 20">
            <a:extLst>
              <a:ext uri="{FF2B5EF4-FFF2-40B4-BE49-F238E27FC236}">
                <a16:creationId xmlns:a16="http://schemas.microsoft.com/office/drawing/2014/main" id="{9D7BC334-DE9E-4FB8-A68B-BCDF771A662E}"/>
              </a:ext>
            </a:extLst>
          </p:cNvPr>
          <p:cNvPicPr/>
          <p:nvPr/>
        </p:nvPicPr>
        <p:blipFill>
          <a:blip r:embed="rId7">
            <a:extLst>
              <a:ext uri="{28A0092B-C50C-407E-A947-70E740481C1C}">
                <a14:useLocalDpi xmlns:a14="http://schemas.microsoft.com/office/drawing/2010/main" val="0"/>
              </a:ext>
            </a:extLst>
          </a:blip>
          <a:stretch>
            <a:fillRect/>
          </a:stretch>
        </p:blipFill>
        <p:spPr>
          <a:xfrm>
            <a:off x="326402" y="238713"/>
            <a:ext cx="2769049" cy="2449624"/>
          </a:xfrm>
          <a:prstGeom prst="rect">
            <a:avLst/>
          </a:prstGeom>
        </p:spPr>
      </p:pic>
      <p:sp>
        <p:nvSpPr>
          <p:cNvPr id="22" name="ZoneTexte 21">
            <a:extLst>
              <a:ext uri="{FF2B5EF4-FFF2-40B4-BE49-F238E27FC236}">
                <a16:creationId xmlns:a16="http://schemas.microsoft.com/office/drawing/2014/main" id="{7ECD08B6-8CEC-48BE-9339-43C62DC3B9D8}"/>
              </a:ext>
            </a:extLst>
          </p:cNvPr>
          <p:cNvSpPr txBox="1"/>
          <p:nvPr/>
        </p:nvSpPr>
        <p:spPr>
          <a:xfrm>
            <a:off x="816103" y="2901298"/>
            <a:ext cx="1556552" cy="461665"/>
          </a:xfrm>
          <a:prstGeom prst="rect">
            <a:avLst/>
          </a:prstGeom>
          <a:noFill/>
        </p:spPr>
        <p:txBody>
          <a:bodyPr wrap="square" rtlCol="0">
            <a:spAutoFit/>
          </a:bodyPr>
          <a:lstStyle/>
          <a:p>
            <a:r>
              <a:rPr lang="fr-FR" sz="2400" dirty="0">
                <a:latin typeface="Monotype Corsiva" panose="03010101010201010101" pitchFamily="66" charset="0"/>
              </a:rPr>
              <a:t>Courbes</a:t>
            </a:r>
            <a:endParaRPr lang="en-GB" sz="2400" dirty="0">
              <a:latin typeface="Monotype Corsiva" panose="03010101010201010101" pitchFamily="66" charset="0"/>
            </a:endParaRPr>
          </a:p>
        </p:txBody>
      </p:sp>
      <p:sp>
        <p:nvSpPr>
          <p:cNvPr id="23" name="Espace réservé du numéro de diapositive 5">
            <a:extLst>
              <a:ext uri="{FF2B5EF4-FFF2-40B4-BE49-F238E27FC236}">
                <a16:creationId xmlns:a16="http://schemas.microsoft.com/office/drawing/2014/main" id="{4EEA648E-882C-428D-8D4C-6E05A26B6058}"/>
              </a:ext>
            </a:extLst>
          </p:cNvPr>
          <p:cNvSpPr txBox="1">
            <a:spLocks/>
          </p:cNvSpPr>
          <p:nvPr/>
        </p:nvSpPr>
        <p:spPr>
          <a:xfrm>
            <a:off x="11745157" y="6440749"/>
            <a:ext cx="430014" cy="4144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16</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21231924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20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DE39-A4AE-4159-856D-AF841A3D16B6}"/>
              </a:ext>
            </a:extLst>
          </p:cNvPr>
          <p:cNvSpPr>
            <a:spLocks noGrp="1"/>
          </p:cNvSpPr>
          <p:nvPr>
            <p:ph type="title"/>
          </p:nvPr>
        </p:nvSpPr>
        <p:spPr/>
        <p:txBody>
          <a:bodyPr/>
          <a:lstStyle/>
          <a:p>
            <a:r>
              <a:rPr lang="fr-FR" dirty="0"/>
              <a:t>UTILITE DE LA GEOMETRIE</a:t>
            </a:r>
          </a:p>
        </p:txBody>
      </p:sp>
      <p:sp>
        <p:nvSpPr>
          <p:cNvPr id="3" name="Espace réservé du texte 2">
            <a:extLst>
              <a:ext uri="{FF2B5EF4-FFF2-40B4-BE49-F238E27FC236}">
                <a16:creationId xmlns:a16="http://schemas.microsoft.com/office/drawing/2014/main" id="{227A9D77-3F96-4923-B07D-527E6B6C43BA}"/>
              </a:ext>
            </a:extLst>
          </p:cNvPr>
          <p:cNvSpPr>
            <a:spLocks noGrp="1"/>
          </p:cNvSpPr>
          <p:nvPr>
            <p:ph type="body" idx="1"/>
          </p:nvPr>
        </p:nvSpPr>
        <p:spPr/>
        <p:txBody>
          <a:bodyPr/>
          <a:lstStyle/>
          <a:p>
            <a:r>
              <a:rPr lang="fr-FR" dirty="0"/>
              <a:t>«Il n’y a pas de voie royale en Géométrie.» Euclide</a:t>
            </a:r>
          </a:p>
        </p:txBody>
      </p:sp>
      <p:sp>
        <p:nvSpPr>
          <p:cNvPr id="4" name="Espace réservé du numéro de diapositive 5">
            <a:extLst>
              <a:ext uri="{FF2B5EF4-FFF2-40B4-BE49-F238E27FC236}">
                <a16:creationId xmlns:a16="http://schemas.microsoft.com/office/drawing/2014/main" id="{50684E0A-8E44-4BFD-B069-0F9801AAD549}"/>
              </a:ext>
            </a:extLst>
          </p:cNvPr>
          <p:cNvSpPr txBox="1">
            <a:spLocks/>
          </p:cNvSpPr>
          <p:nvPr/>
        </p:nvSpPr>
        <p:spPr>
          <a:xfrm>
            <a:off x="11757428" y="6510465"/>
            <a:ext cx="434572" cy="34753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17</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40188705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Espace réservé pour une image  20">
            <a:extLst>
              <a:ext uri="{FF2B5EF4-FFF2-40B4-BE49-F238E27FC236}">
                <a16:creationId xmlns:a16="http://schemas.microsoft.com/office/drawing/2014/main" id="{FA0E8C06-E331-47EC-A111-A37EF112E256}"/>
              </a:ext>
            </a:extLst>
          </p:cNvPr>
          <p:cNvPicPr>
            <a:picLocks noGrp="1" noChangeAspect="1"/>
          </p:cNvPicPr>
          <p:nvPr>
            <p:ph type="pic" sz="quarter" idx="13"/>
          </p:nvPr>
        </p:nvPicPr>
        <p:blipFill>
          <a:blip r:embed="rId2"/>
          <a:srcRect t="72" b="72"/>
          <a:stretch>
            <a:fillRect/>
          </a:stretch>
        </p:blipFill>
        <p:spPr>
          <a:xfrm>
            <a:off x="7937326" y="866124"/>
            <a:ext cx="2207046" cy="2204178"/>
          </a:xfrm>
        </p:spPr>
      </p:pic>
      <p:pic>
        <p:nvPicPr>
          <p:cNvPr id="23" name="Espace réservé pour une image  22">
            <a:extLst>
              <a:ext uri="{FF2B5EF4-FFF2-40B4-BE49-F238E27FC236}">
                <a16:creationId xmlns:a16="http://schemas.microsoft.com/office/drawing/2014/main" id="{5734CD90-8C68-4431-9EA7-BE3A27BB0F75}"/>
              </a:ext>
            </a:extLst>
          </p:cNvPr>
          <p:cNvPicPr>
            <a:picLocks noGrp="1" noChangeAspect="1"/>
          </p:cNvPicPr>
          <p:nvPr>
            <p:ph type="pic" sz="quarter" idx="14"/>
          </p:nvPr>
        </p:nvPicPr>
        <p:blipFill>
          <a:blip r:embed="rId3"/>
          <a:srcRect l="14642" r="14642"/>
          <a:stretch>
            <a:fillRect/>
          </a:stretch>
        </p:blipFill>
        <p:spPr>
          <a:xfrm>
            <a:off x="8684328" y="3429000"/>
            <a:ext cx="3096807" cy="3096807"/>
          </a:xfrm>
          <a:prstGeom prst="rect">
            <a:avLst/>
          </a:prstGeom>
          <a:ln>
            <a:noFill/>
          </a:ln>
          <a:effectLst>
            <a:softEdge rad="112500"/>
          </a:effectLst>
        </p:spPr>
      </p:pic>
      <p:sp>
        <p:nvSpPr>
          <p:cNvPr id="4" name="Espace réservé du contenu 3">
            <a:extLst>
              <a:ext uri="{FF2B5EF4-FFF2-40B4-BE49-F238E27FC236}">
                <a16:creationId xmlns:a16="http://schemas.microsoft.com/office/drawing/2014/main" id="{2ABC4AA8-45B9-4AD4-98FA-87E687EA1856}"/>
              </a:ext>
            </a:extLst>
          </p:cNvPr>
          <p:cNvSpPr>
            <a:spLocks noGrp="1"/>
          </p:cNvSpPr>
          <p:nvPr>
            <p:ph idx="1"/>
          </p:nvPr>
        </p:nvSpPr>
        <p:spPr>
          <a:xfrm>
            <a:off x="346229" y="550415"/>
            <a:ext cx="7261934" cy="6307585"/>
          </a:xfrm>
        </p:spPr>
        <p:txBody>
          <a:bodyPr>
            <a:noAutofit/>
          </a:bodyPr>
          <a:lstStyle/>
          <a:p>
            <a:pPr marL="0" indent="0" algn="just">
              <a:buNone/>
            </a:pPr>
            <a:r>
              <a:rPr lang="fr-FR" sz="2000" dirty="0">
                <a:latin typeface="Monotype Corsiva" panose="03010101010201010101" pitchFamily="66" charset="0"/>
              </a:rPr>
              <a:t>	D</a:t>
            </a:r>
            <a:r>
              <a:rPr lang="en-GB" sz="2000" dirty="0">
                <a:latin typeface="Monotype Corsiva" panose="03010101010201010101" pitchFamily="66" charset="0"/>
              </a:rPr>
              <a:t>e </a:t>
            </a:r>
            <a:r>
              <a:rPr lang="fr-FR" sz="2000" dirty="0">
                <a:latin typeface="Monotype Corsiva" panose="03010101010201010101" pitchFamily="66" charset="0"/>
              </a:rPr>
              <a:t>nos</a:t>
            </a:r>
            <a:r>
              <a:rPr lang="en-GB" sz="2000" dirty="0">
                <a:latin typeface="Monotype Corsiva" panose="03010101010201010101" pitchFamily="66" charset="0"/>
              </a:rPr>
              <a:t> </a:t>
            </a:r>
            <a:r>
              <a:rPr lang="fr-FR" sz="2000" dirty="0">
                <a:latin typeface="Monotype Corsiva" panose="03010101010201010101" pitchFamily="66" charset="0"/>
              </a:rPr>
              <a:t>jours</a:t>
            </a:r>
            <a:r>
              <a:rPr lang="en-GB" sz="2000" dirty="0">
                <a:latin typeface="Monotype Corsiva" panose="03010101010201010101" pitchFamily="66" charset="0"/>
              </a:rPr>
              <a:t>, </a:t>
            </a:r>
            <a:r>
              <a:rPr lang="fr-FR" sz="2000" dirty="0">
                <a:latin typeface="Monotype Corsiva" panose="03010101010201010101" pitchFamily="66" charset="0"/>
              </a:rPr>
              <a:t>il</a:t>
            </a:r>
            <a:r>
              <a:rPr lang="en-GB" sz="2000" dirty="0">
                <a:latin typeface="Monotype Corsiva" panose="03010101010201010101" pitchFamily="66" charset="0"/>
              </a:rPr>
              <a:t> </a:t>
            </a:r>
            <a:r>
              <a:rPr lang="en-GB" sz="2000" dirty="0" err="1">
                <a:latin typeface="Monotype Corsiva" panose="03010101010201010101" pitchFamily="66" charset="0"/>
              </a:rPr>
              <a:t>est</a:t>
            </a:r>
            <a:r>
              <a:rPr lang="en-GB" sz="2000" dirty="0">
                <a:latin typeface="Monotype Corsiva" panose="03010101010201010101" pitchFamily="66" charset="0"/>
              </a:rPr>
              <a:t> possible de </a:t>
            </a:r>
            <a:r>
              <a:rPr lang="en-GB" sz="2000" dirty="0" err="1">
                <a:latin typeface="Monotype Corsiva" panose="03010101010201010101" pitchFamily="66" charset="0"/>
              </a:rPr>
              <a:t>modéliser</a:t>
            </a:r>
            <a:r>
              <a:rPr lang="en-GB" sz="2000" dirty="0">
                <a:latin typeface="Monotype Corsiva" panose="03010101010201010101" pitchFamily="66" charset="0"/>
              </a:rPr>
              <a:t> </a:t>
            </a:r>
            <a:r>
              <a:rPr lang="en-GB" sz="2000" dirty="0" err="1">
                <a:latin typeface="Monotype Corsiva" panose="03010101010201010101" pitchFamily="66" charset="0"/>
              </a:rPr>
              <a:t>une</a:t>
            </a:r>
            <a:r>
              <a:rPr lang="en-GB" sz="2000" dirty="0">
                <a:latin typeface="Monotype Corsiva" panose="03010101010201010101" pitchFamily="66" charset="0"/>
              </a:rPr>
              <a:t> </a:t>
            </a:r>
            <a:r>
              <a:rPr lang="en-GB" sz="2000" dirty="0" err="1">
                <a:latin typeface="Monotype Corsiva" panose="03010101010201010101" pitchFamily="66" charset="0"/>
              </a:rPr>
              <a:t>si</a:t>
            </a:r>
            <a:r>
              <a:rPr lang="en-GB" sz="2000" dirty="0">
                <a:latin typeface="Monotype Corsiva" panose="03010101010201010101" pitchFamily="66" charset="0"/>
              </a:rPr>
              <a:t> </a:t>
            </a:r>
            <a:r>
              <a:rPr lang="en-GB" sz="2000" dirty="0" err="1">
                <a:latin typeface="Monotype Corsiva" panose="03010101010201010101" pitchFamily="66" charset="0"/>
              </a:rPr>
              <a:t>grande</a:t>
            </a:r>
            <a:r>
              <a:rPr lang="en-GB" sz="2000" dirty="0">
                <a:latin typeface="Monotype Corsiva" panose="03010101010201010101" pitchFamily="66" charset="0"/>
              </a:rPr>
              <a:t> </a:t>
            </a:r>
            <a:r>
              <a:rPr lang="en-GB" sz="2000" dirty="0" err="1">
                <a:latin typeface="Monotype Corsiva" panose="03010101010201010101" pitchFamily="66" charset="0"/>
              </a:rPr>
              <a:t>panoplie</a:t>
            </a:r>
            <a:r>
              <a:rPr lang="en-GB" sz="2000" dirty="0">
                <a:latin typeface="Monotype Corsiva" panose="03010101010201010101" pitchFamily="66" charset="0"/>
              </a:rPr>
              <a:t> de </a:t>
            </a:r>
            <a:r>
              <a:rPr lang="en-GB" sz="2000" dirty="0" err="1">
                <a:latin typeface="Monotype Corsiva" panose="03010101010201010101" pitchFamily="66" charset="0"/>
              </a:rPr>
              <a:t>visuels</a:t>
            </a:r>
            <a:r>
              <a:rPr lang="en-GB" sz="2000" dirty="0">
                <a:latin typeface="Monotype Corsiva" panose="03010101010201010101" pitchFamily="66" charset="0"/>
              </a:rPr>
              <a:t> au </a:t>
            </a:r>
            <a:r>
              <a:rPr lang="en-GB" sz="2000" dirty="0" err="1">
                <a:latin typeface="Monotype Corsiva" panose="03010101010201010101" pitchFamily="66" charset="0"/>
              </a:rPr>
              <a:t>quotidien</a:t>
            </a:r>
            <a:r>
              <a:rPr lang="en-GB" sz="2000" dirty="0">
                <a:latin typeface="Monotype Corsiva" panose="03010101010201010101" pitchFamily="66" charset="0"/>
              </a:rPr>
              <a:t> </a:t>
            </a:r>
            <a:r>
              <a:rPr lang="en-GB" sz="2000" dirty="0" err="1">
                <a:latin typeface="Monotype Corsiva" panose="03010101010201010101" pitchFamily="66" charset="0"/>
              </a:rPr>
              <a:t>ceci</a:t>
            </a:r>
            <a:r>
              <a:rPr lang="en-GB" sz="2000" dirty="0">
                <a:latin typeface="Monotype Corsiva" panose="03010101010201010101" pitchFamily="66" charset="0"/>
              </a:rPr>
              <a:t> </a:t>
            </a:r>
            <a:r>
              <a:rPr lang="en-GB" sz="2000" dirty="0" err="1">
                <a:latin typeface="Monotype Corsiva" panose="03010101010201010101" pitchFamily="66" charset="0"/>
              </a:rPr>
              <a:t>soit</a:t>
            </a:r>
            <a:r>
              <a:rPr lang="en-GB" sz="2000" dirty="0">
                <a:latin typeface="Monotype Corsiva" panose="03010101010201010101" pitchFamily="66" charset="0"/>
              </a:rPr>
              <a:t> par scan </a:t>
            </a:r>
            <a:r>
              <a:rPr lang="en-GB" sz="2000" dirty="0" err="1">
                <a:latin typeface="Monotype Corsiva" panose="03010101010201010101" pitchFamily="66" charset="0"/>
              </a:rPr>
              <a:t>ou</a:t>
            </a:r>
            <a:r>
              <a:rPr lang="en-GB" sz="2000" dirty="0">
                <a:latin typeface="Monotype Corsiva" panose="03010101010201010101" pitchFamily="66" charset="0"/>
              </a:rPr>
              <a:t> </a:t>
            </a:r>
            <a:r>
              <a:rPr lang="en-GB" sz="2000" dirty="0" err="1">
                <a:latin typeface="Monotype Corsiva" panose="03010101010201010101" pitchFamily="66" charset="0"/>
              </a:rPr>
              <a:t>alors</a:t>
            </a:r>
            <a:r>
              <a:rPr lang="en-GB" sz="2000" dirty="0">
                <a:latin typeface="Monotype Corsiva" panose="03010101010201010101" pitchFamily="66" charset="0"/>
              </a:rPr>
              <a:t> par </a:t>
            </a:r>
            <a:r>
              <a:rPr lang="en-GB" sz="2000" dirty="0" err="1">
                <a:latin typeface="Monotype Corsiva" panose="03010101010201010101" pitchFamily="66" charset="0"/>
              </a:rPr>
              <a:t>modélisation</a:t>
            </a:r>
            <a:r>
              <a:rPr lang="en-GB" sz="2000" dirty="0">
                <a:latin typeface="Monotype Corsiva" panose="03010101010201010101" pitchFamily="66" charset="0"/>
              </a:rPr>
              <a:t> via des </a:t>
            </a:r>
            <a:r>
              <a:rPr lang="en-GB" sz="2000" dirty="0" err="1">
                <a:latin typeface="Monotype Corsiva" panose="03010101010201010101" pitchFamily="66" charset="0"/>
              </a:rPr>
              <a:t>logiciels</a:t>
            </a:r>
            <a:r>
              <a:rPr lang="en-GB" sz="2000" dirty="0">
                <a:latin typeface="Monotype Corsiva" panose="03010101010201010101" pitchFamily="66" charset="0"/>
              </a:rPr>
              <a:t> </a:t>
            </a:r>
            <a:r>
              <a:rPr lang="en-GB" sz="2000" dirty="0" err="1">
                <a:latin typeface="Monotype Corsiva" panose="03010101010201010101" pitchFamily="66" charset="0"/>
              </a:rPr>
              <a:t>conçus</a:t>
            </a:r>
            <a:r>
              <a:rPr lang="en-GB" sz="2000" dirty="0">
                <a:latin typeface="Monotype Corsiva" panose="03010101010201010101" pitchFamily="66" charset="0"/>
              </a:rPr>
              <a:t> pour, </a:t>
            </a:r>
            <a:r>
              <a:rPr lang="en-GB" sz="2000" dirty="0" err="1">
                <a:latin typeface="Monotype Corsiva" panose="03010101010201010101" pitchFamily="66" charset="0"/>
              </a:rPr>
              <a:t>comme</a:t>
            </a:r>
            <a:r>
              <a:rPr lang="en-GB" sz="2000" dirty="0">
                <a:latin typeface="Monotype Corsiva" panose="03010101010201010101" pitchFamily="66" charset="0"/>
              </a:rPr>
              <a:t> Blender; </a:t>
            </a:r>
            <a:r>
              <a:rPr lang="en-GB" sz="2000" dirty="0" err="1">
                <a:latin typeface="Monotype Corsiva" panose="03010101010201010101" pitchFamily="66" charset="0"/>
              </a:rPr>
              <a:t>Ceci</a:t>
            </a:r>
            <a:r>
              <a:rPr lang="en-GB" sz="2000" dirty="0">
                <a:latin typeface="Monotype Corsiva" panose="03010101010201010101" pitchFamily="66" charset="0"/>
              </a:rPr>
              <a:t> </a:t>
            </a:r>
            <a:r>
              <a:rPr lang="en-GB" sz="2000" dirty="0" err="1">
                <a:latin typeface="Monotype Corsiva" panose="03010101010201010101" pitchFamily="66" charset="0"/>
              </a:rPr>
              <a:t>associé</a:t>
            </a:r>
            <a:r>
              <a:rPr lang="en-GB" sz="2000" dirty="0">
                <a:latin typeface="Monotype Corsiva" panose="03010101010201010101" pitchFamily="66" charset="0"/>
              </a:rPr>
              <a:t> à </a:t>
            </a:r>
            <a:r>
              <a:rPr lang="en-GB" sz="2000" dirty="0" err="1">
                <a:latin typeface="Monotype Corsiva" panose="03010101010201010101" pitchFamily="66" charset="0"/>
              </a:rPr>
              <a:t>l'impression</a:t>
            </a:r>
            <a:r>
              <a:rPr lang="en-GB" sz="2000" dirty="0">
                <a:latin typeface="Monotype Corsiva" panose="03010101010201010101" pitchFamily="66" charset="0"/>
              </a:rPr>
              <a:t> 3D, a </a:t>
            </a:r>
            <a:r>
              <a:rPr lang="en-GB" sz="2000" dirty="0" err="1">
                <a:latin typeface="Monotype Corsiva" panose="03010101010201010101" pitchFamily="66" charset="0"/>
              </a:rPr>
              <a:t>donné</a:t>
            </a:r>
            <a:r>
              <a:rPr lang="en-GB" sz="2000" dirty="0">
                <a:latin typeface="Monotype Corsiva" panose="03010101010201010101" pitchFamily="66" charset="0"/>
              </a:rPr>
              <a:t> </a:t>
            </a:r>
            <a:r>
              <a:rPr lang="en-GB" sz="2000" dirty="0" err="1">
                <a:latin typeface="Monotype Corsiva" panose="03010101010201010101" pitchFamily="66" charset="0"/>
              </a:rPr>
              <a:t>une</a:t>
            </a:r>
            <a:r>
              <a:rPr lang="en-GB" sz="2000" dirty="0">
                <a:latin typeface="Monotype Corsiva" panose="03010101010201010101" pitchFamily="66" charset="0"/>
              </a:rPr>
              <a:t> </a:t>
            </a:r>
            <a:r>
              <a:rPr lang="en-GB" sz="2000" dirty="0" err="1">
                <a:latin typeface="Monotype Corsiva" panose="03010101010201010101" pitchFamily="66" charset="0"/>
              </a:rPr>
              <a:t>autre</a:t>
            </a:r>
            <a:r>
              <a:rPr lang="en-GB" sz="2000" dirty="0">
                <a:latin typeface="Monotype Corsiva" panose="03010101010201010101" pitchFamily="66" charset="0"/>
              </a:rPr>
              <a:t> dimension à </a:t>
            </a:r>
            <a:r>
              <a:rPr lang="en-GB" sz="2000" dirty="0" err="1">
                <a:latin typeface="Monotype Corsiva" panose="03010101010201010101" pitchFamily="66" charset="0"/>
              </a:rPr>
              <a:t>l'industrie</a:t>
            </a:r>
            <a:r>
              <a:rPr lang="en-GB" sz="2000" dirty="0">
                <a:latin typeface="Monotype Corsiva" panose="03010101010201010101" pitchFamily="66" charset="0"/>
              </a:rPr>
              <a:t> des </a:t>
            </a:r>
            <a:r>
              <a:rPr lang="en-GB" sz="2000" dirty="0" err="1">
                <a:latin typeface="Monotype Corsiva" panose="03010101010201010101" pitchFamily="66" charset="0"/>
              </a:rPr>
              <a:t>modèles</a:t>
            </a:r>
            <a:r>
              <a:rPr lang="en-GB" sz="2000" dirty="0">
                <a:latin typeface="Monotype Corsiva" panose="03010101010201010101" pitchFamily="66" charset="0"/>
              </a:rPr>
              <a:t> </a:t>
            </a:r>
            <a:r>
              <a:rPr lang="en-GB" sz="2000" dirty="0" err="1">
                <a:latin typeface="Monotype Corsiva" panose="03010101010201010101" pitchFamily="66" charset="0"/>
              </a:rPr>
              <a:t>réduits</a:t>
            </a:r>
            <a:r>
              <a:rPr lang="en-GB" sz="2000" dirty="0">
                <a:latin typeface="Monotype Corsiva" panose="03010101010201010101" pitchFamily="66" charset="0"/>
              </a:rPr>
              <a:t> et du </a:t>
            </a:r>
            <a:r>
              <a:rPr lang="en-GB" sz="2000" dirty="0" err="1">
                <a:latin typeface="Monotype Corsiva" panose="03010101010201010101" pitchFamily="66" charset="0"/>
              </a:rPr>
              <a:t>colletionnage</a:t>
            </a:r>
            <a:r>
              <a:rPr lang="en-GB" sz="2000" dirty="0">
                <a:latin typeface="Monotype Corsiva" panose="03010101010201010101" pitchFamily="66" charset="0"/>
              </a:rPr>
              <a:t> (</a:t>
            </a:r>
            <a:r>
              <a:rPr lang="en-GB" sz="2000" dirty="0" err="1">
                <a:latin typeface="Monotype Corsiva" panose="03010101010201010101" pitchFamily="66" charset="0"/>
              </a:rPr>
              <a:t>ainsi</a:t>
            </a:r>
            <a:r>
              <a:rPr lang="en-GB" sz="2000" dirty="0">
                <a:latin typeface="Monotype Corsiva" panose="03010101010201010101" pitchFamily="66" charset="0"/>
              </a:rPr>
              <a:t> </a:t>
            </a:r>
            <a:r>
              <a:rPr lang="en-GB" sz="2000" dirty="0" err="1">
                <a:latin typeface="Monotype Corsiva" panose="03010101010201010101" pitchFamily="66" charset="0"/>
              </a:rPr>
              <a:t>qu'à</a:t>
            </a:r>
            <a:r>
              <a:rPr lang="en-GB" sz="2000" dirty="0">
                <a:latin typeface="Monotype Corsiva" panose="03010101010201010101" pitchFamily="66" charset="0"/>
              </a:rPr>
              <a:t> </a:t>
            </a:r>
            <a:r>
              <a:rPr lang="en-GB" sz="2000" dirty="0" err="1">
                <a:latin typeface="Monotype Corsiva" panose="03010101010201010101" pitchFamily="66" charset="0"/>
              </a:rPr>
              <a:t>l'industrie</a:t>
            </a:r>
            <a:r>
              <a:rPr lang="en-GB" sz="2000" dirty="0">
                <a:latin typeface="Monotype Corsiva" panose="03010101010201010101" pitchFamily="66" charset="0"/>
              </a:rPr>
              <a:t> du </a:t>
            </a:r>
            <a:r>
              <a:rPr lang="en-GB" sz="2000" dirty="0" err="1">
                <a:latin typeface="Monotype Corsiva" panose="03010101010201010101" pitchFamily="66" charset="0"/>
              </a:rPr>
              <a:t>jeu</a:t>
            </a:r>
            <a:r>
              <a:rPr lang="en-GB" sz="2000" dirty="0">
                <a:latin typeface="Monotype Corsiva" panose="03010101010201010101" pitchFamily="66" charset="0"/>
              </a:rPr>
              <a:t> </a:t>
            </a:r>
            <a:r>
              <a:rPr lang="en-GB" sz="2000" dirty="0" err="1">
                <a:latin typeface="Monotype Corsiva" panose="03010101010201010101" pitchFamily="66" charset="0"/>
              </a:rPr>
              <a:t>vidéo</a:t>
            </a:r>
            <a:r>
              <a:rPr lang="en-GB" sz="2000" dirty="0">
                <a:latin typeface="Monotype Corsiva" panose="03010101010201010101" pitchFamily="66" charset="0"/>
              </a:rPr>
              <a:t> et du </a:t>
            </a:r>
            <a:r>
              <a:rPr lang="en-GB" sz="2000" dirty="0" err="1">
                <a:latin typeface="Monotype Corsiva" panose="03010101010201010101" pitchFamily="66" charset="0"/>
              </a:rPr>
              <a:t>cinéma</a:t>
            </a:r>
            <a:r>
              <a:rPr lang="en-GB" sz="2000" dirty="0">
                <a:latin typeface="Monotype Corsiva" panose="03010101010201010101" pitchFamily="66" charset="0"/>
              </a:rPr>
              <a:t>). </a:t>
            </a:r>
            <a:r>
              <a:rPr lang="en-GB" sz="2000" dirty="0" err="1">
                <a:latin typeface="Monotype Corsiva" panose="03010101010201010101" pitchFamily="66" charset="0"/>
              </a:rPr>
              <a:t>Ces</a:t>
            </a:r>
            <a:r>
              <a:rPr lang="en-GB" sz="2000" dirty="0">
                <a:latin typeface="Monotype Corsiva" panose="03010101010201010101" pitchFamily="66" charset="0"/>
              </a:rPr>
              <a:t> </a:t>
            </a:r>
            <a:r>
              <a:rPr lang="en-GB" sz="2000" dirty="0" err="1">
                <a:latin typeface="Monotype Corsiva" panose="03010101010201010101" pitchFamily="66" charset="0"/>
              </a:rPr>
              <a:t>logiciels</a:t>
            </a:r>
            <a:r>
              <a:rPr lang="en-GB" sz="2000" dirty="0">
                <a:latin typeface="Monotype Corsiva" panose="03010101010201010101" pitchFamily="66" charset="0"/>
              </a:rPr>
              <a:t> de </a:t>
            </a:r>
            <a:r>
              <a:rPr lang="en-GB" sz="2000" dirty="0" err="1">
                <a:latin typeface="Monotype Corsiva" panose="03010101010201010101" pitchFamily="66" charset="0"/>
              </a:rPr>
              <a:t>modélisation</a:t>
            </a:r>
            <a:r>
              <a:rPr lang="en-GB" sz="2000" dirty="0">
                <a:latin typeface="Monotype Corsiva" panose="03010101010201010101" pitchFamily="66" charset="0"/>
              </a:rPr>
              <a:t> </a:t>
            </a:r>
            <a:r>
              <a:rPr lang="en-GB" sz="2000" dirty="0" err="1">
                <a:latin typeface="Monotype Corsiva" panose="03010101010201010101" pitchFamily="66" charset="0"/>
              </a:rPr>
              <a:t>utilisent</a:t>
            </a:r>
            <a:r>
              <a:rPr lang="en-GB" sz="2000" dirty="0">
                <a:latin typeface="Monotype Corsiva" panose="03010101010201010101" pitchFamily="66" charset="0"/>
              </a:rPr>
              <a:t> </a:t>
            </a:r>
            <a:r>
              <a:rPr lang="en-GB" sz="2000" dirty="0" err="1">
                <a:latin typeface="Monotype Corsiva" panose="03010101010201010101" pitchFamily="66" charset="0"/>
              </a:rPr>
              <a:t>principalement</a:t>
            </a:r>
            <a:r>
              <a:rPr lang="en-GB" sz="2000" dirty="0">
                <a:latin typeface="Monotype Corsiva" panose="03010101010201010101" pitchFamily="66" charset="0"/>
              </a:rPr>
              <a:t> des </a:t>
            </a:r>
            <a:r>
              <a:rPr lang="en-GB" sz="2000" dirty="0" err="1">
                <a:latin typeface="Monotype Corsiva" panose="03010101010201010101" pitchFamily="66" charset="0"/>
              </a:rPr>
              <a:t>formes</a:t>
            </a:r>
            <a:r>
              <a:rPr lang="en-GB" sz="2000" dirty="0">
                <a:latin typeface="Monotype Corsiva" panose="03010101010201010101" pitchFamily="66" charset="0"/>
              </a:rPr>
              <a:t> </a:t>
            </a:r>
            <a:r>
              <a:rPr lang="en-GB" sz="2000" dirty="0" err="1">
                <a:latin typeface="Monotype Corsiva" panose="03010101010201010101" pitchFamily="66" charset="0"/>
              </a:rPr>
              <a:t>géométriques</a:t>
            </a:r>
            <a:r>
              <a:rPr lang="en-GB" sz="2000" dirty="0">
                <a:latin typeface="Monotype Corsiva" panose="03010101010201010101" pitchFamily="66" charset="0"/>
              </a:rPr>
              <a:t> </a:t>
            </a:r>
            <a:r>
              <a:rPr lang="en-GB" sz="2000" dirty="0" err="1">
                <a:latin typeface="Monotype Corsiva" panose="03010101010201010101" pitchFamily="66" charset="0"/>
              </a:rPr>
              <a:t>comme</a:t>
            </a:r>
            <a:r>
              <a:rPr lang="en-GB" sz="2000" dirty="0">
                <a:latin typeface="Monotype Corsiva" panose="03010101010201010101" pitchFamily="66" charset="0"/>
              </a:rPr>
              <a:t> les </a:t>
            </a:r>
            <a:r>
              <a:rPr lang="fr-FR" sz="2000" dirty="0" err="1">
                <a:latin typeface="Monotype Corsiva" panose="03010101010201010101" pitchFamily="66" charset="0"/>
              </a:rPr>
              <a:t>parallépipèdes</a:t>
            </a:r>
            <a:r>
              <a:rPr lang="en-GB" sz="2000" dirty="0">
                <a:latin typeface="Monotype Corsiva" panose="03010101010201010101" pitchFamily="66" charset="0"/>
              </a:rPr>
              <a:t>, les spheres et les </a:t>
            </a:r>
            <a:r>
              <a:rPr lang="en-GB" sz="2000" dirty="0" err="1">
                <a:latin typeface="Monotype Corsiva" panose="03010101010201010101" pitchFamily="66" charset="0"/>
              </a:rPr>
              <a:t>tétraèdres</a:t>
            </a:r>
            <a:r>
              <a:rPr lang="en-GB" sz="2000" dirty="0">
                <a:latin typeface="Monotype Corsiva" panose="03010101010201010101" pitchFamily="66" charset="0"/>
              </a:rPr>
              <a:t> pour </a:t>
            </a:r>
            <a:r>
              <a:rPr lang="en-GB" sz="2000" dirty="0" err="1">
                <a:latin typeface="Monotype Corsiva" panose="03010101010201010101" pitchFamily="66" charset="0"/>
              </a:rPr>
              <a:t>reproduire</a:t>
            </a:r>
            <a:r>
              <a:rPr lang="en-GB" sz="2000" dirty="0">
                <a:latin typeface="Monotype Corsiva" panose="03010101010201010101" pitchFamily="66" charset="0"/>
              </a:rPr>
              <a:t> le </a:t>
            </a:r>
            <a:r>
              <a:rPr lang="en-GB" sz="2000" dirty="0" err="1">
                <a:latin typeface="Monotype Corsiva" panose="03010101010201010101" pitchFamily="66" charset="0"/>
              </a:rPr>
              <a:t>réel</a:t>
            </a:r>
            <a:r>
              <a:rPr lang="en-GB" sz="2000" dirty="0">
                <a:latin typeface="Monotype Corsiva" panose="03010101010201010101" pitchFamily="66" charset="0"/>
              </a:rPr>
              <a:t>. </a:t>
            </a:r>
            <a:r>
              <a:rPr lang="en-GB" sz="2000" dirty="0" err="1">
                <a:latin typeface="Monotype Corsiva" panose="03010101010201010101" pitchFamily="66" charset="0"/>
              </a:rPr>
              <a:t>C’est</a:t>
            </a:r>
            <a:r>
              <a:rPr lang="en-GB" sz="2000" dirty="0">
                <a:latin typeface="Monotype Corsiva" panose="03010101010201010101" pitchFamily="66" charset="0"/>
              </a:rPr>
              <a:t> </a:t>
            </a:r>
            <a:r>
              <a:rPr lang="en-GB" sz="2000" dirty="0" err="1">
                <a:latin typeface="Monotype Corsiva" panose="03010101010201010101" pitchFamily="66" charset="0"/>
              </a:rPr>
              <a:t>l’exemple</a:t>
            </a:r>
            <a:r>
              <a:rPr lang="en-GB" sz="2000" dirty="0">
                <a:latin typeface="Monotype Corsiva" panose="03010101010201010101" pitchFamily="66" charset="0"/>
              </a:rPr>
              <a:t> des images ci-</a:t>
            </a:r>
            <a:r>
              <a:rPr lang="en-GB" sz="2000" dirty="0" err="1">
                <a:latin typeface="Monotype Corsiva" panose="03010101010201010101" pitchFamily="66" charset="0"/>
              </a:rPr>
              <a:t>contre</a:t>
            </a:r>
            <a:r>
              <a:rPr lang="en-GB" sz="2000" dirty="0">
                <a:latin typeface="Monotype Corsiva" panose="03010101010201010101" pitchFamily="66" charset="0"/>
              </a:rPr>
              <a:t>.</a:t>
            </a:r>
          </a:p>
          <a:p>
            <a:pPr algn="just"/>
            <a:r>
              <a:rPr lang="fr-FR" sz="2000" dirty="0">
                <a:latin typeface="Monotype Corsiva" panose="03010101010201010101" pitchFamily="66" charset="0"/>
              </a:rPr>
              <a:t> </a:t>
            </a:r>
            <a:r>
              <a:rPr lang="en-GB" sz="2000" dirty="0">
                <a:latin typeface="Monotype Corsiva" panose="03010101010201010101" pitchFamily="66" charset="0"/>
              </a:rPr>
              <a:t>	</a:t>
            </a:r>
            <a:r>
              <a:rPr lang="en-GB" sz="2000" dirty="0" err="1">
                <a:latin typeface="Monotype Corsiva" panose="03010101010201010101" pitchFamily="66" charset="0"/>
              </a:rPr>
              <a:t>D’autre</a:t>
            </a:r>
            <a:r>
              <a:rPr lang="en-GB" sz="2000" dirty="0">
                <a:latin typeface="Monotype Corsiva" panose="03010101010201010101" pitchFamily="66" charset="0"/>
              </a:rPr>
              <a:t> part, </a:t>
            </a:r>
            <a:r>
              <a:rPr lang="en-GB" sz="2000" dirty="0" err="1">
                <a:latin typeface="Monotype Corsiva" panose="03010101010201010101" pitchFamily="66" charset="0"/>
              </a:rPr>
              <a:t>notons</a:t>
            </a:r>
            <a:r>
              <a:rPr lang="en-GB" sz="2000" dirty="0">
                <a:latin typeface="Monotype Corsiva" panose="03010101010201010101" pitchFamily="66" charset="0"/>
              </a:rPr>
              <a:t> </a:t>
            </a:r>
            <a:r>
              <a:rPr lang="en-GB" sz="2000" dirty="0" err="1">
                <a:latin typeface="Monotype Corsiva" panose="03010101010201010101" pitchFamily="66" charset="0"/>
              </a:rPr>
              <a:t>également</a:t>
            </a:r>
            <a:r>
              <a:rPr lang="en-GB" sz="2000" dirty="0">
                <a:latin typeface="Monotype Corsiva" panose="03010101010201010101" pitchFamily="66" charset="0"/>
              </a:rPr>
              <a:t> que les </a:t>
            </a:r>
            <a:r>
              <a:rPr lang="en-GB" sz="2000" dirty="0" err="1">
                <a:latin typeface="Monotype Corsiva" panose="03010101010201010101" pitchFamily="66" charset="0"/>
              </a:rPr>
              <a:t>principales</a:t>
            </a:r>
            <a:r>
              <a:rPr lang="en-GB" sz="2000" dirty="0">
                <a:latin typeface="Monotype Corsiva" panose="03010101010201010101" pitchFamily="66" charset="0"/>
              </a:rPr>
              <a:t> topologies </a:t>
            </a:r>
            <a:r>
              <a:rPr lang="en-GB" sz="2000" dirty="0" err="1">
                <a:latin typeface="Monotype Corsiva" panose="03010101010201010101" pitchFamily="66" charset="0"/>
              </a:rPr>
              <a:t>réseau</a:t>
            </a:r>
            <a:r>
              <a:rPr lang="en-GB" sz="2000" dirty="0">
                <a:latin typeface="Monotype Corsiva" panose="03010101010201010101" pitchFamily="66" charset="0"/>
              </a:rPr>
              <a:t> </a:t>
            </a:r>
            <a:r>
              <a:rPr lang="en-GB" sz="2000" dirty="0" err="1">
                <a:latin typeface="Monotype Corsiva" panose="03010101010201010101" pitchFamily="66" charset="0"/>
              </a:rPr>
              <a:t>en</a:t>
            </a:r>
            <a:r>
              <a:rPr lang="en-GB" sz="2000" dirty="0">
                <a:latin typeface="Monotype Corsiva" panose="03010101010201010101" pitchFamily="66" charset="0"/>
              </a:rPr>
              <a:t> Informatique </a:t>
            </a:r>
            <a:r>
              <a:rPr lang="en-GB" sz="2000" dirty="0" err="1">
                <a:latin typeface="Monotype Corsiva" panose="03010101010201010101" pitchFamily="66" charset="0"/>
              </a:rPr>
              <a:t>sont</a:t>
            </a:r>
            <a:r>
              <a:rPr lang="en-GB" sz="2000" dirty="0">
                <a:latin typeface="Monotype Corsiva" panose="03010101010201010101" pitchFamily="66" charset="0"/>
              </a:rPr>
              <a:t> </a:t>
            </a:r>
            <a:r>
              <a:rPr lang="en-GB" sz="2000" dirty="0" err="1">
                <a:latin typeface="Monotype Corsiva" panose="03010101010201010101" pitchFamily="66" charset="0"/>
              </a:rPr>
              <a:t>régies</a:t>
            </a:r>
            <a:r>
              <a:rPr lang="en-GB" sz="2000" dirty="0">
                <a:latin typeface="Monotype Corsiva" panose="03010101010201010101" pitchFamily="66" charset="0"/>
              </a:rPr>
              <a:t> sous des </a:t>
            </a:r>
            <a:r>
              <a:rPr lang="en-GB" sz="2000" dirty="0" err="1">
                <a:latin typeface="Monotype Corsiva" panose="03010101010201010101" pitchFamily="66" charset="0"/>
              </a:rPr>
              <a:t>formes</a:t>
            </a:r>
            <a:r>
              <a:rPr lang="en-GB" sz="2000" dirty="0">
                <a:latin typeface="Monotype Corsiva" panose="03010101010201010101" pitchFamily="66" charset="0"/>
              </a:rPr>
              <a:t> </a:t>
            </a:r>
            <a:r>
              <a:rPr lang="en-GB" sz="2000" dirty="0" err="1">
                <a:latin typeface="Monotype Corsiva" panose="03010101010201010101" pitchFamily="66" charset="0"/>
              </a:rPr>
              <a:t>géométriques</a:t>
            </a:r>
            <a:r>
              <a:rPr lang="en-GB" sz="2000" dirty="0">
                <a:latin typeface="Monotype Corsiva" panose="03010101010201010101" pitchFamily="66" charset="0"/>
              </a:rPr>
              <a:t> bien </a:t>
            </a:r>
            <a:r>
              <a:rPr lang="en-GB" sz="2000" dirty="0" err="1">
                <a:latin typeface="Monotype Corsiva" panose="03010101010201010101" pitchFamily="66" charset="0"/>
              </a:rPr>
              <a:t>définies</a:t>
            </a:r>
            <a:r>
              <a:rPr lang="en-GB" sz="2000" dirty="0">
                <a:latin typeface="Monotype Corsiva" panose="03010101010201010101" pitchFamily="66" charset="0"/>
              </a:rPr>
              <a:t>; </a:t>
            </a:r>
            <a:r>
              <a:rPr lang="en-GB" sz="2000" dirty="0" err="1">
                <a:latin typeface="Monotype Corsiva" panose="03010101010201010101" pitchFamily="66" charset="0"/>
              </a:rPr>
              <a:t>ainsi</a:t>
            </a:r>
            <a:r>
              <a:rPr lang="en-GB" sz="2000" dirty="0">
                <a:latin typeface="Monotype Corsiva" panose="03010101010201010101" pitchFamily="66" charset="0"/>
              </a:rPr>
              <a:t>:</a:t>
            </a:r>
          </a:p>
          <a:p>
            <a:pPr algn="just"/>
            <a:r>
              <a:rPr lang="en-GB" sz="2000" dirty="0">
                <a:latin typeface="Monotype Corsiva" panose="03010101010201010101" pitchFamily="66" charset="0"/>
              </a:rPr>
              <a:t>-</a:t>
            </a:r>
            <a:r>
              <a:rPr lang="en-GB" sz="2000" b="1" dirty="0">
                <a:latin typeface="Monotype Corsiva" panose="03010101010201010101" pitchFamily="66" charset="0"/>
              </a:rPr>
              <a:t>La </a:t>
            </a:r>
            <a:r>
              <a:rPr lang="en-GB" sz="2000" b="1" dirty="0" err="1">
                <a:latin typeface="Monotype Corsiva" panose="03010101010201010101" pitchFamily="66" charset="0"/>
              </a:rPr>
              <a:t>topologie</a:t>
            </a:r>
            <a:r>
              <a:rPr lang="en-GB" sz="2000" b="1" dirty="0">
                <a:latin typeface="Monotype Corsiva" panose="03010101010201010101" pitchFamily="66" charset="0"/>
              </a:rPr>
              <a:t> </a:t>
            </a:r>
            <a:r>
              <a:rPr lang="en-GB" sz="2000" b="1" dirty="0" err="1">
                <a:latin typeface="Monotype Corsiva" panose="03010101010201010101" pitchFamily="66" charset="0"/>
              </a:rPr>
              <a:t>en</a:t>
            </a:r>
            <a:r>
              <a:rPr lang="en-GB" sz="2000" b="1" dirty="0">
                <a:latin typeface="Monotype Corsiva" panose="03010101010201010101" pitchFamily="66" charset="0"/>
              </a:rPr>
              <a:t> </a:t>
            </a:r>
            <a:r>
              <a:rPr lang="en-GB" sz="2000" b="1" dirty="0" err="1">
                <a:latin typeface="Monotype Corsiva" panose="03010101010201010101" pitchFamily="66" charset="0"/>
              </a:rPr>
              <a:t>anneau</a:t>
            </a:r>
            <a:r>
              <a:rPr lang="en-GB" sz="2000" b="1" dirty="0">
                <a:latin typeface="Monotype Corsiva" panose="03010101010201010101" pitchFamily="66" charset="0"/>
              </a:rPr>
              <a:t> : </a:t>
            </a:r>
            <a:r>
              <a:rPr lang="en-GB" sz="2000" dirty="0">
                <a:latin typeface="Monotype Corsiva" panose="03010101010201010101" pitchFamily="66" charset="0"/>
              </a:rPr>
              <a:t>correspond à  un </a:t>
            </a:r>
            <a:r>
              <a:rPr lang="en-GB" sz="2000" dirty="0" err="1">
                <a:latin typeface="Monotype Corsiva" panose="03010101010201010101" pitchFamily="66" charset="0"/>
              </a:rPr>
              <a:t>cercle</a:t>
            </a:r>
            <a:r>
              <a:rPr lang="en-GB" sz="2000" dirty="0">
                <a:latin typeface="Monotype Corsiva" panose="03010101010201010101" pitchFamily="66" charset="0"/>
              </a:rPr>
              <a:t> </a:t>
            </a:r>
            <a:r>
              <a:rPr lang="en-GB" sz="2000" dirty="0" err="1">
                <a:latin typeface="Monotype Corsiva" panose="03010101010201010101" pitchFamily="66" charset="0"/>
              </a:rPr>
              <a:t>orienté</a:t>
            </a:r>
            <a:r>
              <a:rPr lang="en-GB" sz="2000" dirty="0">
                <a:latin typeface="Monotype Corsiva" panose="03010101010201010101" pitchFamily="66" charset="0"/>
              </a:rPr>
              <a:t> </a:t>
            </a:r>
            <a:r>
              <a:rPr lang="en-GB" sz="2000" dirty="0" err="1">
                <a:latin typeface="Monotype Corsiva" panose="03010101010201010101" pitchFamily="66" charset="0"/>
              </a:rPr>
              <a:t>où</a:t>
            </a:r>
            <a:r>
              <a:rPr lang="en-GB" sz="2000" dirty="0">
                <a:latin typeface="Monotype Corsiva" panose="03010101010201010101" pitchFamily="66" charset="0"/>
              </a:rPr>
              <a:t> </a:t>
            </a:r>
            <a:r>
              <a:rPr lang="en-GB" sz="2000" dirty="0" err="1">
                <a:latin typeface="Monotype Corsiva" panose="03010101010201010101" pitchFamily="66" charset="0"/>
              </a:rPr>
              <a:t>chaque</a:t>
            </a:r>
            <a:r>
              <a:rPr lang="en-GB" sz="2000" dirty="0">
                <a:latin typeface="Monotype Corsiva" panose="03010101010201010101" pitchFamily="66" charset="0"/>
              </a:rPr>
              <a:t> </a:t>
            </a:r>
            <a:r>
              <a:rPr lang="en-GB" sz="2000" dirty="0" err="1">
                <a:latin typeface="Monotype Corsiva" panose="03010101010201010101" pitchFamily="66" charset="0"/>
              </a:rPr>
              <a:t>ordinateur</a:t>
            </a:r>
            <a:r>
              <a:rPr lang="en-GB" sz="2000" dirty="0">
                <a:latin typeface="Monotype Corsiva" panose="03010101010201010101" pitchFamily="66" charset="0"/>
              </a:rPr>
              <a:t> </a:t>
            </a:r>
            <a:r>
              <a:rPr lang="en-GB" sz="2000" dirty="0" err="1">
                <a:latin typeface="Monotype Corsiva" panose="03010101010201010101" pitchFamily="66" charset="0"/>
              </a:rPr>
              <a:t>n’échange</a:t>
            </a:r>
            <a:r>
              <a:rPr lang="en-GB" sz="2000" dirty="0">
                <a:latin typeface="Monotype Corsiva" panose="03010101010201010101" pitchFamily="66" charset="0"/>
              </a:rPr>
              <a:t> </a:t>
            </a:r>
            <a:r>
              <a:rPr lang="en-GB" sz="2000" dirty="0" err="1">
                <a:latin typeface="Monotype Corsiva" panose="03010101010201010101" pitchFamily="66" charset="0"/>
              </a:rPr>
              <a:t>directement</a:t>
            </a:r>
            <a:r>
              <a:rPr lang="en-GB" sz="2000" dirty="0">
                <a:latin typeface="Monotype Corsiva" panose="03010101010201010101" pitchFamily="66" charset="0"/>
              </a:rPr>
              <a:t> </a:t>
            </a:r>
            <a:r>
              <a:rPr lang="en-GB" sz="2000" dirty="0" err="1">
                <a:latin typeface="Monotype Corsiva" panose="03010101010201010101" pitchFamily="66" charset="0"/>
              </a:rPr>
              <a:t>qu'avec</a:t>
            </a:r>
            <a:r>
              <a:rPr lang="en-GB" sz="2000" dirty="0">
                <a:latin typeface="Monotype Corsiva" panose="03010101010201010101" pitchFamily="66" charset="0"/>
              </a:rPr>
              <a:t> un </a:t>
            </a:r>
            <a:r>
              <a:rPr lang="en-GB" sz="2000" dirty="0" err="1">
                <a:latin typeface="Monotype Corsiva" panose="03010101010201010101" pitchFamily="66" charset="0"/>
              </a:rPr>
              <a:t>seul</a:t>
            </a:r>
            <a:r>
              <a:rPr lang="en-GB" sz="2000" dirty="0">
                <a:latin typeface="Monotype Corsiva" panose="03010101010201010101" pitchFamily="66" charset="0"/>
              </a:rPr>
              <a:t> et unique </a:t>
            </a:r>
            <a:r>
              <a:rPr lang="en-GB" sz="2000" dirty="0" err="1">
                <a:latin typeface="Monotype Corsiva" panose="03010101010201010101" pitchFamily="66" charset="0"/>
              </a:rPr>
              <a:t>ordinateur</a:t>
            </a:r>
            <a:r>
              <a:rPr lang="en-GB" sz="2000" dirty="0">
                <a:latin typeface="Monotype Corsiva" panose="03010101010201010101" pitchFamily="66" charset="0"/>
              </a:rPr>
              <a:t> et </a:t>
            </a:r>
            <a:r>
              <a:rPr lang="en-GB" sz="2000" dirty="0" err="1">
                <a:latin typeface="Monotype Corsiva" panose="03010101010201010101" pitchFamily="66" charset="0"/>
              </a:rPr>
              <a:t>où</a:t>
            </a:r>
            <a:r>
              <a:rPr lang="en-GB" sz="2000" dirty="0">
                <a:latin typeface="Monotype Corsiva" panose="03010101010201010101" pitchFamily="66" charset="0"/>
              </a:rPr>
              <a:t> les </a:t>
            </a:r>
            <a:r>
              <a:rPr lang="en-GB" sz="2000" dirty="0" err="1">
                <a:latin typeface="Monotype Corsiva" panose="03010101010201010101" pitchFamily="66" charset="0"/>
              </a:rPr>
              <a:t>informations</a:t>
            </a:r>
            <a:r>
              <a:rPr lang="en-GB" sz="2000" dirty="0">
                <a:latin typeface="Monotype Corsiva" panose="03010101010201010101" pitchFamily="66" charset="0"/>
              </a:rPr>
              <a:t> ne </a:t>
            </a:r>
            <a:r>
              <a:rPr lang="en-GB" sz="2000" dirty="0" err="1">
                <a:latin typeface="Monotype Corsiva" panose="03010101010201010101" pitchFamily="66" charset="0"/>
              </a:rPr>
              <a:t>circulent</a:t>
            </a:r>
            <a:r>
              <a:rPr lang="en-GB" sz="2000" dirty="0">
                <a:latin typeface="Monotype Corsiva" panose="03010101010201010101" pitchFamily="66" charset="0"/>
              </a:rPr>
              <a:t> que dans un </a:t>
            </a:r>
            <a:r>
              <a:rPr lang="en-GB" sz="2000" dirty="0" err="1">
                <a:latin typeface="Monotype Corsiva" panose="03010101010201010101" pitchFamily="66" charset="0"/>
              </a:rPr>
              <a:t>seul</a:t>
            </a:r>
            <a:r>
              <a:rPr lang="en-GB" sz="2000" dirty="0">
                <a:latin typeface="Monotype Corsiva" panose="03010101010201010101" pitchFamily="66" charset="0"/>
              </a:rPr>
              <a:t> </a:t>
            </a:r>
            <a:r>
              <a:rPr lang="en-GB" sz="2000" dirty="0" err="1">
                <a:latin typeface="Monotype Corsiva" panose="03010101010201010101" pitchFamily="66" charset="0"/>
              </a:rPr>
              <a:t>sens.</a:t>
            </a:r>
            <a:endParaRPr lang="en-GB" sz="2000" dirty="0">
              <a:latin typeface="Monotype Corsiva" panose="03010101010201010101" pitchFamily="66" charset="0"/>
            </a:endParaRPr>
          </a:p>
          <a:p>
            <a:pPr algn="just"/>
            <a:r>
              <a:rPr lang="en-GB" sz="2000" dirty="0">
                <a:latin typeface="Monotype Corsiva" panose="03010101010201010101" pitchFamily="66" charset="0"/>
              </a:rPr>
              <a:t>-</a:t>
            </a:r>
            <a:r>
              <a:rPr lang="en-GB" sz="2000" b="1" dirty="0">
                <a:latin typeface="Monotype Corsiva" panose="03010101010201010101" pitchFamily="66" charset="0"/>
              </a:rPr>
              <a:t>La </a:t>
            </a:r>
            <a:r>
              <a:rPr lang="en-GB" sz="2000" b="1" dirty="0" err="1">
                <a:latin typeface="Monotype Corsiva" panose="03010101010201010101" pitchFamily="66" charset="0"/>
              </a:rPr>
              <a:t>topologie</a:t>
            </a:r>
            <a:r>
              <a:rPr lang="en-GB" sz="2000" b="1" dirty="0">
                <a:latin typeface="Monotype Corsiva" panose="03010101010201010101" pitchFamily="66" charset="0"/>
              </a:rPr>
              <a:t> </a:t>
            </a:r>
            <a:r>
              <a:rPr lang="en-GB" sz="2000" b="1" dirty="0" err="1">
                <a:latin typeface="Monotype Corsiva" panose="03010101010201010101" pitchFamily="66" charset="0"/>
              </a:rPr>
              <a:t>en</a:t>
            </a:r>
            <a:r>
              <a:rPr lang="en-GB" sz="2000" b="1" dirty="0">
                <a:latin typeface="Monotype Corsiva" panose="03010101010201010101" pitchFamily="66" charset="0"/>
              </a:rPr>
              <a:t> étoile : </a:t>
            </a:r>
            <a:r>
              <a:rPr lang="en-GB" sz="2000" dirty="0" err="1">
                <a:latin typeface="Monotype Corsiva" panose="03010101010201010101" pitchFamily="66" charset="0"/>
              </a:rPr>
              <a:t>est</a:t>
            </a:r>
            <a:r>
              <a:rPr lang="en-GB" sz="2000" dirty="0">
                <a:latin typeface="Monotype Corsiva" panose="03010101010201010101" pitchFamily="66" charset="0"/>
              </a:rPr>
              <a:t> </a:t>
            </a:r>
            <a:r>
              <a:rPr lang="en-GB" sz="2000" dirty="0" err="1">
                <a:latin typeface="Monotype Corsiva" panose="03010101010201010101" pitchFamily="66" charset="0"/>
              </a:rPr>
              <a:t>comme</a:t>
            </a:r>
            <a:r>
              <a:rPr lang="en-GB" sz="2000" dirty="0">
                <a:latin typeface="Monotype Corsiva" panose="03010101010201010101" pitchFamily="66" charset="0"/>
              </a:rPr>
              <a:t> un </a:t>
            </a:r>
            <a:r>
              <a:rPr lang="en-GB" sz="2000" dirty="0" err="1">
                <a:latin typeface="Monotype Corsiva" panose="03010101010201010101" pitchFamily="66" charset="0"/>
              </a:rPr>
              <a:t>polygone</a:t>
            </a:r>
            <a:r>
              <a:rPr lang="en-GB" sz="2000" dirty="0">
                <a:latin typeface="Monotype Corsiva" panose="03010101010201010101" pitchFamily="66" charset="0"/>
              </a:rPr>
              <a:t> dans </a:t>
            </a:r>
            <a:r>
              <a:rPr lang="en-GB" sz="2000" dirty="0" err="1">
                <a:latin typeface="Monotype Corsiva" panose="03010101010201010101" pitchFamily="66" charset="0"/>
              </a:rPr>
              <a:t>lequel</a:t>
            </a:r>
            <a:r>
              <a:rPr lang="en-GB" sz="2000" dirty="0">
                <a:latin typeface="Monotype Corsiva" panose="03010101010201010101" pitchFamily="66" charset="0"/>
              </a:rPr>
              <a:t> tout les </a:t>
            </a:r>
            <a:r>
              <a:rPr lang="en-GB" sz="2000" dirty="0" err="1">
                <a:latin typeface="Monotype Corsiva" panose="03010101010201010101" pitchFamily="66" charset="0"/>
              </a:rPr>
              <a:t>sommets</a:t>
            </a:r>
            <a:r>
              <a:rPr lang="en-GB" sz="2000" dirty="0">
                <a:latin typeface="Monotype Corsiva" panose="03010101010201010101" pitchFamily="66" charset="0"/>
              </a:rPr>
              <a:t> </a:t>
            </a:r>
            <a:r>
              <a:rPr lang="en-GB" sz="2000" dirty="0" err="1">
                <a:latin typeface="Monotype Corsiva" panose="03010101010201010101" pitchFamily="66" charset="0"/>
              </a:rPr>
              <a:t>sont</a:t>
            </a:r>
            <a:r>
              <a:rPr lang="en-GB" sz="2000" dirty="0">
                <a:latin typeface="Monotype Corsiva" panose="03010101010201010101" pitchFamily="66" charset="0"/>
              </a:rPr>
              <a:t> </a:t>
            </a:r>
            <a:r>
              <a:rPr lang="en-GB" sz="2000" dirty="0" err="1">
                <a:latin typeface="Monotype Corsiva" panose="03010101010201010101" pitchFamily="66" charset="0"/>
              </a:rPr>
              <a:t>reliés</a:t>
            </a:r>
            <a:r>
              <a:rPr lang="en-GB" sz="2000" dirty="0">
                <a:latin typeface="Monotype Corsiva" panose="03010101010201010101" pitchFamily="66" charset="0"/>
              </a:rPr>
              <a:t> à un </a:t>
            </a:r>
            <a:r>
              <a:rPr lang="en-GB" sz="2000" dirty="0" err="1">
                <a:latin typeface="Monotype Corsiva" panose="03010101010201010101" pitchFamily="66" charset="0"/>
              </a:rPr>
              <a:t>élément</a:t>
            </a:r>
            <a:r>
              <a:rPr lang="en-GB" sz="2000" dirty="0">
                <a:latin typeface="Monotype Corsiva" panose="03010101010201010101" pitchFamily="66" charset="0"/>
              </a:rPr>
              <a:t> central qui </a:t>
            </a:r>
            <a:r>
              <a:rPr lang="en-GB" sz="2000" dirty="0" err="1">
                <a:latin typeface="Monotype Corsiva" panose="03010101010201010101" pitchFamily="66" charset="0"/>
              </a:rPr>
              <a:t>établit</a:t>
            </a:r>
            <a:r>
              <a:rPr lang="en-GB" sz="2000" dirty="0">
                <a:latin typeface="Monotype Corsiva" panose="03010101010201010101" pitchFamily="66" charset="0"/>
              </a:rPr>
              <a:t> le </a:t>
            </a:r>
            <a:r>
              <a:rPr lang="en-GB" sz="2000" dirty="0" err="1">
                <a:latin typeface="Monotype Corsiva" panose="03010101010201010101" pitchFamily="66" charset="0"/>
              </a:rPr>
              <a:t>principe</a:t>
            </a:r>
            <a:r>
              <a:rPr lang="en-GB" sz="2000" dirty="0">
                <a:latin typeface="Monotype Corsiva" panose="03010101010201010101" pitchFamily="66" charset="0"/>
              </a:rPr>
              <a:t> </a:t>
            </a:r>
            <a:r>
              <a:rPr lang="en-GB" sz="2000" dirty="0" err="1">
                <a:latin typeface="Monotype Corsiva" panose="03010101010201010101" pitchFamily="66" charset="0"/>
              </a:rPr>
              <a:t>d’échange</a:t>
            </a:r>
            <a:r>
              <a:rPr lang="en-GB" sz="2000" dirty="0">
                <a:latin typeface="Monotype Corsiva" panose="03010101010201010101" pitchFamily="66" charset="0"/>
              </a:rPr>
              <a:t>.</a:t>
            </a:r>
          </a:p>
          <a:p>
            <a:pPr marL="0" indent="0" algn="just">
              <a:buNone/>
            </a:pPr>
            <a:r>
              <a:rPr lang="fr-FR" sz="2000" dirty="0">
                <a:latin typeface="Monotype Corsiva" panose="03010101010201010101" pitchFamily="66" charset="0"/>
              </a:rPr>
              <a:t>	La géométrie intervient aussi dans la télédétection aux moyens de la technologie GPS (Global Positioning System), utilisant des satellites et des ondes électromagnétiques pour la géolocalisation.</a:t>
            </a:r>
          </a:p>
          <a:p>
            <a:pPr algn="just"/>
            <a:endParaRPr lang="en-GB" sz="2000" dirty="0">
              <a:latin typeface="Monotype Corsiva" panose="03010101010201010101" pitchFamily="66" charset="0"/>
            </a:endParaRPr>
          </a:p>
        </p:txBody>
      </p:sp>
      <p:sp>
        <p:nvSpPr>
          <p:cNvPr id="3" name="Espace réservé du texte 2">
            <a:extLst>
              <a:ext uri="{FF2B5EF4-FFF2-40B4-BE49-F238E27FC236}">
                <a16:creationId xmlns:a16="http://schemas.microsoft.com/office/drawing/2014/main" id="{5BBA98A1-84EB-4844-8F33-BA5150D4BBB9}"/>
              </a:ext>
            </a:extLst>
          </p:cNvPr>
          <p:cNvSpPr>
            <a:spLocks noGrp="1"/>
          </p:cNvSpPr>
          <p:nvPr>
            <p:ph type="body" idx="4294967295"/>
          </p:nvPr>
        </p:nvSpPr>
        <p:spPr>
          <a:xfrm>
            <a:off x="2689934" y="0"/>
            <a:ext cx="2270125" cy="477837"/>
          </a:xfrm>
        </p:spPr>
        <p:txBody>
          <a:bodyPr>
            <a:normAutofit fontScale="92500"/>
          </a:bodyPr>
          <a:lstStyle/>
          <a:p>
            <a:pPr marL="0" indent="0">
              <a:buNone/>
            </a:pPr>
            <a:r>
              <a:rPr lang="en-GB" b="1" dirty="0" err="1">
                <a:latin typeface="Monotype Corsiva" panose="03010101010201010101" pitchFamily="66" charset="0"/>
              </a:rPr>
              <a:t>En</a:t>
            </a:r>
            <a:r>
              <a:rPr lang="en-GB" b="1" dirty="0">
                <a:latin typeface="Monotype Corsiva" panose="03010101010201010101" pitchFamily="66" charset="0"/>
              </a:rPr>
              <a:t> Informatique</a:t>
            </a:r>
          </a:p>
        </p:txBody>
      </p:sp>
      <p:sp>
        <p:nvSpPr>
          <p:cNvPr id="11" name="Espace réservé du numéro de diapositive 5">
            <a:extLst>
              <a:ext uri="{FF2B5EF4-FFF2-40B4-BE49-F238E27FC236}">
                <a16:creationId xmlns:a16="http://schemas.microsoft.com/office/drawing/2014/main" id="{78F04120-2F25-43B0-9558-A6A066C0FCE9}"/>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18</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1686132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Espace réservé pour une image  16">
            <a:extLst>
              <a:ext uri="{FF2B5EF4-FFF2-40B4-BE49-F238E27FC236}">
                <a16:creationId xmlns:a16="http://schemas.microsoft.com/office/drawing/2014/main" id="{F0E1DA2E-3231-4BAF-BB6C-1A67B8FC9DE2}"/>
              </a:ext>
            </a:extLst>
          </p:cNvPr>
          <p:cNvPicPr>
            <a:picLocks noGrp="1" noChangeAspect="1"/>
          </p:cNvPicPr>
          <p:nvPr>
            <p:ph type="pic" sz="quarter" idx="13"/>
          </p:nvPr>
        </p:nvPicPr>
        <p:blipFill>
          <a:blip r:embed="rId2"/>
          <a:srcRect l="21834" r="21834"/>
          <a:stretch>
            <a:fillRect/>
          </a:stretch>
        </p:blipFill>
        <p:spPr>
          <a:xfrm>
            <a:off x="6995604" y="347795"/>
            <a:ext cx="3163399" cy="3159289"/>
          </a:xfrm>
          <a:prstGeom prst="rect">
            <a:avLst/>
          </a:prstGeom>
          <a:ln>
            <a:solidFill>
              <a:schemeClr val="tx1"/>
            </a:solidFill>
          </a:ln>
          <a:effectLst/>
        </p:spPr>
      </p:pic>
      <p:pic>
        <p:nvPicPr>
          <p:cNvPr id="19" name="Espace réservé pour une image  18">
            <a:extLst>
              <a:ext uri="{FF2B5EF4-FFF2-40B4-BE49-F238E27FC236}">
                <a16:creationId xmlns:a16="http://schemas.microsoft.com/office/drawing/2014/main" id="{C4079055-1435-4CE6-BC15-44C7F252F08C}"/>
              </a:ext>
            </a:extLst>
          </p:cNvPr>
          <p:cNvPicPr>
            <a:picLocks noGrp="1" noChangeAspect="1"/>
          </p:cNvPicPr>
          <p:nvPr>
            <p:ph type="pic" sz="quarter" idx="14"/>
          </p:nvPr>
        </p:nvPicPr>
        <p:blipFill>
          <a:blip r:embed="rId3"/>
          <a:srcRect l="21875" r="21875"/>
          <a:stretch>
            <a:fillRect/>
          </a:stretch>
        </p:blipFill>
        <p:spPr>
          <a:xfrm>
            <a:off x="8610600" y="3106891"/>
            <a:ext cx="3403314" cy="3403314"/>
          </a:xfrm>
        </p:spPr>
      </p:pic>
      <p:sp>
        <p:nvSpPr>
          <p:cNvPr id="14" name="Espace réservé du texte 4">
            <a:extLst>
              <a:ext uri="{FF2B5EF4-FFF2-40B4-BE49-F238E27FC236}">
                <a16:creationId xmlns:a16="http://schemas.microsoft.com/office/drawing/2014/main" id="{3BF31A82-6D1F-4464-9544-0410EAFDF034}"/>
              </a:ext>
            </a:extLst>
          </p:cNvPr>
          <p:cNvSpPr txBox="1">
            <a:spLocks/>
          </p:cNvSpPr>
          <p:nvPr/>
        </p:nvSpPr>
        <p:spPr>
          <a:xfrm>
            <a:off x="1494725" y="150922"/>
            <a:ext cx="3919179" cy="56817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a:latin typeface="Monotype Corsiva" panose="03010101010201010101" pitchFamily="66" charset="0"/>
              </a:rPr>
              <a:t>En Architecture &amp; Génie Civil </a:t>
            </a:r>
            <a:endParaRPr lang="en-GB" b="1" dirty="0">
              <a:latin typeface="Monotype Corsiva" panose="03010101010201010101" pitchFamily="66" charset="0"/>
            </a:endParaRPr>
          </a:p>
        </p:txBody>
      </p:sp>
      <p:sp>
        <p:nvSpPr>
          <p:cNvPr id="15" name="Espace réservé du contenu 5">
            <a:extLst>
              <a:ext uri="{FF2B5EF4-FFF2-40B4-BE49-F238E27FC236}">
                <a16:creationId xmlns:a16="http://schemas.microsoft.com/office/drawing/2014/main" id="{29F91656-2D3F-483E-A763-962B0C43C6B8}"/>
              </a:ext>
            </a:extLst>
          </p:cNvPr>
          <p:cNvSpPr txBox="1">
            <a:spLocks/>
          </p:cNvSpPr>
          <p:nvPr/>
        </p:nvSpPr>
        <p:spPr>
          <a:xfrm>
            <a:off x="310186" y="736846"/>
            <a:ext cx="6507333" cy="53976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GB" sz="2000" dirty="0">
                <a:latin typeface="Monotype Corsiva" panose="03010101010201010101" pitchFamily="66" charset="0"/>
              </a:rPr>
              <a:t>	Autrefois, </a:t>
            </a:r>
            <a:r>
              <a:rPr lang="en-GB" sz="2000" dirty="0" err="1">
                <a:latin typeface="Monotype Corsiva" panose="03010101010201010101" pitchFamily="66" charset="0"/>
              </a:rPr>
              <a:t>il</a:t>
            </a:r>
            <a:r>
              <a:rPr lang="en-GB" sz="2000" dirty="0">
                <a:latin typeface="Monotype Corsiva" panose="03010101010201010101" pitchFamily="66" charset="0"/>
              </a:rPr>
              <a:t> </a:t>
            </a:r>
            <a:r>
              <a:rPr lang="en-GB" sz="2000" dirty="0" err="1">
                <a:latin typeface="Monotype Corsiva" panose="03010101010201010101" pitchFamily="66" charset="0"/>
              </a:rPr>
              <a:t>n'existait</a:t>
            </a:r>
            <a:r>
              <a:rPr lang="en-GB" sz="2000" dirty="0">
                <a:latin typeface="Monotype Corsiva" panose="03010101010201010101" pitchFamily="66" charset="0"/>
              </a:rPr>
              <a:t> certes pas </a:t>
            </a:r>
            <a:r>
              <a:rPr lang="en-GB" sz="2000" dirty="0" err="1">
                <a:latin typeface="Monotype Corsiva" panose="03010101010201010101" pitchFamily="66" charset="0"/>
              </a:rPr>
              <a:t>d’équation</a:t>
            </a:r>
            <a:r>
              <a:rPr lang="en-GB" sz="2000" dirty="0">
                <a:latin typeface="Monotype Corsiva" panose="03010101010201010101" pitchFamily="66" charset="0"/>
              </a:rPr>
              <a:t> de droite, </a:t>
            </a:r>
            <a:r>
              <a:rPr lang="en-GB" sz="2000" dirty="0" err="1">
                <a:latin typeface="Monotype Corsiva" panose="03010101010201010101" pitchFamily="66" charset="0"/>
              </a:rPr>
              <a:t>ni</a:t>
            </a:r>
            <a:r>
              <a:rPr lang="en-GB" sz="2000" dirty="0">
                <a:latin typeface="Monotype Corsiva" panose="03010101010201010101" pitchFamily="66" charset="0"/>
              </a:rPr>
              <a:t> de </a:t>
            </a:r>
            <a:r>
              <a:rPr lang="en-GB" sz="2000" dirty="0" err="1">
                <a:latin typeface="Monotype Corsiva" panose="03010101010201010101" pitchFamily="66" charset="0"/>
              </a:rPr>
              <a:t>logiciel</a:t>
            </a:r>
            <a:r>
              <a:rPr lang="en-GB" sz="2000" dirty="0">
                <a:latin typeface="Monotype Corsiva" panose="03010101010201010101" pitchFamily="66" charset="0"/>
              </a:rPr>
              <a:t> de </a:t>
            </a:r>
            <a:r>
              <a:rPr lang="en-GB" sz="2000" dirty="0" err="1">
                <a:latin typeface="Monotype Corsiva" panose="03010101010201010101" pitchFamily="66" charset="0"/>
              </a:rPr>
              <a:t>modélisation</a:t>
            </a:r>
            <a:r>
              <a:rPr lang="en-GB" sz="2000" dirty="0">
                <a:latin typeface="Monotype Corsiva" panose="03010101010201010101" pitchFamily="66" charset="0"/>
              </a:rPr>
              <a:t> 3D, </a:t>
            </a:r>
            <a:r>
              <a:rPr lang="en-GB" sz="2000" dirty="0" err="1">
                <a:latin typeface="Monotype Corsiva" panose="03010101010201010101" pitchFamily="66" charset="0"/>
              </a:rPr>
              <a:t>mais</a:t>
            </a:r>
            <a:r>
              <a:rPr lang="en-GB" sz="2000" dirty="0">
                <a:latin typeface="Monotype Corsiva" panose="03010101010201010101" pitchFamily="66" charset="0"/>
              </a:rPr>
              <a:t> </a:t>
            </a:r>
            <a:r>
              <a:rPr lang="en-GB" sz="2000" dirty="0" err="1">
                <a:latin typeface="Monotype Corsiva" panose="03010101010201010101" pitchFamily="66" charset="0"/>
              </a:rPr>
              <a:t>il</a:t>
            </a:r>
            <a:r>
              <a:rPr lang="en-GB" sz="2000" dirty="0">
                <a:latin typeface="Monotype Corsiva" panose="03010101010201010101" pitchFamily="66" charset="0"/>
              </a:rPr>
              <a:t> </a:t>
            </a:r>
            <a:r>
              <a:rPr lang="en-GB" sz="2000" dirty="0" err="1">
                <a:latin typeface="Monotype Corsiva" panose="03010101010201010101" pitchFamily="66" charset="0"/>
              </a:rPr>
              <a:t>etait</a:t>
            </a:r>
            <a:r>
              <a:rPr lang="en-GB" sz="2000" dirty="0">
                <a:latin typeface="Monotype Corsiva" panose="03010101010201010101" pitchFamily="66" charset="0"/>
              </a:rPr>
              <a:t> tout de </a:t>
            </a:r>
            <a:r>
              <a:rPr lang="en-GB" sz="2000" dirty="0" err="1">
                <a:latin typeface="Monotype Corsiva" panose="03010101010201010101" pitchFamily="66" charset="0"/>
              </a:rPr>
              <a:t>même</a:t>
            </a:r>
            <a:r>
              <a:rPr lang="en-GB" sz="2000" dirty="0">
                <a:latin typeface="Monotype Corsiva" panose="03010101010201010101" pitchFamily="66" charset="0"/>
              </a:rPr>
              <a:t> possible grâce aux travaux </a:t>
            </a:r>
            <a:r>
              <a:rPr lang="en-GB" sz="2000" dirty="0" err="1">
                <a:latin typeface="Monotype Corsiva" panose="03010101010201010101" pitchFamily="66" charset="0"/>
              </a:rPr>
              <a:t>d'ingenieurs</a:t>
            </a:r>
            <a:r>
              <a:rPr lang="en-GB" sz="2000" dirty="0">
                <a:latin typeface="Monotype Corsiva" panose="03010101010201010101" pitchFamily="66" charset="0"/>
              </a:rPr>
              <a:t> avec des </a:t>
            </a:r>
            <a:r>
              <a:rPr lang="en-GB" sz="2000" dirty="0" err="1">
                <a:latin typeface="Monotype Corsiva" panose="03010101010201010101" pitchFamily="66" charset="0"/>
              </a:rPr>
              <a:t>connaissances</a:t>
            </a:r>
            <a:r>
              <a:rPr lang="en-GB" sz="2000" dirty="0">
                <a:latin typeface="Monotype Corsiva" panose="03010101010201010101" pitchFamily="66" charset="0"/>
              </a:rPr>
              <a:t> </a:t>
            </a:r>
            <a:r>
              <a:rPr lang="en-GB" sz="2000" dirty="0" err="1">
                <a:latin typeface="Monotype Corsiva" panose="03010101010201010101" pitchFamily="66" charset="0"/>
              </a:rPr>
              <a:t>solides</a:t>
            </a:r>
            <a:r>
              <a:rPr lang="en-GB" sz="2000" dirty="0">
                <a:latin typeface="Monotype Corsiva" panose="03010101010201010101" pitchFamily="66" charset="0"/>
              </a:rPr>
              <a:t> </a:t>
            </a:r>
            <a:r>
              <a:rPr lang="en-GB" sz="2000" dirty="0" err="1">
                <a:latin typeface="Monotype Corsiva" panose="03010101010201010101" pitchFamily="66" charset="0"/>
              </a:rPr>
              <a:t>en</a:t>
            </a:r>
            <a:r>
              <a:rPr lang="en-GB" sz="2000" dirty="0">
                <a:latin typeface="Monotype Corsiva" panose="03010101010201010101" pitchFamily="66" charset="0"/>
              </a:rPr>
              <a:t> </a:t>
            </a:r>
            <a:r>
              <a:rPr lang="en-GB" sz="2000" dirty="0" err="1">
                <a:latin typeface="Monotype Corsiva" panose="03010101010201010101" pitchFamily="66" charset="0"/>
              </a:rPr>
              <a:t>géometrie</a:t>
            </a:r>
            <a:r>
              <a:rPr lang="en-GB" sz="2000" dirty="0">
                <a:latin typeface="Monotype Corsiva" panose="03010101010201010101" pitchFamily="66" charset="0"/>
              </a:rPr>
              <a:t>, de </a:t>
            </a:r>
            <a:r>
              <a:rPr lang="en-GB" sz="2000" dirty="0" err="1">
                <a:latin typeface="Monotype Corsiva" panose="03010101010201010101" pitchFamily="66" charset="0"/>
              </a:rPr>
              <a:t>réaliser</a:t>
            </a:r>
            <a:r>
              <a:rPr lang="en-GB" sz="2000" dirty="0">
                <a:latin typeface="Monotype Corsiva" panose="03010101010201010101" pitchFamily="66" charset="0"/>
              </a:rPr>
              <a:t> des </a:t>
            </a:r>
            <a:r>
              <a:rPr lang="en-GB" sz="2000" dirty="0" err="1">
                <a:latin typeface="Monotype Corsiva" panose="03010101010201010101" pitchFamily="66" charset="0"/>
              </a:rPr>
              <a:t>prouesses</a:t>
            </a:r>
            <a:r>
              <a:rPr lang="en-GB" sz="2000" dirty="0">
                <a:latin typeface="Monotype Corsiva" panose="03010101010201010101" pitchFamily="66" charset="0"/>
              </a:rPr>
              <a:t> </a:t>
            </a:r>
            <a:r>
              <a:rPr lang="en-GB" sz="2000" dirty="0" err="1">
                <a:latin typeface="Monotype Corsiva" panose="03010101010201010101" pitchFamily="66" charset="0"/>
              </a:rPr>
              <a:t>architecturales</a:t>
            </a:r>
            <a:r>
              <a:rPr lang="en-GB" sz="2000" dirty="0">
                <a:latin typeface="Monotype Corsiva" panose="03010101010201010101" pitchFamily="66" charset="0"/>
              </a:rPr>
              <a:t> </a:t>
            </a:r>
            <a:r>
              <a:rPr lang="en-GB" sz="2000" dirty="0" err="1">
                <a:latin typeface="Monotype Corsiva" panose="03010101010201010101" pitchFamily="66" charset="0"/>
              </a:rPr>
              <a:t>telles</a:t>
            </a:r>
            <a:r>
              <a:rPr lang="en-GB" sz="2000" dirty="0">
                <a:latin typeface="Monotype Corsiva" panose="03010101010201010101" pitchFamily="66" charset="0"/>
              </a:rPr>
              <a:t> que les </a:t>
            </a:r>
            <a:r>
              <a:rPr lang="en-GB" sz="2000" dirty="0" err="1">
                <a:latin typeface="Monotype Corsiva" panose="03010101010201010101" pitchFamily="66" charset="0"/>
              </a:rPr>
              <a:t>colisées</a:t>
            </a:r>
            <a:r>
              <a:rPr lang="en-GB" sz="2000" dirty="0">
                <a:latin typeface="Monotype Corsiva" panose="03010101010201010101" pitchFamily="66" charset="0"/>
              </a:rPr>
              <a:t> qui </a:t>
            </a:r>
            <a:r>
              <a:rPr lang="en-GB" sz="2000" dirty="0" err="1">
                <a:latin typeface="Monotype Corsiva" panose="03010101010201010101" pitchFamily="66" charset="0"/>
              </a:rPr>
              <a:t>avaient</a:t>
            </a:r>
            <a:r>
              <a:rPr lang="en-GB" sz="2000" dirty="0">
                <a:latin typeface="Monotype Corsiva" panose="03010101010201010101" pitchFamily="66" charset="0"/>
              </a:rPr>
              <a:t> des </a:t>
            </a:r>
            <a:r>
              <a:rPr lang="en-GB" sz="2000" dirty="0" err="1">
                <a:latin typeface="Monotype Corsiva" panose="03010101010201010101" pitchFamily="66" charset="0"/>
              </a:rPr>
              <a:t>formes</a:t>
            </a:r>
            <a:r>
              <a:rPr lang="en-GB" sz="2000" dirty="0">
                <a:latin typeface="Monotype Corsiva" panose="03010101010201010101" pitchFamily="66" charset="0"/>
              </a:rPr>
              <a:t> </a:t>
            </a:r>
            <a:r>
              <a:rPr lang="en-GB" sz="2000" dirty="0" err="1">
                <a:latin typeface="Monotype Corsiva" panose="03010101010201010101" pitchFamily="66" charset="0"/>
              </a:rPr>
              <a:t>ciculaires</a:t>
            </a:r>
            <a:r>
              <a:rPr lang="en-GB" sz="2000" dirty="0">
                <a:latin typeface="Monotype Corsiva" panose="03010101010201010101" pitchFamily="66" charset="0"/>
              </a:rPr>
              <a:t> </a:t>
            </a:r>
            <a:r>
              <a:rPr lang="en-GB" sz="2000" dirty="0" err="1">
                <a:latin typeface="Monotype Corsiva" panose="03010101010201010101" pitchFamily="66" charset="0"/>
              </a:rPr>
              <a:t>presque</a:t>
            </a:r>
            <a:r>
              <a:rPr lang="en-GB" sz="2000" dirty="0">
                <a:latin typeface="Monotype Corsiva" panose="03010101010201010101" pitchFamily="66" charset="0"/>
              </a:rPr>
              <a:t> </a:t>
            </a:r>
            <a:r>
              <a:rPr lang="en-GB" sz="2000" dirty="0" err="1">
                <a:latin typeface="Monotype Corsiva" panose="03010101010201010101" pitchFamily="66" charset="0"/>
              </a:rPr>
              <a:t>parfaites</a:t>
            </a:r>
            <a:r>
              <a:rPr lang="en-GB" sz="2000" dirty="0">
                <a:latin typeface="Monotype Corsiva" panose="03010101010201010101" pitchFamily="66" charset="0"/>
              </a:rPr>
              <a:t> </a:t>
            </a:r>
            <a:r>
              <a:rPr lang="en-GB" sz="2000" dirty="0" err="1">
                <a:latin typeface="Monotype Corsiva" panose="03010101010201010101" pitchFamily="66" charset="0"/>
              </a:rPr>
              <a:t>ou</a:t>
            </a:r>
            <a:r>
              <a:rPr lang="en-GB" sz="2000" dirty="0">
                <a:latin typeface="Monotype Corsiva" panose="03010101010201010101" pitchFamily="66" charset="0"/>
              </a:rPr>
              <a:t> </a:t>
            </a:r>
            <a:r>
              <a:rPr lang="en-GB" sz="2000" dirty="0" err="1">
                <a:latin typeface="Monotype Corsiva" panose="03010101010201010101" pitchFamily="66" charset="0"/>
              </a:rPr>
              <a:t>mêmes</a:t>
            </a:r>
            <a:r>
              <a:rPr lang="en-GB" sz="2000" dirty="0">
                <a:latin typeface="Monotype Corsiva" panose="03010101010201010101" pitchFamily="66" charset="0"/>
              </a:rPr>
              <a:t> les </a:t>
            </a:r>
            <a:r>
              <a:rPr lang="en-GB" sz="2000" dirty="0" err="1">
                <a:latin typeface="Monotype Corsiva" panose="03010101010201010101" pitchFamily="66" charset="0"/>
              </a:rPr>
              <a:t>immenses</a:t>
            </a:r>
            <a:r>
              <a:rPr lang="en-GB" sz="2000" dirty="0">
                <a:latin typeface="Monotype Corsiva" panose="03010101010201010101" pitchFamily="66" charset="0"/>
              </a:rPr>
              <a:t> </a:t>
            </a:r>
            <a:r>
              <a:rPr lang="en-GB" sz="2000" dirty="0" err="1">
                <a:latin typeface="Monotype Corsiva" panose="03010101010201010101" pitchFamily="66" charset="0"/>
              </a:rPr>
              <a:t>pyramides</a:t>
            </a:r>
            <a:r>
              <a:rPr lang="en-GB" sz="2000" dirty="0">
                <a:latin typeface="Monotype Corsiva" panose="03010101010201010101" pitchFamily="66" charset="0"/>
              </a:rPr>
              <a:t> de </a:t>
            </a:r>
            <a:r>
              <a:rPr lang="en-GB" sz="2000" dirty="0" err="1">
                <a:latin typeface="Monotype Corsiva" panose="03010101010201010101" pitchFamily="66" charset="0"/>
              </a:rPr>
              <a:t>Guizeh</a:t>
            </a:r>
            <a:r>
              <a:rPr lang="en-GB" sz="2000" dirty="0">
                <a:latin typeface="Monotype Corsiva" panose="03010101010201010101" pitchFamily="66" charset="0"/>
              </a:rPr>
              <a:t>, </a:t>
            </a:r>
            <a:r>
              <a:rPr lang="en-GB" sz="2000" dirty="0" err="1">
                <a:latin typeface="Monotype Corsiva" panose="03010101010201010101" pitchFamily="66" charset="0"/>
              </a:rPr>
              <a:t>entièrement</a:t>
            </a:r>
            <a:r>
              <a:rPr lang="en-GB" sz="2000" dirty="0">
                <a:latin typeface="Monotype Corsiva" panose="03010101010201010101" pitchFamily="66" charset="0"/>
              </a:rPr>
              <a:t> </a:t>
            </a:r>
            <a:r>
              <a:rPr lang="en-GB" sz="2000" dirty="0" err="1">
                <a:latin typeface="Monotype Corsiva" panose="03010101010201010101" pitchFamily="66" charset="0"/>
              </a:rPr>
              <a:t>construites</a:t>
            </a:r>
            <a:r>
              <a:rPr lang="en-GB" sz="2000" dirty="0">
                <a:latin typeface="Monotype Corsiva" panose="03010101010201010101" pitchFamily="66" charset="0"/>
              </a:rPr>
              <a:t> à la main . </a:t>
            </a:r>
            <a:r>
              <a:rPr lang="fr-FR" sz="2000" dirty="0">
                <a:latin typeface="Monotype Corsiva" panose="03010101010201010101" pitchFamily="66" charset="0"/>
              </a:rPr>
              <a:t>La </a:t>
            </a:r>
            <a:r>
              <a:rPr lang="fr-FR" sz="2000" dirty="0" err="1">
                <a:latin typeface="Monotype Corsiva" panose="03010101010201010101" pitchFamily="66" charset="0"/>
              </a:rPr>
              <a:t>géometrie</a:t>
            </a:r>
            <a:r>
              <a:rPr lang="fr-FR" sz="2000" dirty="0">
                <a:latin typeface="Monotype Corsiva" panose="03010101010201010101" pitchFamily="66" charset="0"/>
              </a:rPr>
              <a:t> reste toujours utilisée </a:t>
            </a:r>
            <a:r>
              <a:rPr lang="en-GB" sz="2000" dirty="0">
                <a:latin typeface="Monotype Corsiva" panose="03010101010201010101" pitchFamily="66" charset="0"/>
              </a:rPr>
              <a:t>dans </a:t>
            </a:r>
            <a:r>
              <a:rPr lang="en-GB" sz="2000" dirty="0" err="1">
                <a:latin typeface="Monotype Corsiva" panose="03010101010201010101" pitchFamily="66" charset="0"/>
              </a:rPr>
              <a:t>ces</a:t>
            </a:r>
            <a:r>
              <a:rPr lang="en-GB" sz="2000" dirty="0">
                <a:latin typeface="Monotype Corsiva" panose="03010101010201010101" pitchFamily="66" charset="0"/>
              </a:rPr>
              <a:t> </a:t>
            </a:r>
            <a:r>
              <a:rPr lang="en-GB" sz="2000" dirty="0" err="1">
                <a:latin typeface="Monotype Corsiva" panose="03010101010201010101" pitchFamily="66" charset="0"/>
              </a:rPr>
              <a:t>domaines</a:t>
            </a:r>
            <a:r>
              <a:rPr lang="en-GB" sz="2000" dirty="0">
                <a:latin typeface="Monotype Corsiva" panose="03010101010201010101" pitchFamily="66" charset="0"/>
              </a:rPr>
              <a:t> de </a:t>
            </a:r>
            <a:r>
              <a:rPr lang="en-GB" sz="2000" dirty="0" err="1">
                <a:latin typeface="Monotype Corsiva" panose="03010101010201010101" pitchFamily="66" charset="0"/>
              </a:rPr>
              <a:t>nos</a:t>
            </a:r>
            <a:r>
              <a:rPr lang="en-GB" sz="2000" dirty="0">
                <a:latin typeface="Monotype Corsiva" panose="03010101010201010101" pitchFamily="66" charset="0"/>
              </a:rPr>
              <a:t> </a:t>
            </a:r>
            <a:r>
              <a:rPr lang="en-GB" sz="2000" dirty="0" err="1">
                <a:latin typeface="Monotype Corsiva" panose="03010101010201010101" pitchFamily="66" charset="0"/>
              </a:rPr>
              <a:t>jous</a:t>
            </a:r>
            <a:r>
              <a:rPr lang="en-GB" sz="2000" dirty="0">
                <a:latin typeface="Monotype Corsiva" panose="03010101010201010101" pitchFamily="66" charset="0"/>
              </a:rPr>
              <a:t>, pour la conception des plans de construction qui </a:t>
            </a:r>
            <a:r>
              <a:rPr lang="en-GB" sz="2000" dirty="0" err="1">
                <a:latin typeface="Monotype Corsiva" panose="03010101010201010101" pitchFamily="66" charset="0"/>
              </a:rPr>
              <a:t>pourraient</a:t>
            </a:r>
            <a:r>
              <a:rPr lang="en-GB" sz="2000" dirty="0">
                <a:latin typeface="Monotype Corsiva" panose="03010101010201010101" pitchFamily="66" charset="0"/>
              </a:rPr>
              <a:t> se </a:t>
            </a:r>
            <a:r>
              <a:rPr lang="en-GB" sz="2000" dirty="0" err="1">
                <a:latin typeface="Monotype Corsiva" panose="03010101010201010101" pitchFamily="66" charset="0"/>
              </a:rPr>
              <a:t>présenter</a:t>
            </a:r>
            <a:r>
              <a:rPr lang="en-GB" sz="2000" dirty="0">
                <a:latin typeface="Monotype Corsiva" panose="03010101010201010101" pitchFamily="66" charset="0"/>
              </a:rPr>
              <a:t> </a:t>
            </a:r>
            <a:r>
              <a:rPr lang="en-GB" sz="2000" dirty="0" err="1">
                <a:latin typeface="Monotype Corsiva" panose="03010101010201010101" pitchFamily="66" charset="0"/>
              </a:rPr>
              <a:t>comme</a:t>
            </a:r>
            <a:r>
              <a:rPr lang="en-GB" sz="2000" dirty="0">
                <a:latin typeface="Monotype Corsiva" panose="03010101010201010101" pitchFamily="66" charset="0"/>
              </a:rPr>
              <a:t> un assemblage de figures </a:t>
            </a:r>
            <a:r>
              <a:rPr lang="en-GB" sz="2000" dirty="0" err="1">
                <a:latin typeface="Monotype Corsiva" panose="03010101010201010101" pitchFamily="66" charset="0"/>
              </a:rPr>
              <a:t>géometriques</a:t>
            </a:r>
            <a:r>
              <a:rPr lang="en-GB" sz="2000" dirty="0">
                <a:latin typeface="Monotype Corsiva" panose="03010101010201010101" pitchFamily="66" charset="0"/>
              </a:rPr>
              <a:t>.</a:t>
            </a:r>
          </a:p>
          <a:p>
            <a:pPr marL="0" indent="0" algn="just">
              <a:lnSpc>
                <a:spcPct val="100000"/>
              </a:lnSpc>
              <a:buNone/>
            </a:pPr>
            <a:r>
              <a:rPr lang="en-GB" sz="2000" dirty="0">
                <a:latin typeface="Monotype Corsiva" panose="03010101010201010101" pitchFamily="66" charset="0"/>
              </a:rPr>
              <a:t>	</a:t>
            </a:r>
            <a:r>
              <a:rPr lang="en-GB" sz="2000" dirty="0" err="1">
                <a:latin typeface="Monotype Corsiva" panose="03010101010201010101" pitchFamily="66" charset="0"/>
              </a:rPr>
              <a:t>Notons</a:t>
            </a:r>
            <a:r>
              <a:rPr lang="en-GB" sz="2000" dirty="0">
                <a:latin typeface="Monotype Corsiva" panose="03010101010201010101" pitchFamily="66" charset="0"/>
              </a:rPr>
              <a:t> que la </a:t>
            </a:r>
            <a:r>
              <a:rPr lang="en-GB" sz="2000" dirty="0" err="1">
                <a:latin typeface="Monotype Corsiva" panose="03010101010201010101" pitchFamily="66" charset="0"/>
              </a:rPr>
              <a:t>geometrie</a:t>
            </a:r>
            <a:r>
              <a:rPr lang="en-GB" sz="2000" dirty="0">
                <a:latin typeface="Monotype Corsiva" panose="03010101010201010101" pitchFamily="66" charset="0"/>
              </a:rPr>
              <a:t> </a:t>
            </a:r>
            <a:r>
              <a:rPr lang="en-GB" sz="2000" dirty="0" err="1">
                <a:latin typeface="Monotype Corsiva" panose="03010101010201010101" pitchFamily="66" charset="0"/>
              </a:rPr>
              <a:t>intervient</a:t>
            </a:r>
            <a:r>
              <a:rPr lang="en-GB" sz="2000" dirty="0">
                <a:latin typeface="Monotype Corsiva" panose="03010101010201010101" pitchFamily="66" charset="0"/>
              </a:rPr>
              <a:t> </a:t>
            </a:r>
            <a:r>
              <a:rPr lang="en-GB" sz="2000" dirty="0" err="1">
                <a:latin typeface="Monotype Corsiva" panose="03010101010201010101" pitchFamily="66" charset="0"/>
              </a:rPr>
              <a:t>particulièrement</a:t>
            </a:r>
            <a:r>
              <a:rPr lang="en-GB" sz="2000" dirty="0">
                <a:latin typeface="Monotype Corsiva" panose="03010101010201010101" pitchFamily="66" charset="0"/>
              </a:rPr>
              <a:t> dans le dessin technique avec la </a:t>
            </a:r>
            <a:r>
              <a:rPr lang="en-GB" sz="2000" dirty="0" err="1">
                <a:latin typeface="Monotype Corsiva" panose="03010101010201010101" pitchFamily="66" charset="0"/>
              </a:rPr>
              <a:t>représentation</a:t>
            </a:r>
            <a:r>
              <a:rPr lang="en-GB" sz="2000" dirty="0">
                <a:latin typeface="Monotype Corsiva" panose="03010101010201010101" pitchFamily="66" charset="0"/>
              </a:rPr>
              <a:t> des </a:t>
            </a:r>
            <a:r>
              <a:rPr lang="en-GB" sz="2000" dirty="0" err="1">
                <a:latin typeface="Monotype Corsiva" panose="03010101010201010101" pitchFamily="66" charset="0"/>
              </a:rPr>
              <a:t>formes</a:t>
            </a:r>
            <a:r>
              <a:rPr lang="en-GB" sz="2000" dirty="0">
                <a:latin typeface="Monotype Corsiva" panose="03010101010201010101" pitchFamily="66" charset="0"/>
              </a:rPr>
              <a:t> complexes, des coupes, des longueurs </a:t>
            </a:r>
            <a:r>
              <a:rPr lang="en-GB" sz="2000" dirty="0" err="1">
                <a:latin typeface="Monotype Corsiva" panose="03010101010201010101" pitchFamily="66" charset="0"/>
              </a:rPr>
              <a:t>ainsi</a:t>
            </a:r>
            <a:r>
              <a:rPr lang="en-GB" sz="2000" dirty="0">
                <a:latin typeface="Monotype Corsiva" panose="03010101010201010101" pitchFamily="66" charset="0"/>
              </a:rPr>
              <a:t> que la projection </a:t>
            </a:r>
            <a:r>
              <a:rPr lang="en-GB" sz="2000" dirty="0" err="1">
                <a:latin typeface="Monotype Corsiva" panose="03010101010201010101" pitchFamily="66" charset="0"/>
              </a:rPr>
              <a:t>d'objets</a:t>
            </a:r>
            <a:r>
              <a:rPr lang="en-GB" sz="2000" dirty="0">
                <a:latin typeface="Monotype Corsiva" panose="03010101010201010101" pitchFamily="66" charset="0"/>
              </a:rPr>
              <a:t> </a:t>
            </a:r>
            <a:r>
              <a:rPr lang="en-GB" sz="2000" dirty="0" err="1">
                <a:latin typeface="Monotype Corsiva" panose="03010101010201010101" pitchFamily="66" charset="0"/>
              </a:rPr>
              <a:t>tridimensionnels</a:t>
            </a:r>
            <a:r>
              <a:rPr lang="en-GB" sz="2000" dirty="0">
                <a:latin typeface="Monotype Corsiva" panose="03010101010201010101" pitchFamily="66" charset="0"/>
              </a:rPr>
              <a:t>. Les </a:t>
            </a:r>
            <a:r>
              <a:rPr lang="en-GB" sz="2000" dirty="0" err="1">
                <a:latin typeface="Monotype Corsiva" panose="03010101010201010101" pitchFamily="66" charset="0"/>
              </a:rPr>
              <a:t>principales</a:t>
            </a:r>
            <a:r>
              <a:rPr lang="en-GB" sz="2000" dirty="0">
                <a:latin typeface="Monotype Corsiva" panose="03010101010201010101" pitchFamily="66" charset="0"/>
              </a:rPr>
              <a:t> notions de </a:t>
            </a:r>
            <a:r>
              <a:rPr lang="en-GB" sz="2000" dirty="0" err="1">
                <a:latin typeface="Monotype Corsiva" panose="03010101010201010101" pitchFamily="66" charset="0"/>
              </a:rPr>
              <a:t>géometrie</a:t>
            </a:r>
            <a:r>
              <a:rPr lang="en-GB" sz="2000" dirty="0">
                <a:latin typeface="Monotype Corsiva" panose="03010101010201010101" pitchFamily="66" charset="0"/>
              </a:rPr>
              <a:t> </a:t>
            </a:r>
            <a:r>
              <a:rPr lang="en-GB" sz="2000" dirty="0" err="1">
                <a:latin typeface="Monotype Corsiva" panose="03010101010201010101" pitchFamily="66" charset="0"/>
              </a:rPr>
              <a:t>utilisées</a:t>
            </a:r>
            <a:r>
              <a:rPr lang="en-GB" sz="2000" dirty="0">
                <a:latin typeface="Monotype Corsiva" panose="03010101010201010101" pitchFamily="66" charset="0"/>
              </a:rPr>
              <a:t> dans </a:t>
            </a:r>
            <a:r>
              <a:rPr lang="en-GB" sz="2000" dirty="0" err="1">
                <a:latin typeface="Monotype Corsiva" panose="03010101010201010101" pitchFamily="66" charset="0"/>
              </a:rPr>
              <a:t>ces</a:t>
            </a:r>
            <a:r>
              <a:rPr lang="en-GB" sz="2000" dirty="0">
                <a:latin typeface="Monotype Corsiva" panose="03010101010201010101" pitchFamily="66" charset="0"/>
              </a:rPr>
              <a:t> </a:t>
            </a:r>
            <a:r>
              <a:rPr lang="en-GB" sz="2000" dirty="0" err="1">
                <a:latin typeface="Monotype Corsiva" panose="03010101010201010101" pitchFamily="66" charset="0"/>
              </a:rPr>
              <a:t>domaines</a:t>
            </a:r>
            <a:r>
              <a:rPr lang="en-GB" sz="2000" dirty="0">
                <a:latin typeface="Monotype Corsiva" panose="03010101010201010101" pitchFamily="66" charset="0"/>
              </a:rPr>
              <a:t> </a:t>
            </a:r>
            <a:r>
              <a:rPr lang="en-GB" sz="2000" dirty="0" err="1">
                <a:latin typeface="Monotype Corsiva" panose="03010101010201010101" pitchFamily="66" charset="0"/>
              </a:rPr>
              <a:t>sont</a:t>
            </a:r>
            <a:r>
              <a:rPr lang="en-GB" sz="2000" dirty="0">
                <a:latin typeface="Monotype Corsiva" panose="03010101010201010101" pitchFamily="66" charset="0"/>
              </a:rPr>
              <a:t> les transformations : </a:t>
            </a:r>
            <a:r>
              <a:rPr lang="fr-FR" sz="2000" dirty="0">
                <a:latin typeface="Monotype Corsiva" panose="03010101010201010101" pitchFamily="66" charset="0"/>
              </a:rPr>
              <a:t>homothéties</a:t>
            </a:r>
            <a:r>
              <a:rPr lang="en-GB" sz="2000" dirty="0">
                <a:latin typeface="Monotype Corsiva" panose="03010101010201010101" pitchFamily="66" charset="0"/>
              </a:rPr>
              <a:t>, isometries. De </a:t>
            </a:r>
            <a:r>
              <a:rPr lang="en-GB" sz="2000" dirty="0" err="1">
                <a:latin typeface="Monotype Corsiva" panose="03010101010201010101" pitchFamily="66" charset="0"/>
              </a:rPr>
              <a:t>nos</a:t>
            </a:r>
            <a:r>
              <a:rPr lang="en-GB" sz="2000" dirty="0">
                <a:latin typeface="Monotype Corsiva" panose="03010101010201010101" pitchFamily="66" charset="0"/>
              </a:rPr>
              <a:t> </a:t>
            </a:r>
            <a:r>
              <a:rPr lang="en-GB" sz="2000" dirty="0" err="1">
                <a:latin typeface="Monotype Corsiva" panose="03010101010201010101" pitchFamily="66" charset="0"/>
              </a:rPr>
              <a:t>jours</a:t>
            </a:r>
            <a:r>
              <a:rPr lang="en-GB" sz="2000" dirty="0">
                <a:latin typeface="Monotype Corsiva" panose="03010101010201010101" pitchFamily="66" charset="0"/>
              </a:rPr>
              <a:t>, </a:t>
            </a:r>
            <a:r>
              <a:rPr lang="en-GB" sz="2000" dirty="0" err="1">
                <a:latin typeface="Monotype Corsiva" panose="03010101010201010101" pitchFamily="66" charset="0"/>
              </a:rPr>
              <a:t>il</a:t>
            </a:r>
            <a:r>
              <a:rPr lang="en-GB" sz="2000" dirty="0">
                <a:latin typeface="Monotype Corsiva" panose="03010101010201010101" pitchFamily="66" charset="0"/>
              </a:rPr>
              <a:t> y a </a:t>
            </a:r>
            <a:r>
              <a:rPr lang="en-GB" sz="2000" dirty="0" err="1">
                <a:latin typeface="Monotype Corsiva" panose="03010101010201010101" pitchFamily="66" charset="0"/>
              </a:rPr>
              <a:t>également</a:t>
            </a:r>
            <a:r>
              <a:rPr lang="en-GB" sz="2000" dirty="0">
                <a:latin typeface="Monotype Corsiva" panose="03010101010201010101" pitchFamily="66" charset="0"/>
              </a:rPr>
              <a:t> des </a:t>
            </a:r>
            <a:r>
              <a:rPr lang="en-GB" sz="2000" dirty="0" err="1">
                <a:latin typeface="Monotype Corsiva" panose="03010101010201010101" pitchFamily="66" charset="0"/>
              </a:rPr>
              <a:t>prouesses</a:t>
            </a:r>
            <a:r>
              <a:rPr lang="en-GB" sz="2000" dirty="0">
                <a:latin typeface="Monotype Corsiva" panose="03010101010201010101" pitchFamily="66" charset="0"/>
              </a:rPr>
              <a:t> </a:t>
            </a:r>
            <a:r>
              <a:rPr lang="en-GB" sz="2000" dirty="0" err="1">
                <a:latin typeface="Monotype Corsiva" panose="03010101010201010101" pitchFamily="66" charset="0"/>
              </a:rPr>
              <a:t>architecturales</a:t>
            </a:r>
            <a:r>
              <a:rPr lang="en-GB" sz="2000" dirty="0">
                <a:latin typeface="Monotype Corsiva" panose="03010101010201010101" pitchFamily="66" charset="0"/>
              </a:rPr>
              <a:t> </a:t>
            </a:r>
            <a:r>
              <a:rPr lang="en-GB" sz="2000" dirty="0" err="1">
                <a:latin typeface="Monotype Corsiva" panose="03010101010201010101" pitchFamily="66" charset="0"/>
              </a:rPr>
              <a:t>intrinsèquement</a:t>
            </a:r>
            <a:r>
              <a:rPr lang="en-GB" sz="2000" dirty="0">
                <a:latin typeface="Monotype Corsiva" panose="03010101010201010101" pitchFamily="66" charset="0"/>
              </a:rPr>
              <a:t> </a:t>
            </a:r>
            <a:r>
              <a:rPr lang="en-GB" sz="2000" dirty="0" err="1">
                <a:latin typeface="Monotype Corsiva" panose="03010101010201010101" pitchFamily="66" charset="0"/>
              </a:rPr>
              <a:t>liées</a:t>
            </a:r>
            <a:r>
              <a:rPr lang="en-GB" sz="2000" dirty="0">
                <a:latin typeface="Monotype Corsiva" panose="03010101010201010101" pitchFamily="66" charset="0"/>
              </a:rPr>
              <a:t> à des figures </a:t>
            </a:r>
            <a:r>
              <a:rPr lang="en-GB" sz="2000" dirty="0" err="1">
                <a:latin typeface="Monotype Corsiva" panose="03010101010201010101" pitchFamily="66" charset="0"/>
              </a:rPr>
              <a:t>géometriques</a:t>
            </a:r>
            <a:r>
              <a:rPr lang="en-GB" sz="2000" dirty="0">
                <a:latin typeface="Monotype Corsiva" panose="03010101010201010101" pitchFamily="66" charset="0"/>
              </a:rPr>
              <a:t> </a:t>
            </a:r>
            <a:r>
              <a:rPr lang="en-GB" sz="2000" dirty="0" err="1">
                <a:latin typeface="Monotype Corsiva" panose="03010101010201010101" pitchFamily="66" charset="0"/>
              </a:rPr>
              <a:t>comme</a:t>
            </a:r>
            <a:r>
              <a:rPr lang="en-GB" sz="2000" dirty="0">
                <a:latin typeface="Monotype Corsiva" panose="03010101010201010101" pitchFamily="66" charset="0"/>
              </a:rPr>
              <a:t> </a:t>
            </a:r>
            <a:r>
              <a:rPr lang="en-GB" sz="2000" dirty="0" err="1">
                <a:latin typeface="Monotype Corsiva" panose="03010101010201010101" pitchFamily="66" charset="0"/>
              </a:rPr>
              <a:t>celle</a:t>
            </a:r>
            <a:r>
              <a:rPr lang="en-GB" sz="2000" dirty="0">
                <a:latin typeface="Monotype Corsiva" panose="03010101010201010101" pitchFamily="66" charset="0"/>
              </a:rPr>
              <a:t> de la 1ère image ci-</a:t>
            </a:r>
            <a:r>
              <a:rPr lang="en-GB" sz="2000" dirty="0" err="1">
                <a:latin typeface="Monotype Corsiva" panose="03010101010201010101" pitchFamily="66" charset="0"/>
              </a:rPr>
              <a:t>contre</a:t>
            </a:r>
            <a:r>
              <a:rPr lang="en-GB" sz="2000" dirty="0">
                <a:latin typeface="Monotype Corsiva" panose="03010101010201010101" pitchFamily="66" charset="0"/>
              </a:rPr>
              <a:t>.</a:t>
            </a:r>
          </a:p>
          <a:p>
            <a:pPr algn="just">
              <a:lnSpc>
                <a:spcPct val="100000"/>
              </a:lnSpc>
            </a:pPr>
            <a:endParaRPr lang="en-GB" sz="2000" dirty="0">
              <a:latin typeface="Monotype Corsiva" panose="03010101010201010101" pitchFamily="66" charset="0"/>
            </a:endParaRPr>
          </a:p>
        </p:txBody>
      </p:sp>
      <p:sp>
        <p:nvSpPr>
          <p:cNvPr id="20" name="ZoneTexte 19">
            <a:extLst>
              <a:ext uri="{FF2B5EF4-FFF2-40B4-BE49-F238E27FC236}">
                <a16:creationId xmlns:a16="http://schemas.microsoft.com/office/drawing/2014/main" id="{034BF172-5933-4459-A86C-04877C358909}"/>
              </a:ext>
            </a:extLst>
          </p:cNvPr>
          <p:cNvSpPr txBox="1"/>
          <p:nvPr/>
        </p:nvSpPr>
        <p:spPr>
          <a:xfrm>
            <a:off x="10159003" y="366488"/>
            <a:ext cx="1837677" cy="1323439"/>
          </a:xfrm>
          <a:prstGeom prst="rect">
            <a:avLst/>
          </a:prstGeom>
          <a:noFill/>
        </p:spPr>
        <p:txBody>
          <a:bodyPr wrap="square" rtlCol="0">
            <a:spAutoFit/>
          </a:bodyPr>
          <a:lstStyle/>
          <a:p>
            <a:r>
              <a:rPr lang="en-GB" sz="2000" dirty="0">
                <a:latin typeface="Monotype Corsiva" panose="03010101010201010101" pitchFamily="66" charset="0"/>
              </a:rPr>
              <a:t>Le " Walt Disney” Concert Hall de Los Angeles</a:t>
            </a:r>
          </a:p>
          <a:p>
            <a:endParaRPr lang="en-GB" sz="2000" dirty="0"/>
          </a:p>
        </p:txBody>
      </p:sp>
      <p:sp>
        <p:nvSpPr>
          <p:cNvPr id="21" name="ZoneTexte 20">
            <a:extLst>
              <a:ext uri="{FF2B5EF4-FFF2-40B4-BE49-F238E27FC236}">
                <a16:creationId xmlns:a16="http://schemas.microsoft.com/office/drawing/2014/main" id="{AADC1E42-013F-4868-8073-6738253172B3}"/>
              </a:ext>
            </a:extLst>
          </p:cNvPr>
          <p:cNvSpPr txBox="1"/>
          <p:nvPr/>
        </p:nvSpPr>
        <p:spPr>
          <a:xfrm>
            <a:off x="7123579" y="5249031"/>
            <a:ext cx="1487021" cy="707886"/>
          </a:xfrm>
          <a:prstGeom prst="rect">
            <a:avLst/>
          </a:prstGeom>
          <a:noFill/>
        </p:spPr>
        <p:txBody>
          <a:bodyPr wrap="square" rtlCol="0">
            <a:spAutoFit/>
          </a:bodyPr>
          <a:lstStyle/>
          <a:p>
            <a:r>
              <a:rPr lang="en-GB" sz="2000" dirty="0">
                <a:latin typeface="Monotype Corsiva" panose="03010101010201010101" pitchFamily="66" charset="0"/>
              </a:rPr>
              <a:t>Les </a:t>
            </a:r>
            <a:r>
              <a:rPr lang="en-GB" sz="2000" dirty="0" err="1">
                <a:latin typeface="Monotype Corsiva" panose="03010101010201010101" pitchFamily="66" charset="0"/>
              </a:rPr>
              <a:t>Pyramides</a:t>
            </a:r>
            <a:r>
              <a:rPr lang="en-GB" sz="2000" dirty="0">
                <a:latin typeface="Monotype Corsiva" panose="03010101010201010101" pitchFamily="66" charset="0"/>
              </a:rPr>
              <a:t> de </a:t>
            </a:r>
            <a:r>
              <a:rPr lang="en-GB" sz="2000" dirty="0" err="1">
                <a:latin typeface="Monotype Corsiva" panose="03010101010201010101" pitchFamily="66" charset="0"/>
              </a:rPr>
              <a:t>Guizeh</a:t>
            </a:r>
            <a:endParaRPr lang="en-GB" sz="2000" dirty="0"/>
          </a:p>
        </p:txBody>
      </p:sp>
      <p:sp>
        <p:nvSpPr>
          <p:cNvPr id="22" name="Espace réservé du numéro de diapositive 5">
            <a:extLst>
              <a:ext uri="{FF2B5EF4-FFF2-40B4-BE49-F238E27FC236}">
                <a16:creationId xmlns:a16="http://schemas.microsoft.com/office/drawing/2014/main" id="{BB640C76-28AC-412D-9C23-AED936AEE8D9}"/>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19</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18095995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Espace réservé pour une image  11">
            <a:extLst>
              <a:ext uri="{FF2B5EF4-FFF2-40B4-BE49-F238E27FC236}">
                <a16:creationId xmlns:a16="http://schemas.microsoft.com/office/drawing/2014/main" id="{2F79F6C5-AABC-48B8-A3F9-70059BDB1BD9}"/>
              </a:ext>
            </a:extLst>
          </p:cNvPr>
          <p:cNvPicPr>
            <a:picLocks noGrp="1" noChangeAspect="1"/>
          </p:cNvPicPr>
          <p:nvPr>
            <p:ph type="pic" sz="quarter" idx="13"/>
          </p:nvPr>
        </p:nvPicPr>
        <p:blipFill>
          <a:blip r:embed="rId2"/>
          <a:srcRect l="4935" r="4935"/>
          <a:stretch>
            <a:fillRect/>
          </a:stretch>
        </p:blipFill>
        <p:spPr>
          <a:xfrm>
            <a:off x="8757193" y="3429000"/>
            <a:ext cx="3434807" cy="3430343"/>
          </a:xfrm>
        </p:spPr>
      </p:pic>
      <p:pic>
        <p:nvPicPr>
          <p:cNvPr id="14" name="Espace réservé pour une image  13">
            <a:extLst>
              <a:ext uri="{FF2B5EF4-FFF2-40B4-BE49-F238E27FC236}">
                <a16:creationId xmlns:a16="http://schemas.microsoft.com/office/drawing/2014/main" id="{79420B38-D85A-4EB7-9539-46ED49E5BD64}"/>
              </a:ext>
            </a:extLst>
          </p:cNvPr>
          <p:cNvPicPr>
            <a:picLocks noGrp="1" noChangeAspect="1"/>
          </p:cNvPicPr>
          <p:nvPr>
            <p:ph type="pic" sz="quarter" idx="14"/>
          </p:nvPr>
        </p:nvPicPr>
        <p:blipFill rotWithShape="1">
          <a:blip r:embed="rId3"/>
          <a:srcRect l="3150" t="-515" r="2241" b="-1"/>
          <a:stretch/>
        </p:blipFill>
        <p:spPr>
          <a:xfrm>
            <a:off x="586130" y="3791661"/>
            <a:ext cx="5697355" cy="24660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Espace réservé du texte 2">
            <a:extLst>
              <a:ext uri="{FF2B5EF4-FFF2-40B4-BE49-F238E27FC236}">
                <a16:creationId xmlns:a16="http://schemas.microsoft.com/office/drawing/2014/main" id="{4FAE3CB1-6127-4D5B-9F56-4730EB68636C}"/>
              </a:ext>
            </a:extLst>
          </p:cNvPr>
          <p:cNvSpPr txBox="1">
            <a:spLocks/>
          </p:cNvSpPr>
          <p:nvPr/>
        </p:nvSpPr>
        <p:spPr>
          <a:xfrm>
            <a:off x="4698191" y="-26633"/>
            <a:ext cx="1876779" cy="362273"/>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2286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457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latin typeface="Monotype Corsiva" panose="03010101010201010101" pitchFamily="66" charset="0"/>
              </a:rPr>
              <a:t>En Astronomie</a:t>
            </a:r>
            <a:endParaRPr lang="en-GB" b="1" dirty="0">
              <a:latin typeface="Monotype Corsiva" panose="03010101010201010101" pitchFamily="66" charset="0"/>
            </a:endParaRPr>
          </a:p>
        </p:txBody>
      </p:sp>
      <p:sp>
        <p:nvSpPr>
          <p:cNvPr id="10" name="Espace réservé du contenu 3">
            <a:extLst>
              <a:ext uri="{FF2B5EF4-FFF2-40B4-BE49-F238E27FC236}">
                <a16:creationId xmlns:a16="http://schemas.microsoft.com/office/drawing/2014/main" id="{06BEC748-9158-4410-94C9-850542812F9E}"/>
              </a:ext>
            </a:extLst>
          </p:cNvPr>
          <p:cNvSpPr txBox="1">
            <a:spLocks/>
          </p:cNvSpPr>
          <p:nvPr/>
        </p:nvSpPr>
        <p:spPr>
          <a:xfrm>
            <a:off x="497149" y="432444"/>
            <a:ext cx="11694425" cy="343034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GB" sz="2000" dirty="0">
                <a:latin typeface="Monotype Corsiva" panose="03010101010201010101" pitchFamily="66" charset="0"/>
              </a:rPr>
              <a:t>	</a:t>
            </a:r>
            <a:r>
              <a:rPr lang="en-GB" sz="2000" dirty="0" err="1">
                <a:latin typeface="Monotype Corsiva" panose="03010101010201010101" pitchFamily="66" charset="0"/>
              </a:rPr>
              <a:t>Depuis</a:t>
            </a:r>
            <a:r>
              <a:rPr lang="en-GB" sz="2000" dirty="0">
                <a:latin typeface="Monotype Corsiva" panose="03010101010201010101" pitchFamily="66" charset="0"/>
              </a:rPr>
              <a:t> </a:t>
            </a:r>
            <a:r>
              <a:rPr lang="en-GB" sz="2000" dirty="0" err="1">
                <a:latin typeface="Monotype Corsiva" panose="03010101010201010101" pitchFamily="66" charset="0"/>
              </a:rPr>
              <a:t>longtemps</a:t>
            </a:r>
            <a:r>
              <a:rPr lang="en-GB" sz="2000" dirty="0">
                <a:latin typeface="Monotype Corsiva" panose="03010101010201010101" pitchFamily="66" charset="0"/>
              </a:rPr>
              <a:t>, </a:t>
            </a:r>
            <a:r>
              <a:rPr lang="en-GB" sz="2000" dirty="0" err="1">
                <a:latin typeface="Monotype Corsiva" panose="03010101010201010101" pitchFamily="66" charset="0"/>
              </a:rPr>
              <a:t>géométrie</a:t>
            </a:r>
            <a:r>
              <a:rPr lang="en-GB" sz="2000" dirty="0">
                <a:latin typeface="Monotype Corsiva" panose="03010101010201010101" pitchFamily="66" charset="0"/>
              </a:rPr>
              <a:t> et </a:t>
            </a:r>
            <a:r>
              <a:rPr lang="en-GB" sz="2000" dirty="0" err="1">
                <a:latin typeface="Monotype Corsiva" panose="03010101010201010101" pitchFamily="66" charset="0"/>
              </a:rPr>
              <a:t>astronomie</a:t>
            </a:r>
            <a:r>
              <a:rPr lang="en-GB" sz="2000" dirty="0">
                <a:latin typeface="Monotype Corsiva" panose="03010101010201010101" pitchFamily="66" charset="0"/>
              </a:rPr>
              <a:t> </a:t>
            </a:r>
            <a:r>
              <a:rPr lang="en-GB" sz="2000" dirty="0" err="1">
                <a:latin typeface="Monotype Corsiva" panose="03010101010201010101" pitchFamily="66" charset="0"/>
              </a:rPr>
              <a:t>ont</a:t>
            </a:r>
            <a:r>
              <a:rPr lang="en-GB" sz="2000" dirty="0">
                <a:latin typeface="Monotype Corsiva" panose="03010101010201010101" pitchFamily="66" charset="0"/>
              </a:rPr>
              <a:t> </a:t>
            </a:r>
            <a:r>
              <a:rPr lang="en-GB" sz="2000" dirty="0" err="1">
                <a:latin typeface="Monotype Corsiva" panose="03010101010201010101" pitchFamily="66" charset="0"/>
              </a:rPr>
              <a:t>été</a:t>
            </a:r>
            <a:r>
              <a:rPr lang="en-GB" sz="2000" dirty="0">
                <a:latin typeface="Monotype Corsiva" panose="03010101010201010101" pitchFamily="66" charset="0"/>
              </a:rPr>
              <a:t> </a:t>
            </a:r>
            <a:r>
              <a:rPr lang="en-GB" sz="2000" dirty="0" err="1">
                <a:latin typeface="Monotype Corsiva" panose="03010101010201010101" pitchFamily="66" charset="0"/>
              </a:rPr>
              <a:t>liées</a:t>
            </a:r>
            <a:r>
              <a:rPr lang="en-GB" sz="2000" dirty="0">
                <a:latin typeface="Monotype Corsiva" panose="03010101010201010101" pitchFamily="66" charset="0"/>
              </a:rPr>
              <a:t>. À un </a:t>
            </a:r>
            <a:r>
              <a:rPr lang="en-GB" sz="2000" dirty="0" err="1">
                <a:latin typeface="Monotype Corsiva" panose="03010101010201010101" pitchFamily="66" charset="0"/>
              </a:rPr>
              <a:t>niveau</a:t>
            </a:r>
            <a:r>
              <a:rPr lang="en-GB" sz="2000" dirty="0">
                <a:latin typeface="Monotype Corsiva" panose="03010101010201010101" pitchFamily="66" charset="0"/>
              </a:rPr>
              <a:t> </a:t>
            </a:r>
            <a:r>
              <a:rPr lang="en-GB" sz="2000" dirty="0" err="1">
                <a:latin typeface="Monotype Corsiva" panose="03010101010201010101" pitchFamily="66" charset="0"/>
              </a:rPr>
              <a:t>élémentaire</a:t>
            </a:r>
            <a:r>
              <a:rPr lang="en-GB" sz="2000" dirty="0">
                <a:latin typeface="Monotype Corsiva" panose="03010101010201010101" pitchFamily="66" charset="0"/>
              </a:rPr>
              <a:t>, le </a:t>
            </a:r>
            <a:r>
              <a:rPr lang="en-GB" sz="2000" dirty="0" err="1">
                <a:latin typeface="Monotype Corsiva" panose="03010101010201010101" pitchFamily="66" charset="0"/>
              </a:rPr>
              <a:t>calcul</a:t>
            </a:r>
            <a:r>
              <a:rPr lang="en-GB" sz="2000" dirty="0">
                <a:latin typeface="Monotype Corsiva" panose="03010101010201010101" pitchFamily="66" charset="0"/>
              </a:rPr>
              <a:t> des </a:t>
            </a:r>
            <a:r>
              <a:rPr lang="en-GB" sz="2000" dirty="0" err="1">
                <a:latin typeface="Monotype Corsiva" panose="03010101010201010101" pitchFamily="66" charset="0"/>
              </a:rPr>
              <a:t>tailles</a:t>
            </a:r>
            <a:r>
              <a:rPr lang="en-GB" sz="2000" dirty="0">
                <a:latin typeface="Monotype Corsiva" panose="03010101010201010101" pitchFamily="66" charset="0"/>
              </a:rPr>
              <a:t> de la lune, du Soleil et de </a:t>
            </a:r>
            <a:r>
              <a:rPr lang="en-GB" sz="2000" dirty="0" err="1">
                <a:latin typeface="Monotype Corsiva" panose="03010101010201010101" pitchFamily="66" charset="0"/>
              </a:rPr>
              <a:t>leurs</a:t>
            </a:r>
            <a:r>
              <a:rPr lang="en-GB" sz="2000" dirty="0">
                <a:latin typeface="Monotype Corsiva" panose="03010101010201010101" pitchFamily="66" charset="0"/>
              </a:rPr>
              <a:t> distances </a:t>
            </a:r>
            <a:r>
              <a:rPr lang="en-GB" sz="2000" dirty="0" err="1">
                <a:latin typeface="Monotype Corsiva" panose="03010101010201010101" pitchFamily="66" charset="0"/>
              </a:rPr>
              <a:t>respectives</a:t>
            </a:r>
            <a:r>
              <a:rPr lang="en-GB" sz="2000" dirty="0">
                <a:latin typeface="Monotype Corsiva" panose="03010101010201010101" pitchFamily="66" charset="0"/>
              </a:rPr>
              <a:t> à la Terre fait </a:t>
            </a:r>
            <a:r>
              <a:rPr lang="en-GB" sz="2000" dirty="0" err="1">
                <a:latin typeface="Monotype Corsiva" panose="03010101010201010101" pitchFamily="66" charset="0"/>
              </a:rPr>
              <a:t>appel</a:t>
            </a:r>
            <a:r>
              <a:rPr lang="en-GB" sz="2000" dirty="0">
                <a:latin typeface="Monotype Corsiva" panose="03010101010201010101" pitchFamily="66" charset="0"/>
              </a:rPr>
              <a:t> au </a:t>
            </a:r>
            <a:r>
              <a:rPr lang="en-GB" sz="2000" dirty="0" err="1">
                <a:latin typeface="Monotype Corsiva" panose="03010101010201010101" pitchFamily="66" charset="0"/>
              </a:rPr>
              <a:t>théorème</a:t>
            </a:r>
            <a:r>
              <a:rPr lang="en-GB" sz="2000" dirty="0">
                <a:latin typeface="Monotype Corsiva" panose="03010101010201010101" pitchFamily="66" charset="0"/>
              </a:rPr>
              <a:t> de </a:t>
            </a:r>
            <a:r>
              <a:rPr lang="en-GB" sz="2000" dirty="0" err="1">
                <a:latin typeface="Monotype Corsiva" panose="03010101010201010101" pitchFamily="66" charset="0"/>
              </a:rPr>
              <a:t>Thalès</a:t>
            </a:r>
            <a:r>
              <a:rPr lang="en-GB" sz="2000" dirty="0">
                <a:latin typeface="Monotype Corsiva" panose="03010101010201010101" pitchFamily="66" charset="0"/>
              </a:rPr>
              <a:t>; à un </a:t>
            </a:r>
            <a:r>
              <a:rPr lang="en-GB" sz="2000" dirty="0" err="1">
                <a:latin typeface="Monotype Corsiva" panose="03010101010201010101" pitchFamily="66" charset="0"/>
              </a:rPr>
              <a:t>niveau</a:t>
            </a:r>
            <a:r>
              <a:rPr lang="en-GB" sz="2000" dirty="0">
                <a:latin typeface="Monotype Corsiva" panose="03010101010201010101" pitchFamily="66" charset="0"/>
              </a:rPr>
              <a:t> plus </a:t>
            </a:r>
            <a:r>
              <a:rPr lang="en-GB" sz="2000" dirty="0" err="1">
                <a:latin typeface="Monotype Corsiva" panose="03010101010201010101" pitchFamily="66" charset="0"/>
              </a:rPr>
              <a:t>avancé</a:t>
            </a:r>
            <a:r>
              <a:rPr lang="en-GB" sz="2000" dirty="0">
                <a:latin typeface="Monotype Corsiva" panose="03010101010201010101" pitchFamily="66" charset="0"/>
              </a:rPr>
              <a:t>, </a:t>
            </a:r>
            <a:r>
              <a:rPr lang="en-GB" sz="2000" dirty="0" err="1">
                <a:latin typeface="Monotype Corsiva" panose="03010101010201010101" pitchFamily="66" charset="0"/>
              </a:rPr>
              <a:t>s´ajoute</a:t>
            </a:r>
            <a:r>
              <a:rPr lang="en-GB" sz="2000" dirty="0">
                <a:latin typeface="Monotype Corsiva" panose="03010101010201010101" pitchFamily="66" charset="0"/>
              </a:rPr>
              <a:t> les </a:t>
            </a:r>
            <a:r>
              <a:rPr lang="en-GB" sz="2000" dirty="0" err="1">
                <a:latin typeface="Monotype Corsiva" panose="03010101010201010101" pitchFamily="66" charset="0"/>
              </a:rPr>
              <a:t>principes</a:t>
            </a:r>
            <a:r>
              <a:rPr lang="en-GB" sz="2000" dirty="0">
                <a:latin typeface="Monotype Corsiva" panose="03010101010201010101" pitchFamily="66" charset="0"/>
              </a:rPr>
              <a:t> de propagation de la </a:t>
            </a:r>
            <a:r>
              <a:rPr lang="en-GB" sz="2000" dirty="0" err="1">
                <a:latin typeface="Monotype Corsiva" panose="03010101010201010101" pitchFamily="66" charset="0"/>
              </a:rPr>
              <a:t>lumiere</a:t>
            </a:r>
            <a:r>
              <a:rPr lang="en-GB" sz="2000" dirty="0">
                <a:latin typeface="Monotype Corsiva" panose="03010101010201010101" pitchFamily="66" charset="0"/>
              </a:rPr>
              <a:t> des </a:t>
            </a:r>
            <a:r>
              <a:rPr lang="en-GB" sz="2000" dirty="0" err="1">
                <a:latin typeface="Monotype Corsiva" panose="03010101010201010101" pitchFamily="66" charset="0"/>
              </a:rPr>
              <a:t>astres</a:t>
            </a:r>
            <a:r>
              <a:rPr lang="en-GB" sz="2000" dirty="0">
                <a:latin typeface="Monotype Corsiva" panose="03010101010201010101" pitchFamily="66" charset="0"/>
              </a:rPr>
              <a:t>, </a:t>
            </a:r>
            <a:r>
              <a:rPr lang="en-GB" sz="2000" dirty="0" err="1">
                <a:latin typeface="Monotype Corsiva" panose="03010101010201010101" pitchFamily="66" charset="0"/>
              </a:rPr>
              <a:t>l´études</a:t>
            </a:r>
            <a:r>
              <a:rPr lang="en-GB" sz="2000" dirty="0">
                <a:latin typeface="Monotype Corsiva" panose="03010101010201010101" pitchFamily="66" charset="0"/>
              </a:rPr>
              <a:t> des </a:t>
            </a:r>
            <a:r>
              <a:rPr lang="en-GB" sz="2000" dirty="0" err="1">
                <a:latin typeface="Monotype Corsiva" panose="03010101010201010101" pitchFamily="66" charset="0"/>
              </a:rPr>
              <a:t>différentes</a:t>
            </a:r>
            <a:r>
              <a:rPr lang="en-GB" sz="2000" dirty="0">
                <a:latin typeface="Monotype Corsiva" panose="03010101010201010101" pitchFamily="66" charset="0"/>
              </a:rPr>
              <a:t> constellations et de </a:t>
            </a:r>
            <a:r>
              <a:rPr lang="en-GB" sz="2000" dirty="0" err="1">
                <a:latin typeface="Monotype Corsiva" panose="03010101010201010101" pitchFamily="66" charset="0"/>
              </a:rPr>
              <a:t>l´espace</a:t>
            </a:r>
            <a:r>
              <a:rPr lang="en-GB" sz="2000" dirty="0">
                <a:latin typeface="Monotype Corsiva" panose="03010101010201010101" pitchFamily="66" charset="0"/>
              </a:rPr>
              <a:t>, </a:t>
            </a:r>
            <a:r>
              <a:rPr lang="en-GB" sz="2000" dirty="0" err="1">
                <a:latin typeface="Monotype Corsiva" panose="03010101010201010101" pitchFamily="66" charset="0"/>
              </a:rPr>
              <a:t>ce</a:t>
            </a:r>
            <a:r>
              <a:rPr lang="en-GB" sz="2000" dirty="0">
                <a:latin typeface="Monotype Corsiva" panose="03010101010201010101" pitchFamily="66" charset="0"/>
              </a:rPr>
              <a:t> qui a </a:t>
            </a:r>
            <a:r>
              <a:rPr lang="en-GB" sz="2000" dirty="0" err="1">
                <a:latin typeface="Monotype Corsiva" panose="03010101010201010101" pitchFamily="66" charset="0"/>
              </a:rPr>
              <a:t>permis</a:t>
            </a:r>
            <a:r>
              <a:rPr lang="en-GB" sz="2000" dirty="0">
                <a:latin typeface="Monotype Corsiva" panose="03010101010201010101" pitchFamily="66" charset="0"/>
              </a:rPr>
              <a:t> </a:t>
            </a:r>
            <a:r>
              <a:rPr lang="en-GB" sz="2000" dirty="0" err="1">
                <a:latin typeface="Monotype Corsiva" panose="03010101010201010101" pitchFamily="66" charset="0"/>
              </a:rPr>
              <a:t>d´avoir</a:t>
            </a:r>
            <a:r>
              <a:rPr lang="en-GB" sz="2000" dirty="0">
                <a:latin typeface="Monotype Corsiva" panose="03010101010201010101" pitchFamily="66" charset="0"/>
              </a:rPr>
              <a:t> </a:t>
            </a:r>
            <a:r>
              <a:rPr lang="en-GB" sz="2000" dirty="0" err="1">
                <a:latin typeface="Monotype Corsiva" panose="03010101010201010101" pitchFamily="66" charset="0"/>
              </a:rPr>
              <a:t>une</a:t>
            </a:r>
            <a:r>
              <a:rPr lang="en-GB" sz="2000" dirty="0">
                <a:latin typeface="Monotype Corsiva" panose="03010101010201010101" pitchFamily="66" charset="0"/>
              </a:rPr>
              <a:t> </a:t>
            </a:r>
            <a:r>
              <a:rPr lang="en-GB" sz="2000" dirty="0" err="1">
                <a:latin typeface="Monotype Corsiva" panose="03010101010201010101" pitchFamily="66" charset="0"/>
              </a:rPr>
              <a:t>meilleure</a:t>
            </a:r>
            <a:r>
              <a:rPr lang="en-GB" sz="2000" dirty="0">
                <a:latin typeface="Monotype Corsiva" panose="03010101010201010101" pitchFamily="66" charset="0"/>
              </a:rPr>
              <a:t> idée du </a:t>
            </a:r>
            <a:r>
              <a:rPr lang="en-GB" sz="2000" dirty="0" err="1">
                <a:latin typeface="Monotype Corsiva" panose="03010101010201010101" pitchFamily="66" charset="0"/>
              </a:rPr>
              <a:t>mouvement</a:t>
            </a:r>
            <a:r>
              <a:rPr lang="en-GB" sz="2000" dirty="0">
                <a:latin typeface="Monotype Corsiva" panose="03010101010201010101" pitchFamily="66" charset="0"/>
              </a:rPr>
              <a:t> </a:t>
            </a:r>
            <a:r>
              <a:rPr lang="en-GB" sz="2000" dirty="0" err="1">
                <a:latin typeface="Monotype Corsiva" panose="03010101010201010101" pitchFamily="66" charset="0"/>
              </a:rPr>
              <a:t>elliptique</a:t>
            </a:r>
            <a:r>
              <a:rPr lang="en-GB" sz="2000" dirty="0">
                <a:latin typeface="Monotype Corsiva" panose="03010101010201010101" pitchFamily="66" charset="0"/>
              </a:rPr>
              <a:t> </a:t>
            </a:r>
            <a:r>
              <a:rPr lang="en-GB" sz="2000" dirty="0" err="1">
                <a:latin typeface="Monotype Corsiva" panose="03010101010201010101" pitchFamily="66" charset="0"/>
              </a:rPr>
              <a:t>qu´effectue</a:t>
            </a:r>
            <a:r>
              <a:rPr lang="en-GB" sz="2000" dirty="0">
                <a:latin typeface="Monotype Corsiva" panose="03010101010201010101" pitchFamily="66" charset="0"/>
              </a:rPr>
              <a:t> la </a:t>
            </a:r>
            <a:r>
              <a:rPr lang="en-GB" sz="2000" dirty="0" err="1">
                <a:latin typeface="Monotype Corsiva" panose="03010101010201010101" pitchFamily="66" charset="0"/>
              </a:rPr>
              <a:t>terre</a:t>
            </a:r>
            <a:r>
              <a:rPr lang="en-GB" sz="2000" dirty="0">
                <a:latin typeface="Monotype Corsiva" panose="03010101010201010101" pitchFamily="66" charset="0"/>
              </a:rPr>
              <a:t> et les </a:t>
            </a:r>
            <a:r>
              <a:rPr lang="en-GB" sz="2000" dirty="0" err="1">
                <a:latin typeface="Monotype Corsiva" panose="03010101010201010101" pitchFamily="66" charset="0"/>
              </a:rPr>
              <a:t>autres</a:t>
            </a:r>
            <a:r>
              <a:rPr lang="en-GB" sz="2000" dirty="0">
                <a:latin typeface="Monotype Corsiva" panose="03010101010201010101" pitchFamily="66" charset="0"/>
              </a:rPr>
              <a:t> </a:t>
            </a:r>
            <a:r>
              <a:rPr lang="en-GB" sz="2000" dirty="0" err="1">
                <a:latin typeface="Monotype Corsiva" panose="03010101010201010101" pitchFamily="66" charset="0"/>
              </a:rPr>
              <a:t>planètes</a:t>
            </a:r>
            <a:r>
              <a:rPr lang="en-GB" sz="2000" dirty="0">
                <a:latin typeface="Monotype Corsiva" panose="03010101010201010101" pitchFamily="66" charset="0"/>
              </a:rPr>
              <a:t>. </a:t>
            </a:r>
            <a:r>
              <a:rPr lang="en-GB" sz="2000" dirty="0" err="1">
                <a:latin typeface="Monotype Corsiva" panose="03010101010201010101" pitchFamily="66" charset="0"/>
              </a:rPr>
              <a:t>L´étude</a:t>
            </a:r>
            <a:r>
              <a:rPr lang="en-GB" sz="2000" dirty="0">
                <a:latin typeface="Monotype Corsiva" panose="03010101010201010101" pitchFamily="66" charset="0"/>
              </a:rPr>
              <a:t> des </a:t>
            </a:r>
            <a:r>
              <a:rPr lang="en-GB" sz="2000" dirty="0" err="1">
                <a:latin typeface="Monotype Corsiva" panose="03010101010201010101" pitchFamily="66" charset="0"/>
              </a:rPr>
              <a:t>coniques</a:t>
            </a:r>
            <a:r>
              <a:rPr lang="en-GB" sz="2000" dirty="0">
                <a:latin typeface="Monotype Corsiva" panose="03010101010201010101" pitchFamily="66" charset="0"/>
              </a:rPr>
              <a:t> </a:t>
            </a:r>
            <a:r>
              <a:rPr lang="en-GB" sz="2000" dirty="0" err="1">
                <a:latin typeface="Monotype Corsiva" panose="03010101010201010101" pitchFamily="66" charset="0"/>
              </a:rPr>
              <a:t>permet</a:t>
            </a:r>
            <a:r>
              <a:rPr lang="en-GB" sz="2000" dirty="0">
                <a:latin typeface="Monotype Corsiva" panose="03010101010201010101" pitchFamily="66" charset="0"/>
              </a:rPr>
              <a:t> </a:t>
            </a:r>
            <a:r>
              <a:rPr lang="en-GB" sz="2000" dirty="0" err="1">
                <a:latin typeface="Monotype Corsiva" panose="03010101010201010101" pitchFamily="66" charset="0"/>
              </a:rPr>
              <a:t>alors</a:t>
            </a:r>
            <a:r>
              <a:rPr lang="en-GB" sz="2000" dirty="0">
                <a:latin typeface="Monotype Corsiva" panose="03010101010201010101" pitchFamily="66" charset="0"/>
              </a:rPr>
              <a:t> de </a:t>
            </a:r>
            <a:r>
              <a:rPr lang="en-GB" sz="2000" dirty="0" err="1">
                <a:latin typeface="Monotype Corsiva" panose="03010101010201010101" pitchFamily="66" charset="0"/>
              </a:rPr>
              <a:t>déterminer</a:t>
            </a:r>
            <a:r>
              <a:rPr lang="en-GB" sz="2000" dirty="0">
                <a:latin typeface="Monotype Corsiva" panose="03010101010201010101" pitchFamily="66" charset="0"/>
              </a:rPr>
              <a:t> avec precision les dates , les </a:t>
            </a:r>
            <a:r>
              <a:rPr lang="en-GB" sz="2000" dirty="0" err="1">
                <a:latin typeface="Monotype Corsiva" panose="03010101010201010101" pitchFamily="66" charset="0"/>
              </a:rPr>
              <a:t>lieux</a:t>
            </a:r>
            <a:r>
              <a:rPr lang="en-GB" sz="2000" dirty="0">
                <a:latin typeface="Monotype Corsiva" panose="03010101010201010101" pitchFamily="66" charset="0"/>
              </a:rPr>
              <a:t> et les </a:t>
            </a:r>
            <a:r>
              <a:rPr lang="en-GB" sz="2000" dirty="0" err="1">
                <a:latin typeface="Monotype Corsiva" panose="03010101010201010101" pitchFamily="66" charset="0"/>
              </a:rPr>
              <a:t>durées</a:t>
            </a:r>
            <a:r>
              <a:rPr lang="en-GB" sz="2000" dirty="0">
                <a:latin typeface="Monotype Corsiva" panose="03010101010201010101" pitchFamily="66" charset="0"/>
              </a:rPr>
              <a:t> </a:t>
            </a:r>
            <a:r>
              <a:rPr lang="en-GB" sz="2000" dirty="0" err="1">
                <a:latin typeface="Monotype Corsiva" panose="03010101010201010101" pitchFamily="66" charset="0"/>
              </a:rPr>
              <a:t>exactes</a:t>
            </a:r>
            <a:r>
              <a:rPr lang="en-GB" sz="2000" dirty="0">
                <a:latin typeface="Monotype Corsiva" panose="03010101010201010101" pitchFamily="66" charset="0"/>
              </a:rPr>
              <a:t> des </a:t>
            </a:r>
            <a:r>
              <a:rPr lang="en-GB" sz="2000" dirty="0" err="1">
                <a:latin typeface="Monotype Corsiva" panose="03010101010201010101" pitchFamily="66" charset="0"/>
              </a:rPr>
              <a:t>éclipses</a:t>
            </a:r>
            <a:r>
              <a:rPr lang="en-GB" sz="2000" dirty="0">
                <a:latin typeface="Monotype Corsiva" panose="03010101010201010101" pitchFamily="66" charset="0"/>
              </a:rPr>
              <a:t> et </a:t>
            </a:r>
            <a:r>
              <a:rPr lang="en-GB" sz="2000" dirty="0" err="1">
                <a:latin typeface="Monotype Corsiva" panose="03010101010201010101" pitchFamily="66" charset="0"/>
              </a:rPr>
              <a:t>autre</a:t>
            </a:r>
            <a:r>
              <a:rPr lang="en-GB" sz="2000" dirty="0">
                <a:latin typeface="Monotype Corsiva" panose="03010101010201010101" pitchFamily="66" charset="0"/>
              </a:rPr>
              <a:t> </a:t>
            </a:r>
            <a:r>
              <a:rPr lang="en-GB" sz="2000" dirty="0" err="1">
                <a:latin typeface="Monotype Corsiva" panose="03010101010201010101" pitchFamily="66" charset="0"/>
              </a:rPr>
              <a:t>phénomènes</a:t>
            </a:r>
            <a:r>
              <a:rPr lang="en-GB" sz="2000" dirty="0">
                <a:latin typeface="Monotype Corsiva" panose="03010101010201010101" pitchFamily="66" charset="0"/>
              </a:rPr>
              <a:t> </a:t>
            </a:r>
            <a:r>
              <a:rPr lang="en-GB" sz="2000" dirty="0" err="1">
                <a:latin typeface="Monotype Corsiva" panose="03010101010201010101" pitchFamily="66" charset="0"/>
              </a:rPr>
              <a:t>astronomiques</a:t>
            </a:r>
            <a:r>
              <a:rPr lang="en-GB" sz="2000" dirty="0">
                <a:latin typeface="Monotype Corsiva" panose="03010101010201010101" pitchFamily="66" charset="0"/>
              </a:rPr>
              <a:t> </a:t>
            </a:r>
            <a:r>
              <a:rPr lang="en-GB" sz="2000" dirty="0" err="1">
                <a:latin typeface="Monotype Corsiva" panose="03010101010201010101" pitchFamily="66" charset="0"/>
              </a:rPr>
              <a:t>comme</a:t>
            </a:r>
            <a:r>
              <a:rPr lang="en-GB" sz="2000" dirty="0">
                <a:latin typeface="Monotype Corsiva" panose="03010101010201010101" pitchFamily="66" charset="0"/>
              </a:rPr>
              <a:t> la chute des </a:t>
            </a:r>
            <a:r>
              <a:rPr lang="en-GB" sz="2000" dirty="0" err="1">
                <a:latin typeface="Monotype Corsiva" panose="03010101010201010101" pitchFamily="66" charset="0"/>
              </a:rPr>
              <a:t>astéroïdes</a:t>
            </a:r>
            <a:r>
              <a:rPr lang="en-GB" sz="2000" dirty="0">
                <a:latin typeface="Monotype Corsiva" panose="03010101010201010101" pitchFamily="66" charset="0"/>
              </a:rPr>
              <a:t>; </a:t>
            </a:r>
            <a:r>
              <a:rPr lang="en-GB" sz="2000" dirty="0" err="1">
                <a:latin typeface="Monotype Corsiva" panose="03010101010201010101" pitchFamily="66" charset="0"/>
              </a:rPr>
              <a:t>permettant</a:t>
            </a:r>
            <a:r>
              <a:rPr lang="en-GB" sz="2000" dirty="0">
                <a:latin typeface="Monotype Corsiva" panose="03010101010201010101" pitchFamily="66" charset="0"/>
              </a:rPr>
              <a:t> </a:t>
            </a:r>
            <a:r>
              <a:rPr lang="en-GB" sz="2000" dirty="0" err="1">
                <a:latin typeface="Monotype Corsiva" panose="03010101010201010101" pitchFamily="66" charset="0"/>
              </a:rPr>
              <a:t>alors</a:t>
            </a:r>
            <a:r>
              <a:rPr lang="en-GB" sz="2000" dirty="0">
                <a:latin typeface="Monotype Corsiva" panose="03010101010201010101" pitchFamily="66" charset="0"/>
              </a:rPr>
              <a:t> aux hommes de prendre des </a:t>
            </a:r>
            <a:r>
              <a:rPr lang="en-GB" sz="2000" dirty="0" err="1">
                <a:latin typeface="Monotype Corsiva" panose="03010101010201010101" pitchFamily="66" charset="0"/>
              </a:rPr>
              <a:t>précautions</a:t>
            </a:r>
            <a:r>
              <a:rPr lang="en-GB" sz="2000" dirty="0">
                <a:latin typeface="Monotype Corsiva" panose="03010101010201010101" pitchFamily="66" charset="0"/>
              </a:rPr>
              <a:t>.</a:t>
            </a:r>
          </a:p>
          <a:p>
            <a:pPr marL="0" indent="0" algn="just">
              <a:lnSpc>
                <a:spcPct val="100000"/>
              </a:lnSpc>
              <a:buNone/>
            </a:pPr>
            <a:r>
              <a:rPr lang="en-GB" sz="2000" dirty="0">
                <a:latin typeface="Monotype Corsiva" panose="03010101010201010101" pitchFamily="66" charset="0"/>
              </a:rPr>
              <a:t>	</a:t>
            </a:r>
            <a:r>
              <a:rPr lang="en-GB" sz="2000" dirty="0" err="1">
                <a:latin typeface="Monotype Corsiva" panose="03010101010201010101" pitchFamily="66" charset="0"/>
              </a:rPr>
              <a:t>Notons</a:t>
            </a:r>
            <a:r>
              <a:rPr lang="en-GB" sz="2000" dirty="0">
                <a:latin typeface="Monotype Corsiva" panose="03010101010201010101" pitchFamily="66" charset="0"/>
              </a:rPr>
              <a:t> </a:t>
            </a:r>
            <a:r>
              <a:rPr lang="en-GB" sz="2000" dirty="0" err="1">
                <a:latin typeface="Monotype Corsiva" panose="03010101010201010101" pitchFamily="66" charset="0"/>
              </a:rPr>
              <a:t>également</a:t>
            </a:r>
            <a:r>
              <a:rPr lang="en-GB" sz="2000" dirty="0">
                <a:latin typeface="Monotype Corsiva" panose="03010101010201010101" pitchFamily="66" charset="0"/>
              </a:rPr>
              <a:t> que </a:t>
            </a:r>
            <a:r>
              <a:rPr lang="en-GB" sz="2000" dirty="0" err="1">
                <a:latin typeface="Monotype Corsiva" panose="03010101010201010101" pitchFamily="66" charset="0"/>
              </a:rPr>
              <a:t>l'exploration</a:t>
            </a:r>
            <a:r>
              <a:rPr lang="en-GB" sz="2000" dirty="0">
                <a:latin typeface="Monotype Corsiva" panose="03010101010201010101" pitchFamily="66" charset="0"/>
              </a:rPr>
              <a:t> </a:t>
            </a:r>
            <a:r>
              <a:rPr lang="fr-FR" sz="2000" dirty="0">
                <a:latin typeface="Monotype Corsiva" panose="03010101010201010101" pitchFamily="66" charset="0"/>
              </a:rPr>
              <a:t>de l'espace (les missions sur les autres astres comme la Lune ou Mars ) nécessite un brin de </a:t>
            </a:r>
            <a:r>
              <a:rPr lang="fr-FR" sz="2000" dirty="0" err="1">
                <a:latin typeface="Monotype Corsiva" panose="03010101010201010101" pitchFamily="66" charset="0"/>
              </a:rPr>
              <a:t>géometrie</a:t>
            </a:r>
            <a:r>
              <a:rPr lang="fr-FR" sz="2000" dirty="0">
                <a:latin typeface="Monotype Corsiva" panose="03010101010201010101" pitchFamily="66" charset="0"/>
              </a:rPr>
              <a:t> analytique pour ce qui est des équations des trajectoires des navettes spatiales et des astres, car afin d’être sûr qu'une navette envoyée de la terre vers la lune fera un aller-retour sans encombre, il est nécessaire de tenir compte du mouvement de la lune, de la terre mais aussi de la navette en question. </a:t>
            </a:r>
            <a:r>
              <a:rPr lang="en-GB" sz="2000" dirty="0">
                <a:latin typeface="Monotype Corsiva" panose="03010101010201010101" pitchFamily="66" charset="0"/>
              </a:rPr>
              <a:t>Par </a:t>
            </a:r>
            <a:r>
              <a:rPr lang="en-GB" sz="2000" dirty="0" err="1">
                <a:latin typeface="Monotype Corsiva" panose="03010101010201010101" pitchFamily="66" charset="0"/>
              </a:rPr>
              <a:t>exemple</a:t>
            </a:r>
            <a:r>
              <a:rPr lang="en-GB" sz="2000" dirty="0">
                <a:latin typeface="Monotype Corsiva" panose="03010101010201010101" pitchFamily="66" charset="0"/>
              </a:rPr>
              <a:t> grâce à la </a:t>
            </a:r>
            <a:r>
              <a:rPr lang="en-GB" sz="2000" dirty="0" err="1">
                <a:latin typeface="Monotype Corsiva" panose="03010101010201010101" pitchFamily="66" charset="0"/>
              </a:rPr>
              <a:t>géométrie</a:t>
            </a:r>
            <a:r>
              <a:rPr lang="en-GB" sz="2000" dirty="0">
                <a:latin typeface="Monotype Corsiva" panose="03010101010201010101" pitchFamily="66" charset="0"/>
              </a:rPr>
              <a:t> </a:t>
            </a:r>
            <a:r>
              <a:rPr lang="en-GB" sz="2000" dirty="0" err="1">
                <a:latin typeface="Monotype Corsiva" panose="03010101010201010101" pitchFamily="66" charset="0"/>
              </a:rPr>
              <a:t>différentielle</a:t>
            </a:r>
            <a:r>
              <a:rPr lang="en-GB" sz="2000" dirty="0">
                <a:latin typeface="Monotype Corsiva" panose="03010101010201010101" pitchFamily="66" charset="0"/>
              </a:rPr>
              <a:t>, les </a:t>
            </a:r>
            <a:r>
              <a:rPr lang="en-GB" sz="2000" dirty="0" err="1">
                <a:latin typeface="Monotype Corsiva" panose="03010101010201010101" pitchFamily="66" charset="0"/>
              </a:rPr>
              <a:t>astronomes</a:t>
            </a:r>
            <a:r>
              <a:rPr lang="en-GB" sz="2000" dirty="0">
                <a:latin typeface="Monotype Corsiva" panose="03010101010201010101" pitchFamily="66" charset="0"/>
              </a:rPr>
              <a:t> </a:t>
            </a:r>
            <a:r>
              <a:rPr lang="en-GB" sz="2000" dirty="0" err="1">
                <a:latin typeface="Monotype Corsiva" panose="03010101010201010101" pitchFamily="66" charset="0"/>
              </a:rPr>
              <a:t>sont</a:t>
            </a:r>
            <a:r>
              <a:rPr lang="en-GB" sz="2000" dirty="0">
                <a:latin typeface="Monotype Corsiva" panose="03010101010201010101" pitchFamily="66" charset="0"/>
              </a:rPr>
              <a:t> CERTAINS </a:t>
            </a:r>
            <a:r>
              <a:rPr lang="en-GB" sz="2000" dirty="0" err="1">
                <a:latin typeface="Monotype Corsiva" panose="03010101010201010101" pitchFamily="66" charset="0"/>
              </a:rPr>
              <a:t>qu'il</a:t>
            </a:r>
            <a:r>
              <a:rPr lang="en-GB" sz="2000" dirty="0">
                <a:latin typeface="Monotype Corsiva" panose="03010101010201010101" pitchFamily="66" charset="0"/>
              </a:rPr>
              <a:t> y aura </a:t>
            </a:r>
            <a:r>
              <a:rPr lang="en-GB" sz="2000" dirty="0" err="1">
                <a:latin typeface="Monotype Corsiva" panose="03010101010201010101" pitchFamily="66" charset="0"/>
              </a:rPr>
              <a:t>éclipse</a:t>
            </a:r>
            <a:r>
              <a:rPr lang="en-GB" sz="2000" dirty="0">
                <a:latin typeface="Monotype Corsiva" panose="03010101010201010101" pitchFamily="66" charset="0"/>
              </a:rPr>
              <a:t> </a:t>
            </a:r>
            <a:r>
              <a:rPr lang="en-GB" sz="2000" dirty="0" err="1">
                <a:latin typeface="Monotype Corsiva" panose="03010101010201010101" pitchFamily="66" charset="0"/>
              </a:rPr>
              <a:t>totale</a:t>
            </a:r>
            <a:r>
              <a:rPr lang="en-GB" sz="2000" dirty="0">
                <a:latin typeface="Monotype Corsiva" panose="03010101010201010101" pitchFamily="66" charset="0"/>
              </a:rPr>
              <a:t> du Soleil le </a:t>
            </a:r>
            <a:r>
              <a:rPr lang="en-GB" sz="2000" b="1" dirty="0">
                <a:latin typeface="Monotype Corsiva" panose="03010101010201010101" pitchFamily="66" charset="0"/>
              </a:rPr>
              <a:t>8 </a:t>
            </a:r>
            <a:r>
              <a:rPr lang="en-GB" sz="2000" b="1" dirty="0" err="1">
                <a:latin typeface="Monotype Corsiva" panose="03010101010201010101" pitchFamily="66" charset="0"/>
              </a:rPr>
              <a:t>avril</a:t>
            </a:r>
            <a:r>
              <a:rPr lang="en-GB" sz="2000" b="1" dirty="0">
                <a:latin typeface="Monotype Corsiva" panose="03010101010201010101" pitchFamily="66" charset="0"/>
              </a:rPr>
              <a:t> 2024</a:t>
            </a:r>
            <a:r>
              <a:rPr lang="en-GB" sz="2000" dirty="0">
                <a:latin typeface="Monotype Corsiva" panose="03010101010201010101" pitchFamily="66" charset="0"/>
              </a:rPr>
              <a:t>. </a:t>
            </a:r>
          </a:p>
          <a:p>
            <a:pPr>
              <a:lnSpc>
                <a:spcPct val="100000"/>
              </a:lnSpc>
            </a:pPr>
            <a:endParaRPr lang="en-GB" sz="2000" dirty="0">
              <a:latin typeface="Monotype Corsiva" panose="03010101010201010101" pitchFamily="66" charset="0"/>
            </a:endParaRPr>
          </a:p>
        </p:txBody>
      </p:sp>
      <p:sp>
        <p:nvSpPr>
          <p:cNvPr id="16" name="ZoneTexte 15">
            <a:extLst>
              <a:ext uri="{FF2B5EF4-FFF2-40B4-BE49-F238E27FC236}">
                <a16:creationId xmlns:a16="http://schemas.microsoft.com/office/drawing/2014/main" id="{48E32CED-8BAC-4063-B7FB-0404AF896CB3}"/>
              </a:ext>
            </a:extLst>
          </p:cNvPr>
          <p:cNvSpPr txBox="1"/>
          <p:nvPr/>
        </p:nvSpPr>
        <p:spPr>
          <a:xfrm>
            <a:off x="1918528" y="6296163"/>
            <a:ext cx="1837678" cy="461665"/>
          </a:xfrm>
          <a:prstGeom prst="rect">
            <a:avLst/>
          </a:prstGeom>
          <a:noFill/>
        </p:spPr>
        <p:txBody>
          <a:bodyPr wrap="square" rtlCol="0">
            <a:spAutoFit/>
          </a:bodyPr>
          <a:lstStyle/>
          <a:p>
            <a:r>
              <a:rPr lang="fr-FR" sz="2400" dirty="0">
                <a:latin typeface="Monotype Corsiva" panose="03010101010201010101" pitchFamily="66" charset="0"/>
              </a:rPr>
              <a:t>Eclipse Solaire</a:t>
            </a:r>
            <a:endParaRPr lang="en-GB" sz="2400" dirty="0">
              <a:latin typeface="Monotype Corsiva" panose="03010101010201010101" pitchFamily="66" charset="0"/>
            </a:endParaRPr>
          </a:p>
        </p:txBody>
      </p:sp>
      <p:sp>
        <p:nvSpPr>
          <p:cNvPr id="17" name="ZoneTexte 16">
            <a:extLst>
              <a:ext uri="{FF2B5EF4-FFF2-40B4-BE49-F238E27FC236}">
                <a16:creationId xmlns:a16="http://schemas.microsoft.com/office/drawing/2014/main" id="{883EEAE6-29C3-4A3A-82EA-C9B721132E8F}"/>
              </a:ext>
            </a:extLst>
          </p:cNvPr>
          <p:cNvSpPr txBox="1"/>
          <p:nvPr/>
        </p:nvSpPr>
        <p:spPr>
          <a:xfrm>
            <a:off x="6225781" y="6296163"/>
            <a:ext cx="5617030" cy="461665"/>
          </a:xfrm>
          <a:prstGeom prst="rect">
            <a:avLst/>
          </a:prstGeom>
          <a:noFill/>
        </p:spPr>
        <p:txBody>
          <a:bodyPr wrap="square" rtlCol="0">
            <a:spAutoFit/>
          </a:bodyPr>
          <a:lstStyle/>
          <a:p>
            <a:r>
              <a:rPr lang="fr-FR" sz="2400" dirty="0">
                <a:latin typeface="Monotype Corsiva" panose="03010101010201010101" pitchFamily="66" charset="0"/>
              </a:rPr>
              <a:t>Détermination Géométrique du Rayon de la Terre</a:t>
            </a:r>
            <a:endParaRPr lang="en-GB" sz="2400" dirty="0">
              <a:latin typeface="Monotype Corsiva" panose="03010101010201010101" pitchFamily="66" charset="0"/>
            </a:endParaRPr>
          </a:p>
        </p:txBody>
      </p:sp>
      <p:sp>
        <p:nvSpPr>
          <p:cNvPr id="18" name="Espace réservé du numéro de diapositive 5">
            <a:extLst>
              <a:ext uri="{FF2B5EF4-FFF2-40B4-BE49-F238E27FC236}">
                <a16:creationId xmlns:a16="http://schemas.microsoft.com/office/drawing/2014/main" id="{F12ABC05-543A-42E3-89C0-65ABFE7DAC11}"/>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20</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6336921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E43DFFED-874E-4BA7-987E-781A57D62E8D}"/>
              </a:ext>
            </a:extLst>
          </p:cNvPr>
          <p:cNvSpPr>
            <a:spLocks noGrp="1"/>
          </p:cNvSpPr>
          <p:nvPr>
            <p:ph type="body" sz="quarter" idx="3"/>
          </p:nvPr>
        </p:nvSpPr>
        <p:spPr>
          <a:xfrm>
            <a:off x="3068993" y="-3650"/>
            <a:ext cx="1359555" cy="573118"/>
          </a:xfrm>
        </p:spPr>
        <p:txBody>
          <a:bodyPr>
            <a:normAutofit fontScale="85000" lnSpcReduction="10000"/>
          </a:bodyPr>
          <a:lstStyle/>
          <a:p>
            <a:r>
              <a:rPr lang="fr-FR" dirty="0">
                <a:latin typeface="Monotype Corsiva" panose="03010101010201010101" pitchFamily="66" charset="0"/>
              </a:rPr>
              <a:t>En </a:t>
            </a:r>
            <a:r>
              <a:rPr lang="fr-FR" sz="2600" dirty="0">
                <a:latin typeface="Monotype Corsiva" panose="03010101010201010101" pitchFamily="66" charset="0"/>
              </a:rPr>
              <a:t>Biologie</a:t>
            </a:r>
            <a:endParaRPr lang="en-GB" sz="2600" dirty="0">
              <a:latin typeface="Monotype Corsiva" panose="03010101010201010101" pitchFamily="66" charset="0"/>
            </a:endParaRPr>
          </a:p>
        </p:txBody>
      </p:sp>
      <p:sp>
        <p:nvSpPr>
          <p:cNvPr id="6" name="Espace réservé du contenu 5">
            <a:extLst>
              <a:ext uri="{FF2B5EF4-FFF2-40B4-BE49-F238E27FC236}">
                <a16:creationId xmlns:a16="http://schemas.microsoft.com/office/drawing/2014/main" id="{20E5809F-5279-4EA4-B27C-D563B6A975BD}"/>
              </a:ext>
            </a:extLst>
          </p:cNvPr>
          <p:cNvSpPr>
            <a:spLocks noGrp="1"/>
          </p:cNvSpPr>
          <p:nvPr>
            <p:ph sz="quarter" idx="4"/>
          </p:nvPr>
        </p:nvSpPr>
        <p:spPr>
          <a:xfrm>
            <a:off x="472912" y="586942"/>
            <a:ext cx="6551720" cy="1577626"/>
          </a:xfrm>
        </p:spPr>
        <p:txBody>
          <a:bodyPr>
            <a:normAutofit/>
          </a:bodyPr>
          <a:lstStyle/>
          <a:p>
            <a:pPr marL="0" indent="0" algn="just">
              <a:lnSpc>
                <a:spcPct val="100000"/>
              </a:lnSpc>
              <a:buNone/>
            </a:pPr>
            <a:r>
              <a:rPr lang="fr-FR" dirty="0">
                <a:latin typeface="Monotype Corsiva" panose="03010101010201010101" pitchFamily="66" charset="0"/>
              </a:rPr>
              <a:t>	On voit ici l’optique géométrique qui a permis de corriger les défauts de l’œil ainsi que la mise sur pied des microscopes pour explorer les structures à la base de la vie comme l’ADN.</a:t>
            </a:r>
            <a:endParaRPr lang="en-GB" dirty="0">
              <a:latin typeface="Monotype Corsiva" panose="03010101010201010101" pitchFamily="66" charset="0"/>
            </a:endParaRPr>
          </a:p>
        </p:txBody>
      </p:sp>
      <p:sp>
        <p:nvSpPr>
          <p:cNvPr id="11" name="Espace réservé du texte 10">
            <a:extLst>
              <a:ext uri="{FF2B5EF4-FFF2-40B4-BE49-F238E27FC236}">
                <a16:creationId xmlns:a16="http://schemas.microsoft.com/office/drawing/2014/main" id="{12CB4234-706A-4764-A9D5-A5501F3DAE7F}"/>
              </a:ext>
            </a:extLst>
          </p:cNvPr>
          <p:cNvSpPr>
            <a:spLocks noGrp="1"/>
          </p:cNvSpPr>
          <p:nvPr>
            <p:ph type="body" sz="quarter" idx="13"/>
          </p:nvPr>
        </p:nvSpPr>
        <p:spPr>
          <a:xfrm>
            <a:off x="3133815" y="1722114"/>
            <a:ext cx="1229912" cy="459928"/>
          </a:xfrm>
        </p:spPr>
        <p:txBody>
          <a:bodyPr>
            <a:normAutofit/>
          </a:bodyPr>
          <a:lstStyle/>
          <a:p>
            <a:r>
              <a:rPr lang="fr-FR" dirty="0">
                <a:latin typeface="Monotype Corsiva" panose="03010101010201010101" pitchFamily="66" charset="0"/>
              </a:rPr>
              <a:t>En Art</a:t>
            </a:r>
            <a:endParaRPr lang="en-GB" dirty="0">
              <a:latin typeface="Monotype Corsiva" panose="03010101010201010101" pitchFamily="66" charset="0"/>
            </a:endParaRPr>
          </a:p>
        </p:txBody>
      </p:sp>
      <p:sp>
        <p:nvSpPr>
          <p:cNvPr id="12" name="Espace réservé du contenu 11">
            <a:extLst>
              <a:ext uri="{FF2B5EF4-FFF2-40B4-BE49-F238E27FC236}">
                <a16:creationId xmlns:a16="http://schemas.microsoft.com/office/drawing/2014/main" id="{9EC9AD6D-6A90-4D8A-9E42-1C4BDB501394}"/>
              </a:ext>
            </a:extLst>
          </p:cNvPr>
          <p:cNvSpPr>
            <a:spLocks noGrp="1"/>
          </p:cNvSpPr>
          <p:nvPr>
            <p:ph sz="quarter" idx="14"/>
          </p:nvPr>
        </p:nvSpPr>
        <p:spPr>
          <a:xfrm>
            <a:off x="397410" y="2530465"/>
            <a:ext cx="6702723" cy="4309780"/>
          </a:xfrm>
        </p:spPr>
        <p:txBody>
          <a:bodyPr>
            <a:noAutofit/>
          </a:bodyPr>
          <a:lstStyle/>
          <a:p>
            <a:pPr marL="0" indent="0">
              <a:lnSpc>
                <a:spcPct val="100000"/>
              </a:lnSpc>
              <a:buNone/>
            </a:pPr>
            <a:r>
              <a:rPr lang="en-GB" dirty="0">
                <a:latin typeface="Monotype Corsiva" panose="03010101010201010101" pitchFamily="66" charset="0"/>
              </a:rPr>
              <a:t>	</a:t>
            </a:r>
            <a:r>
              <a:rPr lang="en-GB" dirty="0" err="1">
                <a:latin typeface="Monotype Corsiva" panose="03010101010201010101" pitchFamily="66" charset="0"/>
              </a:rPr>
              <a:t>D'après</a:t>
            </a:r>
            <a:r>
              <a:rPr lang="en-GB" dirty="0">
                <a:latin typeface="Monotype Corsiva" panose="03010101010201010101" pitchFamily="66" charset="0"/>
              </a:rPr>
              <a:t> Guillaume Apollinaire, </a:t>
            </a:r>
            <a:r>
              <a:rPr lang="fr-FR" dirty="0">
                <a:latin typeface="Monotype Corsiva" panose="03010101010201010101" pitchFamily="66" charset="0"/>
              </a:rPr>
              <a:t>« La géométrie est aux arts plastiques ce que la grammaire est à l’écrivain ». </a:t>
            </a:r>
            <a:endParaRPr lang="en-GB" dirty="0">
              <a:latin typeface="Monotype Corsiva" panose="03010101010201010101" pitchFamily="66" charset="0"/>
            </a:endParaRPr>
          </a:p>
          <a:p>
            <a:pPr>
              <a:lnSpc>
                <a:spcPct val="100000"/>
              </a:lnSpc>
            </a:pPr>
            <a:r>
              <a:rPr lang="fr-FR" dirty="0">
                <a:latin typeface="Monotype Corsiva" panose="03010101010201010101" pitchFamily="66" charset="0"/>
              </a:rPr>
              <a:t>A la base, la sculpture et le </a:t>
            </a:r>
            <a:r>
              <a:rPr lang="en-GB" dirty="0">
                <a:latin typeface="Monotype Corsiva" panose="03010101010201010101" pitchFamily="66" charset="0"/>
              </a:rPr>
              <a:t>dessin d'art</a:t>
            </a:r>
            <a:r>
              <a:rPr lang="fr-FR" dirty="0">
                <a:latin typeface="Monotype Corsiva" panose="03010101010201010101" pitchFamily="66" charset="0"/>
              </a:rPr>
              <a:t> permettaient </a:t>
            </a:r>
            <a:r>
              <a:rPr lang="en-GB" dirty="0">
                <a:latin typeface="Monotype Corsiva" panose="03010101010201010101" pitchFamily="66" charset="0"/>
              </a:rPr>
              <a:t>de </a:t>
            </a:r>
            <a:r>
              <a:rPr lang="en-GB" dirty="0" err="1">
                <a:latin typeface="Monotype Corsiva" panose="03010101010201010101" pitchFamily="66" charset="0"/>
              </a:rPr>
              <a:t>garder</a:t>
            </a:r>
            <a:r>
              <a:rPr lang="en-GB" dirty="0">
                <a:latin typeface="Monotype Corsiva" panose="03010101010201010101" pitchFamily="66" charset="0"/>
              </a:rPr>
              <a:t> </a:t>
            </a:r>
            <a:r>
              <a:rPr lang="en-GB" dirty="0" err="1">
                <a:latin typeface="Monotype Corsiva" panose="03010101010201010101" pitchFamily="66" charset="0"/>
              </a:rPr>
              <a:t>en</a:t>
            </a:r>
            <a:r>
              <a:rPr lang="en-GB" dirty="0">
                <a:latin typeface="Monotype Corsiva" panose="03010101010201010101" pitchFamily="66" charset="0"/>
              </a:rPr>
              <a:t> </a:t>
            </a:r>
            <a:r>
              <a:rPr lang="en-GB" dirty="0" err="1">
                <a:latin typeface="Monotype Corsiva" panose="03010101010201010101" pitchFamily="66" charset="0"/>
              </a:rPr>
              <a:t>mémoire</a:t>
            </a:r>
            <a:r>
              <a:rPr lang="en-GB" dirty="0">
                <a:latin typeface="Monotype Corsiva" panose="03010101010201010101" pitchFamily="66" charset="0"/>
              </a:rPr>
              <a:t> des </a:t>
            </a:r>
            <a:r>
              <a:rPr lang="en-GB" dirty="0" err="1">
                <a:latin typeface="Monotype Corsiva" panose="03010101010201010101" pitchFamily="66" charset="0"/>
              </a:rPr>
              <a:t>personnages</a:t>
            </a:r>
            <a:r>
              <a:rPr lang="en-GB" dirty="0">
                <a:latin typeface="Monotype Corsiva" panose="03010101010201010101" pitchFamily="66" charset="0"/>
              </a:rPr>
              <a:t> </a:t>
            </a:r>
            <a:r>
              <a:rPr lang="en-GB" dirty="0" err="1">
                <a:latin typeface="Monotype Corsiva" panose="03010101010201010101" pitchFamily="66" charset="0"/>
              </a:rPr>
              <a:t>marquants</a:t>
            </a:r>
            <a:r>
              <a:rPr lang="en-GB" dirty="0">
                <a:latin typeface="Monotype Corsiva" panose="03010101010201010101" pitchFamily="66" charset="0"/>
              </a:rPr>
              <a:t> </a:t>
            </a:r>
            <a:r>
              <a:rPr lang="en-GB" dirty="0" err="1">
                <a:latin typeface="Monotype Corsiva" panose="03010101010201010101" pitchFamily="66" charset="0"/>
              </a:rPr>
              <a:t>ou</a:t>
            </a:r>
            <a:r>
              <a:rPr lang="en-GB" dirty="0">
                <a:latin typeface="Monotype Corsiva" panose="03010101010201010101" pitchFamily="66" charset="0"/>
              </a:rPr>
              <a:t> des </a:t>
            </a:r>
            <a:r>
              <a:rPr lang="en-GB" dirty="0" err="1">
                <a:latin typeface="Monotype Corsiva" panose="03010101010201010101" pitchFamily="66" charset="0"/>
              </a:rPr>
              <a:t>histoires</a:t>
            </a:r>
            <a:r>
              <a:rPr lang="en-GB" dirty="0">
                <a:latin typeface="Monotype Corsiva" panose="03010101010201010101" pitchFamily="66" charset="0"/>
              </a:rPr>
              <a:t> profondes (</a:t>
            </a:r>
            <a:r>
              <a:rPr lang="en-GB" dirty="0" err="1">
                <a:latin typeface="Monotype Corsiva" panose="03010101010201010101" pitchFamily="66" charset="0"/>
              </a:rPr>
              <a:t>mythes</a:t>
            </a:r>
            <a:r>
              <a:rPr lang="en-GB" dirty="0">
                <a:latin typeface="Monotype Corsiva" panose="03010101010201010101" pitchFamily="66" charset="0"/>
              </a:rPr>
              <a:t> religieux) .</a:t>
            </a:r>
          </a:p>
          <a:p>
            <a:pPr>
              <a:lnSpc>
                <a:spcPct val="100000"/>
              </a:lnSpc>
            </a:pPr>
            <a:r>
              <a:rPr lang="en-GB" dirty="0">
                <a:latin typeface="Monotype Corsiva" panose="03010101010201010101" pitchFamily="66" charset="0"/>
              </a:rPr>
              <a:t>Au fil du temps, </a:t>
            </a:r>
            <a:r>
              <a:rPr lang="en-GB" dirty="0" err="1">
                <a:latin typeface="Monotype Corsiva" panose="03010101010201010101" pitchFamily="66" charset="0"/>
              </a:rPr>
              <a:t>ils</a:t>
            </a:r>
            <a:r>
              <a:rPr lang="en-GB" dirty="0">
                <a:latin typeface="Monotype Corsiva" panose="03010101010201010101" pitchFamily="66" charset="0"/>
              </a:rPr>
              <a:t> </a:t>
            </a:r>
            <a:r>
              <a:rPr lang="en-GB" dirty="0" err="1">
                <a:latin typeface="Monotype Corsiva" panose="03010101010201010101" pitchFamily="66" charset="0"/>
              </a:rPr>
              <a:t>ont</a:t>
            </a:r>
            <a:r>
              <a:rPr lang="en-GB" dirty="0">
                <a:latin typeface="Monotype Corsiva" panose="03010101010201010101" pitchFamily="66" charset="0"/>
              </a:rPr>
              <a:t> </a:t>
            </a:r>
            <a:r>
              <a:rPr lang="en-GB" dirty="0" err="1">
                <a:latin typeface="Monotype Corsiva" panose="03010101010201010101" pitchFamily="66" charset="0"/>
              </a:rPr>
              <a:t>évolué</a:t>
            </a:r>
            <a:r>
              <a:rPr lang="en-GB" dirty="0">
                <a:latin typeface="Monotype Corsiva" panose="03010101010201010101" pitchFamily="66" charset="0"/>
              </a:rPr>
              <a:t> </a:t>
            </a:r>
            <a:r>
              <a:rPr lang="en-GB" dirty="0" err="1">
                <a:latin typeface="Monotype Corsiva" panose="03010101010201010101" pitchFamily="66" charset="0"/>
              </a:rPr>
              <a:t>vers</a:t>
            </a:r>
            <a:r>
              <a:rPr lang="en-GB" dirty="0">
                <a:latin typeface="Monotype Corsiva" panose="03010101010201010101" pitchFamily="66" charset="0"/>
              </a:rPr>
              <a:t> le beau, </a:t>
            </a:r>
            <a:r>
              <a:rPr lang="en-GB" dirty="0" err="1">
                <a:latin typeface="Monotype Corsiva" panose="03010101010201010101" pitchFamily="66" charset="0"/>
              </a:rPr>
              <a:t>ceci</a:t>
            </a:r>
            <a:r>
              <a:rPr lang="en-GB" dirty="0">
                <a:latin typeface="Monotype Corsiva" panose="03010101010201010101" pitchFamily="66" charset="0"/>
              </a:rPr>
              <a:t> grâce à </a:t>
            </a:r>
            <a:r>
              <a:rPr lang="en-GB" dirty="0" err="1">
                <a:latin typeface="Monotype Corsiva" panose="03010101010201010101" pitchFamily="66" charset="0"/>
              </a:rPr>
              <a:t>l’apport</a:t>
            </a:r>
            <a:r>
              <a:rPr lang="en-GB" dirty="0">
                <a:latin typeface="Monotype Corsiva" panose="03010101010201010101" pitchFamily="66" charset="0"/>
              </a:rPr>
              <a:t> </a:t>
            </a:r>
            <a:r>
              <a:rPr lang="en-GB" dirty="0" err="1">
                <a:latin typeface="Monotype Corsiva" panose="03010101010201010101" pitchFamily="66" charset="0"/>
              </a:rPr>
              <a:t>majeur</a:t>
            </a:r>
            <a:r>
              <a:rPr lang="en-GB" dirty="0">
                <a:latin typeface="Monotype Corsiva" panose="03010101010201010101" pitchFamily="66" charset="0"/>
              </a:rPr>
              <a:t> de la  </a:t>
            </a:r>
            <a:r>
              <a:rPr lang="en-GB" dirty="0" err="1">
                <a:latin typeface="Monotype Corsiva" panose="03010101010201010101" pitchFamily="66" charset="0"/>
              </a:rPr>
              <a:t>géométrie</a:t>
            </a:r>
            <a:r>
              <a:rPr lang="en-GB" dirty="0">
                <a:latin typeface="Monotype Corsiva" panose="03010101010201010101" pitchFamily="66" charset="0"/>
              </a:rPr>
              <a:t> (</a:t>
            </a:r>
            <a:r>
              <a:rPr lang="en-GB" dirty="0" err="1">
                <a:latin typeface="Monotype Corsiva" panose="03010101010201010101" pitchFamily="66" charset="0"/>
              </a:rPr>
              <a:t>Nombre</a:t>
            </a:r>
            <a:r>
              <a:rPr lang="en-GB" dirty="0">
                <a:latin typeface="Monotype Corsiva" panose="03010101010201010101" pitchFamily="66" charset="0"/>
              </a:rPr>
              <a:t> d’or); </a:t>
            </a:r>
            <a:r>
              <a:rPr lang="en-GB" dirty="0" err="1">
                <a:latin typeface="Monotype Corsiva" panose="03010101010201010101" pitchFamily="66" charset="0"/>
              </a:rPr>
              <a:t>il</a:t>
            </a:r>
            <a:r>
              <a:rPr lang="en-GB" dirty="0">
                <a:latin typeface="Monotype Corsiva" panose="03010101010201010101" pitchFamily="66" charset="0"/>
              </a:rPr>
              <a:t> a </a:t>
            </a:r>
            <a:r>
              <a:rPr lang="en-GB" dirty="0" err="1">
                <a:latin typeface="Monotype Corsiva" panose="03010101010201010101" pitchFamily="66" charset="0"/>
              </a:rPr>
              <a:t>alors</a:t>
            </a:r>
            <a:r>
              <a:rPr lang="en-GB" dirty="0">
                <a:latin typeface="Monotype Corsiva" panose="03010101010201010101" pitchFamily="66" charset="0"/>
              </a:rPr>
              <a:t> </a:t>
            </a:r>
            <a:r>
              <a:rPr lang="en-GB" dirty="0" err="1">
                <a:latin typeface="Monotype Corsiva" panose="03010101010201010101" pitchFamily="66" charset="0"/>
              </a:rPr>
              <a:t>été</a:t>
            </a:r>
            <a:r>
              <a:rPr lang="en-GB" dirty="0">
                <a:latin typeface="Monotype Corsiva" panose="03010101010201010101" pitchFamily="66" charset="0"/>
              </a:rPr>
              <a:t> </a:t>
            </a:r>
            <a:r>
              <a:rPr lang="en-GB" dirty="0" err="1">
                <a:latin typeface="Monotype Corsiva" panose="03010101010201010101" pitchFamily="66" charset="0"/>
              </a:rPr>
              <a:t>etabli</a:t>
            </a:r>
            <a:r>
              <a:rPr lang="en-GB" dirty="0">
                <a:latin typeface="Monotype Corsiva" panose="03010101010201010101" pitchFamily="66" charset="0"/>
              </a:rPr>
              <a:t> que plus les proportions </a:t>
            </a:r>
            <a:r>
              <a:rPr lang="en-GB" dirty="0" err="1">
                <a:latin typeface="Monotype Corsiva" panose="03010101010201010101" pitchFamily="66" charset="0"/>
              </a:rPr>
              <a:t>d'une</a:t>
            </a:r>
            <a:r>
              <a:rPr lang="en-GB" dirty="0">
                <a:latin typeface="Monotype Corsiva" panose="03010101010201010101" pitchFamily="66" charset="0"/>
              </a:rPr>
              <a:t> image se </a:t>
            </a:r>
            <a:r>
              <a:rPr lang="en-GB" dirty="0" err="1">
                <a:latin typeface="Monotype Corsiva" panose="03010101010201010101" pitchFamily="66" charset="0"/>
              </a:rPr>
              <a:t>rapprochent</a:t>
            </a:r>
            <a:r>
              <a:rPr lang="en-GB" dirty="0">
                <a:latin typeface="Monotype Corsiva" panose="03010101010201010101" pitchFamily="66" charset="0"/>
              </a:rPr>
              <a:t> du </a:t>
            </a:r>
            <a:r>
              <a:rPr lang="en-GB" dirty="0" err="1">
                <a:latin typeface="Monotype Corsiva" panose="03010101010201010101" pitchFamily="66" charset="0"/>
              </a:rPr>
              <a:t>nombre</a:t>
            </a:r>
            <a:r>
              <a:rPr lang="en-GB" dirty="0">
                <a:latin typeface="Monotype Corsiva" panose="03010101010201010101" pitchFamily="66" charset="0"/>
              </a:rPr>
              <a:t> d'or, plus </a:t>
            </a:r>
            <a:r>
              <a:rPr lang="en-GB" dirty="0" err="1">
                <a:latin typeface="Monotype Corsiva" panose="03010101010201010101" pitchFamily="66" charset="0"/>
              </a:rPr>
              <a:t>elle</a:t>
            </a:r>
            <a:r>
              <a:rPr lang="en-GB" dirty="0">
                <a:latin typeface="Monotype Corsiva" panose="03010101010201010101" pitchFamily="66" charset="0"/>
              </a:rPr>
              <a:t> se </a:t>
            </a:r>
            <a:r>
              <a:rPr lang="en-GB" dirty="0" err="1">
                <a:latin typeface="Monotype Corsiva" panose="03010101010201010101" pitchFamily="66" charset="0"/>
              </a:rPr>
              <a:t>rapprocherait</a:t>
            </a:r>
            <a:r>
              <a:rPr lang="en-GB" dirty="0">
                <a:latin typeface="Monotype Corsiva" panose="03010101010201010101" pitchFamily="66" charset="0"/>
              </a:rPr>
              <a:t> de la perfection: </a:t>
            </a:r>
            <a:r>
              <a:rPr lang="en-GB" dirty="0" err="1">
                <a:latin typeface="Monotype Corsiva" panose="03010101010201010101" pitchFamily="66" charset="0"/>
              </a:rPr>
              <a:t>c’est</a:t>
            </a:r>
            <a:r>
              <a:rPr lang="en-GB" dirty="0">
                <a:latin typeface="Monotype Corsiva" panose="03010101010201010101" pitchFamily="66" charset="0"/>
              </a:rPr>
              <a:t> </a:t>
            </a:r>
            <a:r>
              <a:rPr lang="en-GB" dirty="0" err="1">
                <a:latin typeface="Monotype Corsiva" panose="03010101010201010101" pitchFamily="66" charset="0"/>
              </a:rPr>
              <a:t>ainsi</a:t>
            </a:r>
            <a:r>
              <a:rPr lang="en-GB" dirty="0">
                <a:latin typeface="Monotype Corsiva" panose="03010101010201010101" pitchFamily="66" charset="0"/>
              </a:rPr>
              <a:t> que le </a:t>
            </a:r>
            <a:r>
              <a:rPr lang="en-GB" dirty="0" err="1">
                <a:latin typeface="Monotype Corsiva" panose="03010101010201010101" pitchFamily="66" charset="0"/>
              </a:rPr>
              <a:t>peintre</a:t>
            </a:r>
            <a:r>
              <a:rPr lang="en-GB" dirty="0">
                <a:latin typeface="Monotype Corsiva" panose="03010101010201010101" pitchFamily="66" charset="0"/>
              </a:rPr>
              <a:t> Leonard de Vinci </a:t>
            </a:r>
            <a:r>
              <a:rPr lang="en-GB" dirty="0" err="1">
                <a:latin typeface="Monotype Corsiva" panose="03010101010201010101" pitchFamily="66" charset="0"/>
              </a:rPr>
              <a:t>s'inspire</a:t>
            </a:r>
            <a:r>
              <a:rPr lang="en-GB" dirty="0">
                <a:latin typeface="Monotype Corsiva" panose="03010101010201010101" pitchFamily="66" charset="0"/>
              </a:rPr>
              <a:t>  des travaux de </a:t>
            </a:r>
            <a:r>
              <a:rPr lang="en-GB" dirty="0" err="1">
                <a:latin typeface="Monotype Corsiva" panose="03010101010201010101" pitchFamily="66" charset="0"/>
              </a:rPr>
              <a:t>l'ingenieur</a:t>
            </a:r>
            <a:r>
              <a:rPr lang="en-GB" dirty="0">
                <a:latin typeface="Monotype Corsiva" panose="03010101010201010101" pitchFamily="66" charset="0"/>
              </a:rPr>
              <a:t> Romain </a:t>
            </a:r>
            <a:r>
              <a:rPr lang="en-GB" dirty="0" err="1">
                <a:latin typeface="Monotype Corsiva" panose="03010101010201010101" pitchFamily="66" charset="0"/>
              </a:rPr>
              <a:t>Vitruve</a:t>
            </a:r>
            <a:r>
              <a:rPr lang="en-GB" dirty="0">
                <a:latin typeface="Monotype Corsiva" panose="03010101010201010101" pitchFamily="66" charset="0"/>
              </a:rPr>
              <a:t> pour </a:t>
            </a:r>
            <a:r>
              <a:rPr lang="en-GB" dirty="0" err="1">
                <a:latin typeface="Monotype Corsiva" panose="03010101010201010101" pitchFamily="66" charset="0"/>
              </a:rPr>
              <a:t>réaliser</a:t>
            </a:r>
            <a:r>
              <a:rPr lang="en-GB" dirty="0">
                <a:latin typeface="Monotype Corsiva" panose="03010101010201010101" pitchFamily="66" charset="0"/>
              </a:rPr>
              <a:t> sur papier, la célèbre </a:t>
            </a:r>
            <a:r>
              <a:rPr lang="en-GB" dirty="0" err="1">
                <a:latin typeface="Monotype Corsiva" panose="03010101010201010101" pitchFamily="66" charset="0"/>
              </a:rPr>
              <a:t>représentation</a:t>
            </a:r>
            <a:r>
              <a:rPr lang="en-GB" dirty="0">
                <a:latin typeface="Monotype Corsiva" panose="03010101010201010101" pitchFamily="66" charset="0"/>
              </a:rPr>
              <a:t> de </a:t>
            </a:r>
            <a:r>
              <a:rPr lang="en-GB" dirty="0" err="1">
                <a:latin typeface="Monotype Corsiva" panose="03010101010201010101" pitchFamily="66" charset="0"/>
              </a:rPr>
              <a:t>l'Homme</a:t>
            </a:r>
            <a:r>
              <a:rPr lang="en-GB" dirty="0">
                <a:latin typeface="Monotype Corsiva" panose="03010101010201010101" pitchFamily="66" charset="0"/>
              </a:rPr>
              <a:t> dans les proportions </a:t>
            </a:r>
            <a:r>
              <a:rPr lang="en-GB" dirty="0" err="1">
                <a:latin typeface="Monotype Corsiva" panose="03010101010201010101" pitchFamily="66" charset="0"/>
              </a:rPr>
              <a:t>parfaites</a:t>
            </a:r>
            <a:r>
              <a:rPr lang="en-GB" dirty="0">
                <a:latin typeface="Monotype Corsiva" panose="03010101010201010101" pitchFamily="66" charset="0"/>
              </a:rPr>
              <a:t> qui </a:t>
            </a:r>
            <a:r>
              <a:rPr lang="en-GB" dirty="0" err="1">
                <a:latin typeface="Monotype Corsiva" panose="03010101010201010101" pitchFamily="66" charset="0"/>
              </a:rPr>
              <a:t>s'incrit</a:t>
            </a:r>
            <a:r>
              <a:rPr lang="en-GB" dirty="0">
                <a:latin typeface="Monotype Corsiva" panose="03010101010201010101" pitchFamily="66" charset="0"/>
              </a:rPr>
              <a:t> à la </a:t>
            </a:r>
            <a:r>
              <a:rPr lang="en-GB" dirty="0" err="1">
                <a:latin typeface="Monotype Corsiva" panose="03010101010201010101" pitchFamily="66" charset="0"/>
              </a:rPr>
              <a:t>fois</a:t>
            </a:r>
            <a:r>
              <a:rPr lang="en-GB" dirty="0">
                <a:latin typeface="Monotype Corsiva" panose="03010101010201010101" pitchFamily="66" charset="0"/>
              </a:rPr>
              <a:t> dans un </a:t>
            </a:r>
            <a:r>
              <a:rPr lang="en-GB" dirty="0" err="1">
                <a:latin typeface="Monotype Corsiva" panose="03010101010201010101" pitchFamily="66" charset="0"/>
              </a:rPr>
              <a:t>carré</a:t>
            </a:r>
            <a:r>
              <a:rPr lang="en-GB" dirty="0">
                <a:latin typeface="Monotype Corsiva" panose="03010101010201010101" pitchFamily="66" charset="0"/>
              </a:rPr>
              <a:t> et un </a:t>
            </a:r>
            <a:r>
              <a:rPr lang="en-GB" dirty="0" err="1">
                <a:latin typeface="Monotype Corsiva" panose="03010101010201010101" pitchFamily="66" charset="0"/>
              </a:rPr>
              <a:t>cercle</a:t>
            </a:r>
            <a:r>
              <a:rPr lang="en-GB" dirty="0">
                <a:latin typeface="Monotype Corsiva" panose="03010101010201010101" pitchFamily="66" charset="0"/>
              </a:rPr>
              <a:t> (Figure ci-</a:t>
            </a:r>
            <a:r>
              <a:rPr lang="en-GB" dirty="0" err="1">
                <a:latin typeface="Monotype Corsiva" panose="03010101010201010101" pitchFamily="66" charset="0"/>
              </a:rPr>
              <a:t>contre</a:t>
            </a:r>
            <a:r>
              <a:rPr lang="en-GB" dirty="0">
                <a:latin typeface="Monotype Corsiva" panose="03010101010201010101" pitchFamily="66" charset="0"/>
              </a:rPr>
              <a:t>).</a:t>
            </a:r>
          </a:p>
          <a:p>
            <a:pPr>
              <a:lnSpc>
                <a:spcPct val="100000"/>
              </a:lnSpc>
            </a:pPr>
            <a:endParaRPr lang="en-GB" dirty="0">
              <a:latin typeface="Monotype Corsiva" panose="03010101010201010101" pitchFamily="66" charset="0"/>
            </a:endParaRPr>
          </a:p>
          <a:p>
            <a:pPr marL="0" indent="0">
              <a:lnSpc>
                <a:spcPct val="100000"/>
              </a:lnSpc>
              <a:buNone/>
            </a:pPr>
            <a:endParaRPr lang="en-GB" dirty="0">
              <a:latin typeface="Monotype Corsiva" panose="03010101010201010101" pitchFamily="66" charset="0"/>
            </a:endParaRPr>
          </a:p>
        </p:txBody>
      </p:sp>
      <p:sp>
        <p:nvSpPr>
          <p:cNvPr id="13" name="Espace réservé du numéro de diapositive 5">
            <a:extLst>
              <a:ext uri="{FF2B5EF4-FFF2-40B4-BE49-F238E27FC236}">
                <a16:creationId xmlns:a16="http://schemas.microsoft.com/office/drawing/2014/main" id="{7DD91AB1-3439-4231-80B0-629326A738AB}"/>
              </a:ext>
            </a:extLst>
          </p:cNvPr>
          <p:cNvSpPr txBox="1">
            <a:spLocks/>
          </p:cNvSpPr>
          <p:nvPr/>
        </p:nvSpPr>
        <p:spPr>
          <a:xfrm>
            <a:off x="11672584" y="6410722"/>
            <a:ext cx="491496" cy="44727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000" b="1" dirty="0">
                <a:solidFill>
                  <a:schemeClr val="tx1"/>
                </a:solidFill>
                <a:latin typeface="Monotype Corsiva" panose="03010101010201010101" pitchFamily="66" charset="0"/>
              </a:rPr>
              <a:t> </a:t>
            </a:r>
            <a:fld id="{D76B855D-E9CC-4FF8-AD85-6CDC7B89A0DE}" type="slidenum">
              <a:rPr lang="fr-FR" sz="2000" b="1" smtClean="0">
                <a:solidFill>
                  <a:schemeClr val="tx1"/>
                </a:solidFill>
                <a:latin typeface="Monotype Corsiva" panose="03010101010201010101" pitchFamily="66" charset="0"/>
              </a:rPr>
              <a:pPr>
                <a:defRPr/>
              </a:pPr>
              <a:t>21</a:t>
            </a:fld>
            <a:endParaRPr lang="fr-FR" sz="2000" b="1" dirty="0">
              <a:solidFill>
                <a:schemeClr val="tx1"/>
              </a:solidFill>
              <a:latin typeface="Monotype Corsiva" panose="03010101010201010101" pitchFamily="66" charset="0"/>
            </a:endParaRPr>
          </a:p>
        </p:txBody>
      </p:sp>
      <p:pic>
        <p:nvPicPr>
          <p:cNvPr id="17" name="Image 16">
            <a:extLst>
              <a:ext uri="{FF2B5EF4-FFF2-40B4-BE49-F238E27FC236}">
                <a16:creationId xmlns:a16="http://schemas.microsoft.com/office/drawing/2014/main" id="{800A39FE-6F2D-421A-A6B5-A5AB91C8678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668751" y="1932279"/>
            <a:ext cx="3118458" cy="4579368"/>
          </a:xfrm>
          <a:prstGeom prst="rect">
            <a:avLst/>
          </a:prstGeom>
          <a:noFill/>
          <a:ln>
            <a:noFill/>
          </a:ln>
        </p:spPr>
      </p:pic>
      <p:pic>
        <p:nvPicPr>
          <p:cNvPr id="18" name="Image 17">
            <a:extLst>
              <a:ext uri="{FF2B5EF4-FFF2-40B4-BE49-F238E27FC236}">
                <a16:creationId xmlns:a16="http://schemas.microsoft.com/office/drawing/2014/main" id="{924DF14F-71ED-4016-B1AA-A5C1BE36613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330267" y="0"/>
            <a:ext cx="3682330" cy="1952078"/>
          </a:xfrm>
          <a:prstGeom prst="rect">
            <a:avLst/>
          </a:prstGeom>
          <a:noFill/>
          <a:ln>
            <a:noFill/>
          </a:ln>
        </p:spPr>
      </p:pic>
      <p:sp>
        <p:nvSpPr>
          <p:cNvPr id="2" name="ZoneTexte 1">
            <a:extLst>
              <a:ext uri="{FF2B5EF4-FFF2-40B4-BE49-F238E27FC236}">
                <a16:creationId xmlns:a16="http://schemas.microsoft.com/office/drawing/2014/main" id="{A2EBC18E-A926-4E10-A5FB-F9A00E0AFBAE}"/>
              </a:ext>
            </a:extLst>
          </p:cNvPr>
          <p:cNvSpPr txBox="1"/>
          <p:nvPr/>
        </p:nvSpPr>
        <p:spPr>
          <a:xfrm>
            <a:off x="8082763" y="6511647"/>
            <a:ext cx="2020824" cy="430887"/>
          </a:xfrm>
          <a:prstGeom prst="rect">
            <a:avLst/>
          </a:prstGeom>
          <a:noFill/>
        </p:spPr>
        <p:txBody>
          <a:bodyPr wrap="square" rtlCol="0">
            <a:spAutoFit/>
          </a:bodyPr>
          <a:lstStyle/>
          <a:p>
            <a:r>
              <a:rPr lang="fr-FR" sz="2200" b="1" dirty="0">
                <a:latin typeface="Monotype Corsiva" panose="03010101010201010101" pitchFamily="66" charset="0"/>
              </a:rPr>
              <a:t>L’Homme Vitruve</a:t>
            </a:r>
          </a:p>
        </p:txBody>
      </p:sp>
    </p:spTree>
    <p:extLst>
      <p:ext uri="{BB962C8B-B14F-4D97-AF65-F5344CB8AC3E}">
        <p14:creationId xmlns:p14="http://schemas.microsoft.com/office/powerpoint/2010/main" val="20223894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DE39-A4AE-4159-856D-AF841A3D16B6}"/>
              </a:ext>
            </a:extLst>
          </p:cNvPr>
          <p:cNvSpPr>
            <a:spLocks noGrp="1"/>
          </p:cNvSpPr>
          <p:nvPr>
            <p:ph type="title"/>
          </p:nvPr>
        </p:nvSpPr>
        <p:spPr/>
        <p:txBody>
          <a:bodyPr>
            <a:normAutofit/>
          </a:bodyPr>
          <a:lstStyle/>
          <a:p>
            <a:r>
              <a:rPr lang="fr-FR" dirty="0"/>
              <a:t>CURIOSITES GEOMETRIQUES</a:t>
            </a:r>
          </a:p>
        </p:txBody>
      </p:sp>
      <p:sp>
        <p:nvSpPr>
          <p:cNvPr id="3" name="Espace réservé du texte 2">
            <a:extLst>
              <a:ext uri="{FF2B5EF4-FFF2-40B4-BE49-F238E27FC236}">
                <a16:creationId xmlns:a16="http://schemas.microsoft.com/office/drawing/2014/main" id="{227A9D77-3F96-4923-B07D-527E6B6C43BA}"/>
              </a:ext>
            </a:extLst>
          </p:cNvPr>
          <p:cNvSpPr>
            <a:spLocks noGrp="1"/>
          </p:cNvSpPr>
          <p:nvPr>
            <p:ph type="body" idx="1"/>
          </p:nvPr>
        </p:nvSpPr>
        <p:spPr/>
        <p:txBody>
          <a:bodyPr/>
          <a:lstStyle/>
          <a:p>
            <a:r>
              <a:rPr lang="fr-FR" dirty="0"/>
              <a:t>«Là où il y a de la matière, il y a de la Géométrie.» Johannes Kepler</a:t>
            </a:r>
          </a:p>
        </p:txBody>
      </p:sp>
      <p:sp>
        <p:nvSpPr>
          <p:cNvPr id="4" name="Espace réservé du numéro de diapositive 5">
            <a:extLst>
              <a:ext uri="{FF2B5EF4-FFF2-40B4-BE49-F238E27FC236}">
                <a16:creationId xmlns:a16="http://schemas.microsoft.com/office/drawing/2014/main" id="{BA9861A1-F49B-4A5C-936A-8B3FFB1CADB5}"/>
              </a:ext>
            </a:extLst>
          </p:cNvPr>
          <p:cNvSpPr txBox="1">
            <a:spLocks/>
          </p:cNvSpPr>
          <p:nvPr/>
        </p:nvSpPr>
        <p:spPr>
          <a:xfrm>
            <a:off x="11757428" y="6528220"/>
            <a:ext cx="434572" cy="32978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1400" b="1" dirty="0">
                <a:solidFill>
                  <a:schemeClr val="tx1"/>
                </a:solidFill>
                <a:latin typeface="Calibri" panose="020F0502020204030204"/>
              </a:rPr>
              <a:t> </a:t>
            </a:r>
            <a:fld id="{D76B855D-E9CC-4FF8-AD85-6CDC7B89A0DE}" type="slidenum">
              <a:rPr lang="fr-FR" sz="1400" b="1" smtClean="0">
                <a:solidFill>
                  <a:schemeClr val="tx1"/>
                </a:solidFill>
                <a:latin typeface="Calibri" panose="020F0502020204030204"/>
              </a:rPr>
              <a:pPr>
                <a:defRPr/>
              </a:pPr>
              <a:t>22</a:t>
            </a:fld>
            <a:endParaRPr lang="fr-FR" sz="1400" b="1" dirty="0">
              <a:solidFill>
                <a:schemeClr val="tx1"/>
              </a:solidFill>
              <a:latin typeface="Calibri" panose="020F0502020204030204"/>
            </a:endParaRPr>
          </a:p>
        </p:txBody>
      </p:sp>
    </p:spTree>
    <p:extLst>
      <p:ext uri="{BB962C8B-B14F-4D97-AF65-F5344CB8AC3E}">
        <p14:creationId xmlns:p14="http://schemas.microsoft.com/office/powerpoint/2010/main" val="35082056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re 3">
                <a:extLst>
                  <a:ext uri="{FF2B5EF4-FFF2-40B4-BE49-F238E27FC236}">
                    <a16:creationId xmlns:a16="http://schemas.microsoft.com/office/drawing/2014/main" id="{DE06B2DB-C901-4CD7-837B-611A91AAC332}"/>
                  </a:ext>
                </a:extLst>
              </p:cNvPr>
              <p:cNvSpPr>
                <a:spLocks noGrp="1"/>
              </p:cNvSpPr>
              <p:nvPr>
                <p:ph type="title"/>
              </p:nvPr>
            </p:nvSpPr>
            <p:spPr>
              <a:xfrm>
                <a:off x="2298577" y="138805"/>
                <a:ext cx="1998216" cy="1025333"/>
              </a:xfrm>
            </p:spPr>
            <p:txBody>
              <a:bodyPr>
                <a:normAutofit fontScale="90000"/>
              </a:bodyPr>
              <a:lstStyle/>
              <a:p>
                <a14:m>
                  <m:oMath xmlns:m="http://schemas.openxmlformats.org/officeDocument/2006/math">
                    <m:r>
                      <a:rPr lang="el-GR" i="1" smtClean="0">
                        <a:latin typeface="Cambria Math" panose="02040503050406030204" pitchFamily="18" charset="0"/>
                      </a:rPr>
                      <m:t>𝜋</m:t>
                    </m:r>
                  </m:oMath>
                </a14:m>
                <a:r>
                  <a:rPr lang="en-GB" dirty="0">
                    <a:latin typeface="Monotype Corsiva" panose="03010101010201010101" pitchFamily="66" charset="0"/>
                  </a:rPr>
                  <a:t> &amp; </a:t>
                </a:r>
                <a:r>
                  <a:rPr lang="fr-FR" dirty="0">
                    <a:latin typeface="Monotype Corsiva" panose="03010101010201010101" pitchFamily="66" charset="0"/>
                  </a:rPr>
                  <a:t>φ</a:t>
                </a:r>
                <a:br>
                  <a:rPr lang="en-GB" dirty="0">
                    <a:latin typeface="Monotype Corsiva" panose="03010101010201010101" pitchFamily="66" charset="0"/>
                  </a:rPr>
                </a:br>
                <a:endParaRPr lang="en-GB" dirty="0">
                  <a:latin typeface="Monotype Corsiva" panose="03010101010201010101" pitchFamily="66" charset="0"/>
                </a:endParaRPr>
              </a:p>
            </p:txBody>
          </p:sp>
        </mc:Choice>
        <mc:Fallback xmlns="">
          <p:sp>
            <p:nvSpPr>
              <p:cNvPr id="4" name="Titre 3">
                <a:extLst>
                  <a:ext uri="{FF2B5EF4-FFF2-40B4-BE49-F238E27FC236}">
                    <a16:creationId xmlns:a16="http://schemas.microsoft.com/office/drawing/2014/main" id="{DE06B2DB-C901-4CD7-837B-611A91AAC332}"/>
                  </a:ext>
                </a:extLst>
              </p:cNvPr>
              <p:cNvSpPr>
                <a:spLocks noGrp="1" noRot="1" noChangeAspect="1" noMove="1" noResize="1" noEditPoints="1" noAdjustHandles="1" noChangeArrowheads="1" noChangeShapeType="1" noTextEdit="1"/>
              </p:cNvSpPr>
              <p:nvPr>
                <p:ph type="title"/>
              </p:nvPr>
            </p:nvSpPr>
            <p:spPr>
              <a:xfrm>
                <a:off x="2298577" y="138805"/>
                <a:ext cx="1998216" cy="1025333"/>
              </a:xfrm>
              <a:blipFill>
                <a:blip r:embed="rId2"/>
                <a:stretch>
                  <a:fillRect t="-2321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2E444755-263F-4C10-AD35-E6A3FD96E119}"/>
                  </a:ext>
                </a:extLst>
              </p:cNvPr>
              <p:cNvSpPr>
                <a:spLocks noGrp="1"/>
              </p:cNvSpPr>
              <p:nvPr>
                <p:ph idx="1"/>
              </p:nvPr>
            </p:nvSpPr>
            <p:spPr>
              <a:xfrm>
                <a:off x="535989" y="759788"/>
                <a:ext cx="5935092" cy="6098212"/>
              </a:xfrm>
            </p:spPr>
            <p:txBody>
              <a:bodyPr>
                <a:noAutofit/>
              </a:bodyPr>
              <a:lstStyle/>
              <a:p>
                <a:pPr algn="just"/>
                <a:r>
                  <a:rPr lang="fr-FR" sz="2000" dirty="0">
                    <a:latin typeface="Monotype Corsiva" panose="03010101010201010101" pitchFamily="66" charset="0"/>
                  </a:rPr>
                  <a:t>	Défini comme le rapport constant de la circonférence d’un cercle par son diamètre, c’est un nombre qui a fait le tour de toutes des branches mathématiques. Il apparait tout d’abord en géométrie dans les formules de calculs d’aires, de circonférences et de volumes (Cas de la Sphère). Il est aussi omniprésent en trigonométrie avec la notion d’angle et des fonctions sinusoïdales.</a:t>
                </a:r>
              </a:p>
              <a:p>
                <a:pPr algn="just"/>
                <a:r>
                  <a:rPr lang="fr-FR" sz="2000" dirty="0">
                    <a:latin typeface="Monotype Corsiva" panose="03010101010201010101" pitchFamily="66" charset="0"/>
                  </a:rPr>
                  <a:t>	Quant au second, définit comme l’unique rapport  </a:t>
                </a:r>
                <a14:m>
                  <m:oMath xmlns:m="http://schemas.openxmlformats.org/officeDocument/2006/math">
                    <m:f>
                      <m:fPr>
                        <m:ctrlPr>
                          <a:rPr lang="fr-FR" sz="2000" i="1" smtClean="0">
                            <a:latin typeface="Cambria Math" panose="02040503050406030204" pitchFamily="18" charset="0"/>
                          </a:rPr>
                        </m:ctrlPr>
                      </m:fPr>
                      <m:num>
                        <m:r>
                          <a:rPr lang="fr-FR" sz="2000" b="0" i="1" smtClean="0">
                            <a:latin typeface="Cambria Math" panose="02040503050406030204" pitchFamily="18" charset="0"/>
                          </a:rPr>
                          <m:t>𝑎</m:t>
                        </m:r>
                      </m:num>
                      <m:den>
                        <m:r>
                          <a:rPr lang="fr-FR" sz="2000" b="0" i="1" smtClean="0">
                            <a:latin typeface="Cambria Math" panose="02040503050406030204" pitchFamily="18" charset="0"/>
                          </a:rPr>
                          <m:t>𝑏</m:t>
                        </m:r>
                      </m:den>
                    </m:f>
                    <m:r>
                      <a:rPr lang="fr-FR" sz="2000" b="0" i="1" smtClean="0">
                        <a:latin typeface="Cambria Math" panose="02040503050406030204" pitchFamily="18" charset="0"/>
                      </a:rPr>
                      <m:t>=</m:t>
                    </m:r>
                    <m:f>
                      <m:fPr>
                        <m:ctrlPr>
                          <a:rPr lang="fr-FR" sz="2000" b="0" i="1" smtClean="0">
                            <a:latin typeface="Cambria Math" panose="02040503050406030204" pitchFamily="18" charset="0"/>
                          </a:rPr>
                        </m:ctrlPr>
                      </m:fPr>
                      <m:num>
                        <m:r>
                          <a:rPr lang="fr-FR" sz="2000" b="0" i="1" smtClean="0">
                            <a:latin typeface="Cambria Math" panose="02040503050406030204" pitchFamily="18" charset="0"/>
                          </a:rPr>
                          <m:t>𝑎</m:t>
                        </m:r>
                        <m:r>
                          <a:rPr lang="fr-FR" sz="2000" b="0" i="1" smtClean="0">
                            <a:latin typeface="Cambria Math" panose="02040503050406030204" pitchFamily="18" charset="0"/>
                          </a:rPr>
                          <m:t>+</m:t>
                        </m:r>
                        <m:r>
                          <a:rPr lang="fr-FR" sz="2000" b="0" i="1" smtClean="0">
                            <a:latin typeface="Cambria Math" panose="02040503050406030204" pitchFamily="18" charset="0"/>
                          </a:rPr>
                          <m:t>𝑏</m:t>
                        </m:r>
                      </m:num>
                      <m:den>
                        <m:r>
                          <a:rPr lang="fr-FR" sz="2000" b="0" i="1" smtClean="0">
                            <a:latin typeface="Cambria Math" panose="02040503050406030204" pitchFamily="18" charset="0"/>
                          </a:rPr>
                          <m:t>𝑎</m:t>
                        </m:r>
                      </m:den>
                    </m:f>
                  </m:oMath>
                </a14:m>
                <a:r>
                  <a:rPr lang="en-GB" sz="2000" dirty="0">
                    <a:latin typeface="Monotype Corsiva" panose="03010101010201010101" pitchFamily="66" charset="0"/>
                  </a:rPr>
                  <a:t> </a:t>
                </a:r>
                <a:r>
                  <a:rPr lang="en-GB" sz="2000" dirty="0" err="1">
                    <a:latin typeface="Monotype Corsiva" panose="03010101010201010101" pitchFamily="66" charset="0"/>
                  </a:rPr>
                  <a:t>où</a:t>
                </a:r>
                <a:r>
                  <a:rPr lang="en-GB" sz="2000" dirty="0">
                    <a:latin typeface="Monotype Corsiva" panose="03010101010201010101" pitchFamily="66" charset="0"/>
                  </a:rPr>
                  <a:t> a, b </a:t>
                </a:r>
                <a14:m>
                  <m:oMath xmlns:m="http://schemas.openxmlformats.org/officeDocument/2006/math">
                    <m:r>
                      <a:rPr lang="en-GB" sz="2000" i="1" smtClean="0">
                        <a:latin typeface="Cambria Math" panose="02040503050406030204" pitchFamily="18" charset="0"/>
                        <a:ea typeface="Cambria Math" panose="02040503050406030204" pitchFamily="18" charset="0"/>
                      </a:rPr>
                      <m:t>&gt;</m:t>
                    </m:r>
                    <m:r>
                      <a:rPr lang="fr-FR" sz="2000" b="0" i="1" smtClean="0">
                        <a:latin typeface="Cambria Math" panose="02040503050406030204" pitchFamily="18" charset="0"/>
                        <a:ea typeface="Cambria Math" panose="02040503050406030204" pitchFamily="18" charset="0"/>
                      </a:rPr>
                      <m:t>0</m:t>
                    </m:r>
                    <m:r>
                      <a:rPr lang="fr-FR" sz="2000" b="0" i="0" smtClean="0">
                        <a:latin typeface="Cambria Math" panose="02040503050406030204" pitchFamily="18" charset="0"/>
                        <a:ea typeface="Cambria Math" panose="02040503050406030204" pitchFamily="18" charset="0"/>
                      </a:rPr>
                      <m:t>,</m:t>
                    </m:r>
                  </m:oMath>
                </a14:m>
                <a:r>
                  <a:rPr lang="en-GB" sz="2000" dirty="0">
                    <a:latin typeface="Monotype Corsiva" panose="03010101010201010101" pitchFamily="66" charset="0"/>
                  </a:rPr>
                  <a:t> </a:t>
                </a:r>
                <a:r>
                  <a:rPr lang="en-GB" sz="2000" dirty="0" err="1">
                    <a:latin typeface="Monotype Corsiva" panose="03010101010201010101" pitchFamily="66" charset="0"/>
                  </a:rPr>
                  <a:t>il</a:t>
                </a:r>
                <a:r>
                  <a:rPr lang="en-GB" sz="2000" dirty="0">
                    <a:latin typeface="Monotype Corsiva" panose="03010101010201010101" pitchFamily="66" charset="0"/>
                  </a:rPr>
                  <a:t> </a:t>
                </a:r>
                <a:r>
                  <a:rPr lang="en-GB" sz="2000" dirty="0" err="1">
                    <a:latin typeface="Monotype Corsiva" panose="03010101010201010101" pitchFamily="66" charset="0"/>
                  </a:rPr>
                  <a:t>vaut</a:t>
                </a:r>
                <a:r>
                  <a:rPr lang="en-GB" sz="2000" dirty="0">
                    <a:latin typeface="Monotype Corsiva" panose="03010101010201010101" pitchFamily="66" charset="0"/>
                  </a:rPr>
                  <a:t>  </a:t>
                </a:r>
                <a14:m>
                  <m:oMath xmlns:m="http://schemas.openxmlformats.org/officeDocument/2006/math">
                    <m:f>
                      <m:fPr>
                        <m:ctrlPr>
                          <a:rPr lang="en-GB" sz="2000" i="1" smtClean="0">
                            <a:latin typeface="Cambria Math" panose="02040503050406030204" pitchFamily="18" charset="0"/>
                          </a:rPr>
                        </m:ctrlPr>
                      </m:fPr>
                      <m:num>
                        <m:r>
                          <a:rPr lang="fr-FR" sz="2000" b="0" i="1" smtClean="0">
                            <a:latin typeface="Cambria Math" panose="02040503050406030204" pitchFamily="18" charset="0"/>
                          </a:rPr>
                          <m:t>1+</m:t>
                        </m:r>
                        <m:r>
                          <a:rPr lang="fr-FR" sz="2000" b="0" i="1" smtClean="0">
                            <a:latin typeface="Cambria Math" panose="02040503050406030204" pitchFamily="18" charset="0"/>
                            <a:ea typeface="Cambria Math" panose="02040503050406030204" pitchFamily="18" charset="0"/>
                          </a:rPr>
                          <m:t>√5</m:t>
                        </m:r>
                      </m:num>
                      <m:den>
                        <m:r>
                          <a:rPr lang="fr-FR" sz="2000" b="0" i="1" smtClean="0">
                            <a:latin typeface="Cambria Math" panose="02040503050406030204" pitchFamily="18" charset="0"/>
                          </a:rPr>
                          <m:t>2</m:t>
                        </m:r>
                      </m:den>
                    </m:f>
                  </m:oMath>
                </a14:m>
                <a:r>
                  <a:rPr lang="en-GB" sz="2000" dirty="0">
                    <a:latin typeface="Monotype Corsiva" panose="03010101010201010101" pitchFamily="66" charset="0"/>
                  </a:rPr>
                  <a:t>. Son nom </a:t>
                </a:r>
                <a:r>
                  <a:rPr lang="en-GB" sz="2000" dirty="0" err="1">
                    <a:latin typeface="Monotype Corsiva" panose="03010101010201010101" pitchFamily="66" charset="0"/>
                  </a:rPr>
                  <a:t>significatif</a:t>
                </a:r>
                <a:r>
                  <a:rPr lang="en-GB" sz="2000" dirty="0">
                    <a:latin typeface="Monotype Corsiva" panose="03010101010201010101" pitchFamily="66" charset="0"/>
                  </a:rPr>
                  <a:t> </a:t>
                </a:r>
                <a:r>
                  <a:rPr lang="en-GB" sz="2000" dirty="0" err="1">
                    <a:latin typeface="Monotype Corsiva" panose="03010101010201010101" pitchFamily="66" charset="0"/>
                  </a:rPr>
                  <a:t>vient</a:t>
                </a:r>
                <a:r>
                  <a:rPr lang="en-GB" sz="2000" dirty="0">
                    <a:latin typeface="Monotype Corsiva" panose="03010101010201010101" pitchFamily="66" charset="0"/>
                  </a:rPr>
                  <a:t> du fait </a:t>
                </a:r>
                <a:r>
                  <a:rPr lang="en-GB" sz="2000" dirty="0" err="1">
                    <a:latin typeface="Monotype Corsiva" panose="03010101010201010101" pitchFamily="66" charset="0"/>
                  </a:rPr>
                  <a:t>qu’il</a:t>
                </a:r>
                <a:r>
                  <a:rPr lang="en-GB" sz="2000" dirty="0">
                    <a:latin typeface="Monotype Corsiva" panose="03010101010201010101" pitchFamily="66" charset="0"/>
                  </a:rPr>
                  <a:t> </a:t>
                </a:r>
                <a:r>
                  <a:rPr lang="en-GB" sz="2000" dirty="0" err="1">
                    <a:latin typeface="Monotype Corsiva" panose="03010101010201010101" pitchFamily="66" charset="0"/>
                  </a:rPr>
                  <a:t>représente</a:t>
                </a:r>
                <a:r>
                  <a:rPr lang="en-GB" sz="2000" dirty="0">
                    <a:latin typeface="Monotype Corsiva" panose="03010101010201010101" pitchFamily="66" charset="0"/>
                  </a:rPr>
                  <a:t> la perfection dans la nature. Tout </a:t>
                </a:r>
                <a:r>
                  <a:rPr lang="en-GB" sz="2000" dirty="0" err="1">
                    <a:latin typeface="Monotype Corsiva" panose="03010101010201010101" pitchFamily="66" charset="0"/>
                  </a:rPr>
                  <a:t>d’abord</a:t>
                </a:r>
                <a:r>
                  <a:rPr lang="en-GB" sz="2000" dirty="0">
                    <a:latin typeface="Monotype Corsiva" panose="03010101010201010101" pitchFamily="66" charset="0"/>
                  </a:rPr>
                  <a:t>, les plus grands tableaux de </a:t>
                </a:r>
                <a:r>
                  <a:rPr lang="en-GB" sz="2000" dirty="0" err="1">
                    <a:latin typeface="Monotype Corsiva" panose="03010101010201010101" pitchFamily="66" charset="0"/>
                  </a:rPr>
                  <a:t>peintures</a:t>
                </a:r>
                <a:r>
                  <a:rPr lang="en-GB" sz="2000" dirty="0">
                    <a:latin typeface="Monotype Corsiva" panose="03010101010201010101" pitchFamily="66" charset="0"/>
                  </a:rPr>
                  <a:t> de </a:t>
                </a:r>
                <a:r>
                  <a:rPr lang="en-GB" sz="2000" dirty="0" err="1">
                    <a:latin typeface="Monotype Corsiva" panose="03010101010201010101" pitchFamily="66" charset="0"/>
                  </a:rPr>
                  <a:t>l’histoire</a:t>
                </a:r>
                <a:r>
                  <a:rPr lang="en-GB" sz="2000" dirty="0">
                    <a:latin typeface="Monotype Corsiva" panose="03010101010201010101" pitchFamily="66" charset="0"/>
                  </a:rPr>
                  <a:t> </a:t>
                </a:r>
                <a:r>
                  <a:rPr lang="en-GB" sz="2000" dirty="0" err="1">
                    <a:latin typeface="Monotype Corsiva" panose="03010101010201010101" pitchFamily="66" charset="0"/>
                  </a:rPr>
                  <a:t>sont</a:t>
                </a:r>
                <a:r>
                  <a:rPr lang="en-GB" sz="2000" dirty="0">
                    <a:latin typeface="Monotype Corsiva" panose="03010101010201010101" pitchFamily="66" charset="0"/>
                  </a:rPr>
                  <a:t> dans les proportions d’or. De plus, </a:t>
                </a:r>
                <a:r>
                  <a:rPr lang="en-GB" sz="2000" dirty="0" err="1">
                    <a:latin typeface="Monotype Corsiva" panose="03010101010201010101" pitchFamily="66" charset="0"/>
                  </a:rPr>
                  <a:t>il</a:t>
                </a:r>
                <a:r>
                  <a:rPr lang="en-GB" sz="2000" dirty="0">
                    <a:latin typeface="Monotype Corsiva" panose="03010101010201010101" pitchFamily="66" charset="0"/>
                  </a:rPr>
                  <a:t> </a:t>
                </a:r>
                <a:r>
                  <a:rPr lang="en-GB" sz="2000" dirty="0" err="1">
                    <a:latin typeface="Monotype Corsiva" panose="03010101010201010101" pitchFamily="66" charset="0"/>
                  </a:rPr>
                  <a:t>est</a:t>
                </a:r>
                <a:r>
                  <a:rPr lang="en-GB" sz="2000" dirty="0">
                    <a:latin typeface="Monotype Corsiva" panose="03010101010201010101" pitchFamily="66" charset="0"/>
                  </a:rPr>
                  <a:t> le rapport de la </a:t>
                </a:r>
                <a:r>
                  <a:rPr lang="en-GB" sz="2000" dirty="0" err="1">
                    <a:latin typeface="Monotype Corsiva" panose="03010101010201010101" pitchFamily="66" charset="0"/>
                  </a:rPr>
                  <a:t>taille</a:t>
                </a:r>
                <a:r>
                  <a:rPr lang="en-GB" sz="2000" dirty="0">
                    <a:latin typeface="Monotype Corsiva" panose="03010101010201010101" pitchFamily="66" charset="0"/>
                  </a:rPr>
                  <a:t> d’un homme parfait par </a:t>
                </a:r>
                <a:r>
                  <a:rPr lang="en-GB" sz="2000" dirty="0" err="1">
                    <a:latin typeface="Monotype Corsiva" panose="03010101010201010101" pitchFamily="66" charset="0"/>
                  </a:rPr>
                  <a:t>sa</a:t>
                </a:r>
                <a:r>
                  <a:rPr lang="en-GB" sz="2000" dirty="0">
                    <a:latin typeface="Monotype Corsiva" panose="03010101010201010101" pitchFamily="66" charset="0"/>
                  </a:rPr>
                  <a:t> </a:t>
                </a:r>
                <a:r>
                  <a:rPr lang="en-GB" sz="2000" dirty="0" err="1">
                    <a:latin typeface="Monotype Corsiva" panose="03010101010201010101" pitchFamily="66" charset="0"/>
                  </a:rPr>
                  <a:t>taille</a:t>
                </a:r>
                <a:r>
                  <a:rPr lang="en-GB" sz="2000" dirty="0">
                    <a:latin typeface="Monotype Corsiva" panose="03010101010201010101" pitchFamily="66" charset="0"/>
                  </a:rPr>
                  <a:t> </a:t>
                </a:r>
                <a:r>
                  <a:rPr lang="en-GB" sz="2000" dirty="0" err="1">
                    <a:latin typeface="Monotype Corsiva" panose="03010101010201010101" pitchFamily="66" charset="0"/>
                  </a:rPr>
                  <a:t>jusqu’au</a:t>
                </a:r>
                <a:r>
                  <a:rPr lang="en-GB" sz="2000" dirty="0">
                    <a:latin typeface="Monotype Corsiva" panose="03010101010201010101" pitchFamily="66" charset="0"/>
                  </a:rPr>
                  <a:t> </a:t>
                </a:r>
                <a:r>
                  <a:rPr lang="en-GB" sz="2000" dirty="0" err="1">
                    <a:latin typeface="Monotype Corsiva" panose="03010101010201010101" pitchFamily="66" charset="0"/>
                  </a:rPr>
                  <a:t>nombril</a:t>
                </a:r>
                <a:r>
                  <a:rPr lang="en-GB" sz="2000" dirty="0">
                    <a:latin typeface="Monotype Corsiva" panose="03010101010201010101" pitchFamily="66" charset="0"/>
                  </a:rPr>
                  <a:t>. De </a:t>
                </a:r>
                <a:r>
                  <a:rPr lang="en-GB" sz="2000" dirty="0" err="1">
                    <a:latin typeface="Monotype Corsiva" panose="03010101010201010101" pitchFamily="66" charset="0"/>
                  </a:rPr>
                  <a:t>surcoît</a:t>
                </a:r>
                <a:r>
                  <a:rPr lang="en-GB" sz="2000" dirty="0">
                    <a:latin typeface="Monotype Corsiva" panose="03010101010201010101" pitchFamily="66" charset="0"/>
                  </a:rPr>
                  <a:t>, les coquilles de </a:t>
                </a:r>
                <a:r>
                  <a:rPr lang="en-GB" sz="2000" dirty="0" err="1">
                    <a:latin typeface="Monotype Corsiva" panose="03010101010201010101" pitchFamily="66" charset="0"/>
                  </a:rPr>
                  <a:t>certains</a:t>
                </a:r>
                <a:r>
                  <a:rPr lang="en-GB" sz="2000" dirty="0">
                    <a:latin typeface="Monotype Corsiva" panose="03010101010201010101" pitchFamily="66" charset="0"/>
                  </a:rPr>
                  <a:t> </a:t>
                </a:r>
                <a:r>
                  <a:rPr lang="en-GB" sz="2000" dirty="0" err="1">
                    <a:latin typeface="Monotype Corsiva" panose="03010101010201010101" pitchFamily="66" charset="0"/>
                  </a:rPr>
                  <a:t>mollusques</a:t>
                </a:r>
                <a:r>
                  <a:rPr lang="en-GB" sz="2000" dirty="0">
                    <a:latin typeface="Monotype Corsiva" panose="03010101010201010101" pitchFamily="66" charset="0"/>
                  </a:rPr>
                  <a:t> et </a:t>
                </a:r>
                <a:r>
                  <a:rPr lang="en-GB" sz="2000" dirty="0" err="1">
                    <a:latin typeface="Monotype Corsiva" panose="03010101010201010101" pitchFamily="66" charset="0"/>
                  </a:rPr>
                  <a:t>certaines</a:t>
                </a:r>
                <a:r>
                  <a:rPr lang="en-GB" sz="2000" dirty="0">
                    <a:latin typeface="Monotype Corsiva" panose="03010101010201010101" pitchFamily="66" charset="0"/>
                  </a:rPr>
                  <a:t> fleurs </a:t>
                </a:r>
                <a:r>
                  <a:rPr lang="en-GB" sz="2000" dirty="0" err="1">
                    <a:latin typeface="Monotype Corsiva" panose="03010101010201010101" pitchFamily="66" charset="0"/>
                  </a:rPr>
                  <a:t>sont</a:t>
                </a:r>
                <a:r>
                  <a:rPr lang="en-GB" sz="2000" dirty="0">
                    <a:latin typeface="Monotype Corsiva" panose="03010101010201010101" pitchFamily="66" charset="0"/>
                  </a:rPr>
                  <a:t> </a:t>
                </a:r>
                <a:r>
                  <a:rPr lang="en-GB" sz="2000" dirty="0" err="1">
                    <a:latin typeface="Monotype Corsiva" panose="03010101010201010101" pitchFamily="66" charset="0"/>
                  </a:rPr>
                  <a:t>disposées</a:t>
                </a:r>
                <a:r>
                  <a:rPr lang="en-GB" sz="2000" dirty="0">
                    <a:latin typeface="Monotype Corsiva" panose="03010101010201010101" pitchFamily="66" charset="0"/>
                  </a:rPr>
                  <a:t> </a:t>
                </a:r>
                <a:r>
                  <a:rPr lang="en-GB" sz="2000" dirty="0" err="1">
                    <a:latin typeface="Monotype Corsiva" panose="03010101010201010101" pitchFamily="66" charset="0"/>
                  </a:rPr>
                  <a:t>en</a:t>
                </a:r>
                <a:r>
                  <a:rPr lang="en-GB" sz="2000" dirty="0">
                    <a:latin typeface="Monotype Corsiva" panose="03010101010201010101" pitchFamily="66" charset="0"/>
                  </a:rPr>
                  <a:t> </a:t>
                </a:r>
                <a:r>
                  <a:rPr lang="en-GB" sz="2000" dirty="0" err="1">
                    <a:latin typeface="Monotype Corsiva" panose="03010101010201010101" pitchFamily="66" charset="0"/>
                  </a:rPr>
                  <a:t>spirales</a:t>
                </a:r>
                <a:r>
                  <a:rPr lang="en-GB" sz="2000" dirty="0">
                    <a:latin typeface="Monotype Corsiva" panose="03010101010201010101" pitchFamily="66" charset="0"/>
                  </a:rPr>
                  <a:t> d’or. Ce </a:t>
                </a:r>
                <a:r>
                  <a:rPr lang="en-GB" sz="2000" dirty="0" err="1">
                    <a:latin typeface="Monotype Corsiva" panose="03010101010201010101" pitchFamily="66" charset="0"/>
                  </a:rPr>
                  <a:t>nombre</a:t>
                </a:r>
                <a:r>
                  <a:rPr lang="en-GB" sz="2000" dirty="0">
                    <a:latin typeface="Monotype Corsiva" panose="03010101010201010101" pitchFamily="66" charset="0"/>
                  </a:rPr>
                  <a:t> se </a:t>
                </a:r>
                <a:r>
                  <a:rPr lang="en-GB" sz="2000" dirty="0" err="1">
                    <a:latin typeface="Monotype Corsiva" panose="03010101010201010101" pitchFamily="66" charset="0"/>
                  </a:rPr>
                  <a:t>trouve</a:t>
                </a:r>
                <a:r>
                  <a:rPr lang="en-GB" sz="2000" dirty="0">
                    <a:latin typeface="Monotype Corsiva" panose="03010101010201010101" pitchFamily="66" charset="0"/>
                  </a:rPr>
                  <a:t> encore </a:t>
                </a:r>
                <a:r>
                  <a:rPr lang="en-GB" sz="2000" dirty="0" err="1">
                    <a:latin typeface="Monotype Corsiva" panose="03010101010201010101" pitchFamily="66" charset="0"/>
                  </a:rPr>
                  <a:t>être</a:t>
                </a:r>
                <a:r>
                  <a:rPr lang="en-GB" sz="2000" dirty="0">
                    <a:latin typeface="Monotype Corsiva" panose="03010101010201010101" pitchFamily="66" charset="0"/>
                  </a:rPr>
                  <a:t> le rapport de la hauteur de </a:t>
                </a:r>
                <a:r>
                  <a:rPr lang="en-GB" sz="2000" dirty="0" err="1">
                    <a:latin typeface="Monotype Corsiva" panose="03010101010201010101" pitchFamily="66" charset="0"/>
                  </a:rPr>
                  <a:t>toute</a:t>
                </a:r>
                <a:r>
                  <a:rPr lang="en-GB" sz="2000" dirty="0">
                    <a:latin typeface="Monotype Corsiva" panose="03010101010201010101" pitchFamily="66" charset="0"/>
                  </a:rPr>
                  <a:t> </a:t>
                </a:r>
                <a:r>
                  <a:rPr lang="en-GB" sz="2000" dirty="0" err="1">
                    <a:latin typeface="Monotype Corsiva" panose="03010101010201010101" pitchFamily="66" charset="0"/>
                  </a:rPr>
                  <a:t>pyramide</a:t>
                </a:r>
                <a:r>
                  <a:rPr lang="en-GB" sz="2000" dirty="0">
                    <a:latin typeface="Monotype Corsiva" panose="03010101010201010101" pitchFamily="66" charset="0"/>
                  </a:rPr>
                  <a:t> </a:t>
                </a:r>
                <a:r>
                  <a:rPr lang="en-GB" sz="2000" dirty="0" err="1">
                    <a:latin typeface="Monotype Corsiva" panose="03010101010201010101" pitchFamily="66" charset="0"/>
                  </a:rPr>
                  <a:t>égyptienne</a:t>
                </a:r>
                <a:r>
                  <a:rPr lang="en-GB" sz="2000" dirty="0">
                    <a:latin typeface="Monotype Corsiva" panose="03010101010201010101" pitchFamily="66" charset="0"/>
                  </a:rPr>
                  <a:t> par la </a:t>
                </a:r>
                <a:r>
                  <a:rPr lang="en-GB" sz="2000" dirty="0" err="1">
                    <a:latin typeface="Monotype Corsiva" panose="03010101010201010101" pitchFamily="66" charset="0"/>
                  </a:rPr>
                  <a:t>moitié</a:t>
                </a:r>
                <a:r>
                  <a:rPr lang="en-GB" sz="2000" dirty="0">
                    <a:latin typeface="Monotype Corsiva" panose="03010101010201010101" pitchFamily="66" charset="0"/>
                  </a:rPr>
                  <a:t> du </a:t>
                </a:r>
                <a:r>
                  <a:rPr lang="en-GB" sz="2000" dirty="0" err="1">
                    <a:latin typeface="Monotype Corsiva" panose="03010101010201010101" pitchFamily="66" charset="0"/>
                  </a:rPr>
                  <a:t>côté</a:t>
                </a:r>
                <a:r>
                  <a:rPr lang="en-GB" sz="2000" dirty="0">
                    <a:latin typeface="Monotype Corsiva" panose="03010101010201010101" pitchFamily="66" charset="0"/>
                  </a:rPr>
                  <a:t> de </a:t>
                </a:r>
                <a:r>
                  <a:rPr lang="en-GB" sz="2000" dirty="0" err="1">
                    <a:latin typeface="Monotype Corsiva" panose="03010101010201010101" pitchFamily="66" charset="0"/>
                  </a:rPr>
                  <a:t>sa</a:t>
                </a:r>
                <a:r>
                  <a:rPr lang="en-GB" sz="2000" dirty="0">
                    <a:latin typeface="Monotype Corsiva" panose="03010101010201010101" pitchFamily="66" charset="0"/>
                  </a:rPr>
                  <a:t> base.</a:t>
                </a:r>
              </a:p>
            </p:txBody>
          </p:sp>
        </mc:Choice>
        <mc:Fallback xmlns="">
          <p:sp>
            <p:nvSpPr>
              <p:cNvPr id="5" name="Espace réservé du contenu 4">
                <a:extLst>
                  <a:ext uri="{FF2B5EF4-FFF2-40B4-BE49-F238E27FC236}">
                    <a16:creationId xmlns:a16="http://schemas.microsoft.com/office/drawing/2014/main" id="{2E444755-263F-4C10-AD35-E6A3FD96E119}"/>
                  </a:ext>
                </a:extLst>
              </p:cNvPr>
              <p:cNvSpPr>
                <a:spLocks noGrp="1" noRot="1" noChangeAspect="1" noMove="1" noResize="1" noEditPoints="1" noAdjustHandles="1" noChangeArrowheads="1" noChangeShapeType="1" noTextEdit="1"/>
              </p:cNvSpPr>
              <p:nvPr>
                <p:ph idx="1"/>
              </p:nvPr>
            </p:nvSpPr>
            <p:spPr>
              <a:xfrm>
                <a:off x="535989" y="759788"/>
                <a:ext cx="5935092" cy="6098212"/>
              </a:xfrm>
              <a:blipFill>
                <a:blip r:embed="rId3"/>
                <a:stretch>
                  <a:fillRect l="-1129" t="-100" r="-924" b="-4000"/>
                </a:stretch>
              </a:blipFill>
            </p:spPr>
            <p:txBody>
              <a:bodyPr/>
              <a:lstStyle/>
              <a:p>
                <a:r>
                  <a:rPr lang="fr-FR">
                    <a:noFill/>
                  </a:rPr>
                  <a:t> </a:t>
                </a:r>
              </a:p>
            </p:txBody>
          </p:sp>
        </mc:Fallback>
      </mc:AlternateContent>
      <p:pic>
        <p:nvPicPr>
          <p:cNvPr id="19" name="Image 18">
            <a:extLst>
              <a:ext uri="{FF2B5EF4-FFF2-40B4-BE49-F238E27FC236}">
                <a16:creationId xmlns:a16="http://schemas.microsoft.com/office/drawing/2014/main" id="{38FA177D-8DDD-4C91-A32B-07639E0A00FD}"/>
              </a:ext>
            </a:extLst>
          </p:cNvPr>
          <p:cNvPicPr>
            <a:picLocks noChangeAspect="1"/>
          </p:cNvPicPr>
          <p:nvPr/>
        </p:nvPicPr>
        <p:blipFill>
          <a:blip r:embed="rId4"/>
          <a:stretch>
            <a:fillRect/>
          </a:stretch>
        </p:blipFill>
        <p:spPr>
          <a:xfrm>
            <a:off x="7031886" y="231151"/>
            <a:ext cx="3333750" cy="1057275"/>
          </a:xfrm>
          <a:prstGeom prst="rect">
            <a:avLst/>
          </a:prstGeom>
        </p:spPr>
      </p:pic>
      <p:pic>
        <p:nvPicPr>
          <p:cNvPr id="23" name="Image 22">
            <a:extLst>
              <a:ext uri="{FF2B5EF4-FFF2-40B4-BE49-F238E27FC236}">
                <a16:creationId xmlns:a16="http://schemas.microsoft.com/office/drawing/2014/main" id="{CE378B5F-C437-4C46-8BF7-FE9C97C48BB2}"/>
              </a:ext>
            </a:extLst>
          </p:cNvPr>
          <p:cNvPicPr>
            <a:picLocks noChangeAspect="1"/>
          </p:cNvPicPr>
          <p:nvPr/>
        </p:nvPicPr>
        <p:blipFill>
          <a:blip r:embed="rId5"/>
          <a:stretch>
            <a:fillRect/>
          </a:stretch>
        </p:blipFill>
        <p:spPr>
          <a:xfrm>
            <a:off x="9751011" y="2725198"/>
            <a:ext cx="1905000" cy="2463800"/>
          </a:xfrm>
          <a:prstGeom prst="rect">
            <a:avLst/>
          </a:prstGeom>
        </p:spPr>
      </p:pic>
      <p:pic>
        <p:nvPicPr>
          <p:cNvPr id="25" name="Image 24">
            <a:extLst>
              <a:ext uri="{FF2B5EF4-FFF2-40B4-BE49-F238E27FC236}">
                <a16:creationId xmlns:a16="http://schemas.microsoft.com/office/drawing/2014/main" id="{02661357-19F5-4E01-8F0F-BE81D67E59ED}"/>
              </a:ext>
            </a:extLst>
          </p:cNvPr>
          <p:cNvPicPr>
            <a:picLocks noChangeAspect="1"/>
          </p:cNvPicPr>
          <p:nvPr/>
        </p:nvPicPr>
        <p:blipFill>
          <a:blip r:embed="rId6"/>
          <a:stretch>
            <a:fillRect/>
          </a:stretch>
        </p:blipFill>
        <p:spPr>
          <a:xfrm>
            <a:off x="6489576" y="5072601"/>
            <a:ext cx="2794000" cy="1765300"/>
          </a:xfrm>
          <a:prstGeom prst="rect">
            <a:avLst/>
          </a:prstGeom>
        </p:spPr>
      </p:pic>
      <p:pic>
        <p:nvPicPr>
          <p:cNvPr id="29" name="Image 28">
            <a:extLst>
              <a:ext uri="{FF2B5EF4-FFF2-40B4-BE49-F238E27FC236}">
                <a16:creationId xmlns:a16="http://schemas.microsoft.com/office/drawing/2014/main" id="{4FBFC0D7-F9CF-4808-ABD3-1D91A52C76F6}"/>
              </a:ext>
            </a:extLst>
          </p:cNvPr>
          <p:cNvPicPr>
            <a:picLocks noChangeAspect="1"/>
          </p:cNvPicPr>
          <p:nvPr/>
        </p:nvPicPr>
        <p:blipFill>
          <a:blip r:embed="rId7"/>
          <a:stretch>
            <a:fillRect/>
          </a:stretch>
        </p:blipFill>
        <p:spPr>
          <a:xfrm>
            <a:off x="6602273" y="1938908"/>
            <a:ext cx="2568606" cy="1941866"/>
          </a:xfrm>
          <a:prstGeom prst="rect">
            <a:avLst/>
          </a:prstGeom>
        </p:spPr>
      </p:pic>
      <p:sp>
        <p:nvSpPr>
          <p:cNvPr id="30" name="ZoneTexte 29">
            <a:extLst>
              <a:ext uri="{FF2B5EF4-FFF2-40B4-BE49-F238E27FC236}">
                <a16:creationId xmlns:a16="http://schemas.microsoft.com/office/drawing/2014/main" id="{65E2FE02-9A9D-496A-8EF8-8EDE4CE590DD}"/>
              </a:ext>
            </a:extLst>
          </p:cNvPr>
          <p:cNvSpPr txBox="1"/>
          <p:nvPr/>
        </p:nvSpPr>
        <p:spPr>
          <a:xfrm>
            <a:off x="6489576" y="4270160"/>
            <a:ext cx="2794000" cy="430887"/>
          </a:xfrm>
          <a:prstGeom prst="rect">
            <a:avLst/>
          </a:prstGeom>
          <a:noFill/>
        </p:spPr>
        <p:txBody>
          <a:bodyPr wrap="square" rtlCol="0">
            <a:spAutoFit/>
          </a:bodyPr>
          <a:lstStyle/>
          <a:p>
            <a:r>
              <a:rPr lang="fr-FR" sz="2200" dirty="0">
                <a:latin typeface="Monotype Corsiva" panose="03010101010201010101" pitchFamily="66" charset="0"/>
              </a:rPr>
              <a:t>Coquille &amp; Spirale d’OR</a:t>
            </a:r>
            <a:endParaRPr lang="en-GB" sz="2200" dirty="0">
              <a:latin typeface="Monotype Corsiva" panose="03010101010201010101" pitchFamily="66" charset="0"/>
            </a:endParaRPr>
          </a:p>
        </p:txBody>
      </p:sp>
      <p:sp>
        <p:nvSpPr>
          <p:cNvPr id="31" name="ZoneTexte 30">
            <a:extLst>
              <a:ext uri="{FF2B5EF4-FFF2-40B4-BE49-F238E27FC236}">
                <a16:creationId xmlns:a16="http://schemas.microsoft.com/office/drawing/2014/main" id="{0F997B3B-F7A1-4234-956D-ACCA88308F55}"/>
              </a:ext>
            </a:extLst>
          </p:cNvPr>
          <p:cNvSpPr txBox="1"/>
          <p:nvPr/>
        </p:nvSpPr>
        <p:spPr>
          <a:xfrm>
            <a:off x="9751011" y="5363593"/>
            <a:ext cx="2794000" cy="430887"/>
          </a:xfrm>
          <a:prstGeom prst="rect">
            <a:avLst/>
          </a:prstGeom>
          <a:noFill/>
        </p:spPr>
        <p:txBody>
          <a:bodyPr wrap="square" rtlCol="0">
            <a:spAutoFit/>
          </a:bodyPr>
          <a:lstStyle/>
          <a:p>
            <a:r>
              <a:rPr lang="fr-FR" sz="2200" dirty="0">
                <a:latin typeface="Monotype Corsiva" panose="03010101010201010101" pitchFamily="66" charset="0"/>
              </a:rPr>
              <a:t>Rectangle d’OR</a:t>
            </a:r>
            <a:endParaRPr lang="en-GB" sz="2200" dirty="0">
              <a:latin typeface="Monotype Corsiva" panose="03010101010201010101" pitchFamily="66" charset="0"/>
            </a:endParaRPr>
          </a:p>
        </p:txBody>
      </p:sp>
      <p:sp>
        <p:nvSpPr>
          <p:cNvPr id="32" name="Espace réservé du numéro de diapositive 5">
            <a:extLst>
              <a:ext uri="{FF2B5EF4-FFF2-40B4-BE49-F238E27FC236}">
                <a16:creationId xmlns:a16="http://schemas.microsoft.com/office/drawing/2014/main" id="{4AD83F64-604F-4882-972E-1049D884E966}"/>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23</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39254150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Espace réservé pour une image  15">
            <a:extLst>
              <a:ext uri="{FF2B5EF4-FFF2-40B4-BE49-F238E27FC236}">
                <a16:creationId xmlns:a16="http://schemas.microsoft.com/office/drawing/2014/main" id="{9FED0CD3-E17B-4931-82D4-6E08089CE0EB}"/>
              </a:ext>
            </a:extLst>
          </p:cNvPr>
          <p:cNvPicPr>
            <a:picLocks noGrp="1" noChangeAspect="1"/>
          </p:cNvPicPr>
          <p:nvPr>
            <p:ph type="pic" sz="quarter" idx="13"/>
          </p:nvPr>
        </p:nvPicPr>
        <p:blipFill>
          <a:blip r:embed="rId4"/>
          <a:srcRect t="72" b="72"/>
          <a:stretch>
            <a:fillRect/>
          </a:stretch>
        </p:blipFill>
        <p:spPr>
          <a:xfrm>
            <a:off x="9200714" y="2798178"/>
            <a:ext cx="2207046" cy="2204178"/>
          </a:xfrm>
        </p:spPr>
      </p:pic>
      <p:sp>
        <p:nvSpPr>
          <p:cNvPr id="4" name="Titre 3">
            <a:extLst>
              <a:ext uri="{FF2B5EF4-FFF2-40B4-BE49-F238E27FC236}">
                <a16:creationId xmlns:a16="http://schemas.microsoft.com/office/drawing/2014/main" id="{DE06B2DB-C901-4CD7-837B-611A91AAC332}"/>
              </a:ext>
            </a:extLst>
          </p:cNvPr>
          <p:cNvSpPr>
            <a:spLocks noGrp="1"/>
          </p:cNvSpPr>
          <p:nvPr>
            <p:ph type="title"/>
          </p:nvPr>
        </p:nvSpPr>
        <p:spPr>
          <a:xfrm>
            <a:off x="1751588" y="-10048"/>
            <a:ext cx="2600420" cy="611389"/>
          </a:xfrm>
        </p:spPr>
        <p:txBody>
          <a:bodyPr>
            <a:normAutofit fontScale="90000"/>
          </a:bodyPr>
          <a:lstStyle/>
          <a:p>
            <a:r>
              <a:rPr lang="fr-FR" dirty="0">
                <a:latin typeface="Monotype Corsiva" panose="03010101010201010101" pitchFamily="66" charset="0"/>
              </a:rPr>
              <a:t>Hyper-espace</a:t>
            </a:r>
            <a:endParaRPr lang="en-GB" dirty="0">
              <a:latin typeface="Monotype Corsiva" panose="03010101010201010101" pitchFamily="66" charset="0"/>
            </a:endParaRPr>
          </a:p>
        </p:txBody>
      </p:sp>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2E444755-263F-4C10-AD35-E6A3FD96E119}"/>
                  </a:ext>
                </a:extLst>
              </p:cNvPr>
              <p:cNvSpPr>
                <a:spLocks noGrp="1"/>
              </p:cNvSpPr>
              <p:nvPr>
                <p:ph idx="1"/>
              </p:nvPr>
            </p:nvSpPr>
            <p:spPr>
              <a:xfrm>
                <a:off x="421409" y="611389"/>
                <a:ext cx="5479503" cy="3595456"/>
              </a:xfrm>
            </p:spPr>
            <p:txBody>
              <a:bodyPr>
                <a:normAutofit lnSpcReduction="10000"/>
              </a:bodyPr>
              <a:lstStyle/>
              <a:p>
                <a:pPr algn="just" fontAlgn="base"/>
                <a:r>
                  <a:rPr lang="fr-FR" sz="2000" dirty="0">
                    <a:latin typeface="Monotype Corsiva" panose="03010101010201010101" pitchFamily="66" charset="0"/>
                  </a:rPr>
                  <a:t>	C’est la généralisation du concept d’espace à des dimensions </a:t>
                </a:r>
                <a14:m>
                  <m:oMath xmlns:m="http://schemas.openxmlformats.org/officeDocument/2006/math">
                    <m:r>
                      <a:rPr lang="fr-FR" sz="2000" i="1" smtClean="0">
                        <a:latin typeface="Cambria Math" panose="02040503050406030204" pitchFamily="18" charset="0"/>
                        <a:ea typeface="Cambria Math" panose="02040503050406030204" pitchFamily="18" charset="0"/>
                      </a:rPr>
                      <m:t>≥</m:t>
                    </m:r>
                  </m:oMath>
                </a14:m>
                <a:r>
                  <a:rPr lang="en-GB" sz="2000" dirty="0">
                    <a:latin typeface="Monotype Corsiva" panose="03010101010201010101" pitchFamily="66" charset="0"/>
                  </a:rPr>
                  <a:t> 4. On y </a:t>
                </a:r>
                <a:r>
                  <a:rPr lang="fr-FR" sz="2000" dirty="0">
                    <a:latin typeface="Monotype Corsiva" panose="03010101010201010101" pitchFamily="66" charset="0"/>
                  </a:rPr>
                  <a:t>définit</a:t>
                </a:r>
                <a:r>
                  <a:rPr lang="en-GB" sz="2000" dirty="0">
                    <a:latin typeface="Monotype Corsiva" panose="03010101010201010101" pitchFamily="66" charset="0"/>
                  </a:rPr>
                  <a:t> </a:t>
                </a:r>
                <a:r>
                  <a:rPr lang="en-GB" sz="2000" dirty="0" err="1">
                    <a:latin typeface="Monotype Corsiva" panose="03010101010201010101" pitchFamily="66" charset="0"/>
                  </a:rPr>
                  <a:t>ainsi</a:t>
                </a:r>
                <a:r>
                  <a:rPr lang="en-GB" sz="2000" dirty="0">
                    <a:latin typeface="Monotype Corsiva" panose="03010101010201010101" pitchFamily="66" charset="0"/>
                  </a:rPr>
                  <a:t> les n-cubes, n-spheres </a:t>
                </a:r>
                <a:r>
                  <a:rPr lang="en-GB" sz="2000" dirty="0" err="1">
                    <a:latin typeface="Monotype Corsiva" panose="03010101010201010101" pitchFamily="66" charset="0"/>
                  </a:rPr>
                  <a:t>dont</a:t>
                </a:r>
                <a:r>
                  <a:rPr lang="en-GB" sz="2000" dirty="0">
                    <a:latin typeface="Monotype Corsiva" panose="03010101010201010101" pitchFamily="66" charset="0"/>
                  </a:rPr>
                  <a:t> des </a:t>
                </a:r>
                <a:r>
                  <a:rPr lang="en-GB" sz="2000" dirty="0" err="1">
                    <a:latin typeface="Monotype Corsiva" panose="03010101010201010101" pitchFamily="66" charset="0"/>
                  </a:rPr>
                  <a:t>cas</a:t>
                </a:r>
                <a:r>
                  <a:rPr lang="en-GB" sz="2000" dirty="0">
                    <a:latin typeface="Monotype Corsiva" panose="03010101010201010101" pitchFamily="66" charset="0"/>
                  </a:rPr>
                  <a:t> </a:t>
                </a:r>
                <a:r>
                  <a:rPr lang="en-GB" sz="2000" dirty="0" err="1">
                    <a:latin typeface="Monotype Corsiva" panose="03010101010201010101" pitchFamily="66" charset="0"/>
                  </a:rPr>
                  <a:t>typiques</a:t>
                </a:r>
                <a:r>
                  <a:rPr lang="en-GB" sz="2000" dirty="0">
                    <a:latin typeface="Monotype Corsiva" panose="03010101010201010101" pitchFamily="66" charset="0"/>
                  </a:rPr>
                  <a:t> </a:t>
                </a:r>
                <a:r>
                  <a:rPr lang="en-GB" sz="2000" dirty="0" err="1">
                    <a:latin typeface="Monotype Corsiva" panose="03010101010201010101" pitchFamily="66" charset="0"/>
                  </a:rPr>
                  <a:t>sont</a:t>
                </a:r>
                <a:r>
                  <a:rPr lang="en-GB" sz="2000" dirty="0">
                    <a:latin typeface="Monotype Corsiva" panose="03010101010201010101" pitchFamily="66" charset="0"/>
                  </a:rPr>
                  <a:t> le Tesseract (hypercube  à </a:t>
                </a:r>
                <a:r>
                  <a:rPr lang="fr-FR" sz="2000" dirty="0">
                    <a:latin typeface="Monotype Corsiva" panose="03010101010201010101" pitchFamily="66" charset="0"/>
                  </a:rPr>
                  <a:t>16 sommets, 32 arêtes, 24 faces planes carrées, 8 faces tridimensionnelles cubiques (cubes)); </a:t>
                </a:r>
                <a:r>
                  <a:rPr lang="en-GB" sz="2000" dirty="0">
                    <a:latin typeface="Monotype Corsiva" panose="03010101010201010101" pitchFamily="66" charset="0"/>
                  </a:rPr>
                  <a:t>et </a:t>
                </a:r>
                <a:r>
                  <a:rPr lang="en-GB" sz="2000" dirty="0" err="1">
                    <a:latin typeface="Monotype Corsiva" panose="03010101010201010101" pitchFamily="66" charset="0"/>
                  </a:rPr>
                  <a:t>l’hypersphère</a:t>
                </a:r>
                <a:r>
                  <a:rPr lang="en-GB" sz="2000" dirty="0">
                    <a:latin typeface="Monotype Corsiva" panose="03010101010201010101" pitchFamily="66" charset="0"/>
                  </a:rPr>
                  <a:t>, </a:t>
                </a:r>
                <a:r>
                  <a:rPr lang="en-GB" sz="2000" dirty="0" err="1">
                    <a:latin typeface="Monotype Corsiva" panose="03010101010201010101" pitchFamily="66" charset="0"/>
                  </a:rPr>
                  <a:t>en</a:t>
                </a:r>
                <a:r>
                  <a:rPr lang="en-GB" sz="2000" dirty="0">
                    <a:latin typeface="Monotype Corsiva" panose="03010101010201010101" pitchFamily="66" charset="0"/>
                  </a:rPr>
                  <a:t> dimension 4. Les animations ci-</a:t>
                </a:r>
                <a:r>
                  <a:rPr lang="en-GB" sz="2000" dirty="0" err="1">
                    <a:latin typeface="Monotype Corsiva" panose="03010101010201010101" pitchFamily="66" charset="0"/>
                  </a:rPr>
                  <a:t>contre</a:t>
                </a:r>
                <a:r>
                  <a:rPr lang="en-GB" sz="2000" dirty="0">
                    <a:latin typeface="Monotype Corsiva" panose="03010101010201010101" pitchFamily="66" charset="0"/>
                  </a:rPr>
                  <a:t> </a:t>
                </a:r>
                <a:r>
                  <a:rPr lang="en-GB" sz="2000" dirty="0" err="1">
                    <a:latin typeface="Monotype Corsiva" panose="03010101010201010101" pitchFamily="66" charset="0"/>
                  </a:rPr>
                  <a:t>aident</a:t>
                </a:r>
                <a:r>
                  <a:rPr lang="en-GB" sz="2000" dirty="0">
                    <a:latin typeface="Monotype Corsiva" panose="03010101010201010101" pitchFamily="66" charset="0"/>
                  </a:rPr>
                  <a:t> à </a:t>
                </a:r>
                <a:r>
                  <a:rPr lang="en-GB" sz="2000" dirty="0" err="1">
                    <a:latin typeface="Monotype Corsiva" panose="03010101010201010101" pitchFamily="66" charset="0"/>
                  </a:rPr>
                  <a:t>mieux</a:t>
                </a:r>
                <a:r>
                  <a:rPr lang="en-GB" sz="2000" dirty="0">
                    <a:latin typeface="Monotype Corsiva" panose="03010101010201010101" pitchFamily="66" charset="0"/>
                  </a:rPr>
                  <a:t> visualiser.</a:t>
                </a:r>
              </a:p>
              <a:p>
                <a:pPr algn="just" fontAlgn="base"/>
                <a:r>
                  <a:rPr lang="en-GB" sz="2000" dirty="0">
                    <a:latin typeface="Monotype Corsiva" panose="03010101010201010101" pitchFamily="66" charset="0"/>
                  </a:rPr>
                  <a:t>	Une </a:t>
                </a:r>
                <a:r>
                  <a:rPr lang="en-GB" sz="2000" dirty="0" err="1">
                    <a:latin typeface="Monotype Corsiva" panose="03010101010201010101" pitchFamily="66" charset="0"/>
                  </a:rPr>
                  <a:t>autre</a:t>
                </a:r>
                <a:r>
                  <a:rPr lang="en-GB" sz="2000" dirty="0">
                    <a:latin typeface="Monotype Corsiva" panose="03010101010201010101" pitchFamily="66" charset="0"/>
                  </a:rPr>
                  <a:t> </a:t>
                </a:r>
                <a:r>
                  <a:rPr lang="fr-FR" sz="2000" dirty="0">
                    <a:latin typeface="Monotype Corsiva" panose="03010101010201010101" pitchFamily="66" charset="0"/>
                  </a:rPr>
                  <a:t>particularité</a:t>
                </a:r>
                <a:r>
                  <a:rPr lang="en-GB" sz="2000" dirty="0">
                    <a:latin typeface="Monotype Corsiva" panose="03010101010201010101" pitchFamily="66" charset="0"/>
                  </a:rPr>
                  <a:t> de la dimension 4 </a:t>
                </a:r>
                <a:r>
                  <a:rPr lang="en-GB" sz="2000" dirty="0" err="1">
                    <a:latin typeface="Monotype Corsiva" panose="03010101010201010101" pitchFamily="66" charset="0"/>
                  </a:rPr>
                  <a:t>est</a:t>
                </a:r>
                <a:r>
                  <a:rPr lang="en-GB" sz="2000" dirty="0">
                    <a:latin typeface="Monotype Corsiva" panose="03010101010201010101" pitchFamily="66" charset="0"/>
                  </a:rPr>
                  <a:t> la </a:t>
                </a:r>
                <a:r>
                  <a:rPr lang="en-GB" sz="2000" dirty="0" err="1">
                    <a:latin typeface="Monotype Corsiva" panose="03010101010201010101" pitchFamily="66" charset="0"/>
                  </a:rPr>
                  <a:t>bouteille</a:t>
                </a:r>
                <a:r>
                  <a:rPr lang="en-GB" sz="2000" dirty="0">
                    <a:latin typeface="Monotype Corsiva" panose="03010101010201010101" pitchFamily="66" charset="0"/>
                  </a:rPr>
                  <a:t> de Klein, qui </a:t>
                </a:r>
                <a:r>
                  <a:rPr lang="en-GB" sz="2000" dirty="0" err="1">
                    <a:latin typeface="Monotype Corsiva" panose="03010101010201010101" pitchFamily="66" charset="0"/>
                  </a:rPr>
                  <a:t>n’a</a:t>
                </a:r>
                <a:r>
                  <a:rPr lang="en-GB" sz="2000" dirty="0">
                    <a:latin typeface="Monotype Corsiva" panose="03010101010201010101" pitchFamily="66" charset="0"/>
                  </a:rPr>
                  <a:t> </a:t>
                </a:r>
                <a:r>
                  <a:rPr lang="en-GB" sz="2000" dirty="0" err="1">
                    <a:latin typeface="Monotype Corsiva" panose="03010101010201010101" pitchFamily="66" charset="0"/>
                  </a:rPr>
                  <a:t>ni</a:t>
                </a:r>
                <a:r>
                  <a:rPr lang="en-GB" sz="2000" dirty="0">
                    <a:latin typeface="Monotype Corsiva" panose="03010101010201010101" pitchFamily="66" charset="0"/>
                  </a:rPr>
                  <a:t> </a:t>
                </a:r>
                <a:r>
                  <a:rPr lang="en-GB" sz="2000" dirty="0" err="1">
                    <a:latin typeface="Monotype Corsiva" panose="03010101010201010101" pitchFamily="66" charset="0"/>
                  </a:rPr>
                  <a:t>intérieur</a:t>
                </a:r>
                <a:r>
                  <a:rPr lang="en-GB" sz="2000" dirty="0">
                    <a:latin typeface="Monotype Corsiva" panose="03010101010201010101" pitchFamily="66" charset="0"/>
                  </a:rPr>
                  <a:t>, </a:t>
                </a:r>
                <a:r>
                  <a:rPr lang="en-GB" sz="2000" dirty="0" err="1">
                    <a:latin typeface="Monotype Corsiva" panose="03010101010201010101" pitchFamily="66" charset="0"/>
                  </a:rPr>
                  <a:t>ni</a:t>
                </a:r>
                <a:r>
                  <a:rPr lang="en-GB" sz="2000" dirty="0">
                    <a:latin typeface="Monotype Corsiva" panose="03010101010201010101" pitchFamily="66" charset="0"/>
                  </a:rPr>
                  <a:t> </a:t>
                </a:r>
                <a:r>
                  <a:rPr lang="en-GB" sz="2000" dirty="0" err="1">
                    <a:latin typeface="Monotype Corsiva" panose="03010101010201010101" pitchFamily="66" charset="0"/>
                  </a:rPr>
                  <a:t>extérieur</a:t>
                </a:r>
                <a:r>
                  <a:rPr lang="en-GB" sz="2000" dirty="0">
                    <a:latin typeface="Monotype Corsiva" panose="03010101010201010101" pitchFamily="66" charset="0"/>
                  </a:rPr>
                  <a:t> et </a:t>
                </a:r>
                <a:r>
                  <a:rPr lang="en-GB" sz="2000" dirty="0" err="1">
                    <a:latin typeface="Monotype Corsiva" panose="03010101010201010101" pitchFamily="66" charset="0"/>
                  </a:rPr>
                  <a:t>dont</a:t>
                </a:r>
                <a:r>
                  <a:rPr lang="en-GB" sz="2000" dirty="0">
                    <a:latin typeface="Monotype Corsiva" panose="03010101010201010101" pitchFamily="66" charset="0"/>
                  </a:rPr>
                  <a:t> un tour </a:t>
                </a:r>
                <a:r>
                  <a:rPr lang="en-GB" sz="2000" dirty="0" err="1">
                    <a:latin typeface="Monotype Corsiva" panose="03010101010201010101" pitchFamily="66" charset="0"/>
                  </a:rPr>
                  <a:t>complet</a:t>
                </a:r>
                <a:r>
                  <a:rPr lang="en-GB" sz="2000" dirty="0">
                    <a:latin typeface="Monotype Corsiva" panose="03010101010201010101" pitchFamily="66" charset="0"/>
                  </a:rPr>
                  <a:t> </a:t>
                </a:r>
                <a:r>
                  <a:rPr lang="en-GB" sz="2000" dirty="0" err="1">
                    <a:latin typeface="Monotype Corsiva" panose="03010101010201010101" pitchFamily="66" charset="0"/>
                  </a:rPr>
                  <a:t>inverserait</a:t>
                </a:r>
                <a:r>
                  <a:rPr lang="en-GB" sz="2000" dirty="0">
                    <a:latin typeface="Monotype Corsiva" panose="03010101010201010101" pitchFamily="66" charset="0"/>
                  </a:rPr>
                  <a:t> la gauche et la droite; </a:t>
                </a:r>
                <a:r>
                  <a:rPr lang="en-GB" sz="2000" dirty="0" err="1">
                    <a:latin typeface="Monotype Corsiva" panose="03010101010201010101" pitchFamily="66" charset="0"/>
                  </a:rPr>
                  <a:t>c’est</a:t>
                </a:r>
                <a:r>
                  <a:rPr lang="en-GB" sz="2000" dirty="0">
                    <a:latin typeface="Monotype Corsiva" panose="03010101010201010101" pitchFamily="66" charset="0"/>
                  </a:rPr>
                  <a:t> </a:t>
                </a:r>
                <a:r>
                  <a:rPr lang="en-GB" sz="2000" dirty="0" err="1">
                    <a:latin typeface="Monotype Corsiva" panose="03010101010201010101" pitchFamily="66" charset="0"/>
                  </a:rPr>
                  <a:t>ce</a:t>
                </a:r>
                <a:r>
                  <a:rPr lang="en-GB" sz="2000" dirty="0">
                    <a:latin typeface="Monotype Corsiva" panose="03010101010201010101" pitchFamily="66" charset="0"/>
                  </a:rPr>
                  <a:t> </a:t>
                </a:r>
                <a:r>
                  <a:rPr lang="en-GB" sz="2000" dirty="0" err="1">
                    <a:latin typeface="Monotype Corsiva" panose="03010101010201010101" pitchFamily="66" charset="0"/>
                  </a:rPr>
                  <a:t>qu’explique</a:t>
                </a:r>
                <a:r>
                  <a:rPr lang="en-GB" sz="2000" dirty="0">
                    <a:latin typeface="Monotype Corsiva" panose="03010101010201010101" pitchFamily="66" charset="0"/>
                  </a:rPr>
                  <a:t> bien </a:t>
                </a:r>
                <a:r>
                  <a:rPr lang="en-GB" sz="2000" dirty="0" err="1">
                    <a:latin typeface="Monotype Corsiva" panose="03010101010201010101" pitchFamily="66" charset="0"/>
                  </a:rPr>
                  <a:t>l’animation</a:t>
                </a:r>
                <a:r>
                  <a:rPr lang="en-GB" sz="2000" dirty="0">
                    <a:latin typeface="Monotype Corsiva" panose="03010101010201010101" pitchFamily="66" charset="0"/>
                  </a:rPr>
                  <a:t> ci-dessous.</a:t>
                </a:r>
              </a:p>
              <a:p>
                <a:pPr algn="just"/>
                <a:endParaRPr lang="en-GB" sz="2000" dirty="0">
                  <a:latin typeface="Monotype Corsiva" panose="03010101010201010101" pitchFamily="66" charset="0"/>
                </a:endParaRPr>
              </a:p>
            </p:txBody>
          </p:sp>
        </mc:Choice>
        <mc:Fallback xmlns="">
          <p:sp>
            <p:nvSpPr>
              <p:cNvPr id="5" name="Espace réservé du contenu 4">
                <a:extLst>
                  <a:ext uri="{FF2B5EF4-FFF2-40B4-BE49-F238E27FC236}">
                    <a16:creationId xmlns:a16="http://schemas.microsoft.com/office/drawing/2014/main" id="{2E444755-263F-4C10-AD35-E6A3FD96E119}"/>
                  </a:ext>
                </a:extLst>
              </p:cNvPr>
              <p:cNvSpPr>
                <a:spLocks noGrp="1" noRot="1" noChangeAspect="1" noMove="1" noResize="1" noEditPoints="1" noAdjustHandles="1" noChangeArrowheads="1" noChangeShapeType="1" noTextEdit="1"/>
              </p:cNvSpPr>
              <p:nvPr>
                <p:ph idx="1"/>
              </p:nvPr>
            </p:nvSpPr>
            <p:spPr>
              <a:xfrm>
                <a:off x="421409" y="611389"/>
                <a:ext cx="5479503" cy="3595456"/>
              </a:xfrm>
              <a:blipFill>
                <a:blip r:embed="rId5"/>
                <a:stretch>
                  <a:fillRect l="-1112" t="-847" r="-1224" b="-2373"/>
                </a:stretch>
              </a:blipFill>
            </p:spPr>
            <p:txBody>
              <a:bodyPr/>
              <a:lstStyle/>
              <a:p>
                <a:r>
                  <a:rPr lang="fr-FR">
                    <a:noFill/>
                  </a:rPr>
                  <a:t> </a:t>
                </a:r>
              </a:p>
            </p:txBody>
          </p:sp>
        </mc:Fallback>
      </mc:AlternateContent>
      <p:pic>
        <p:nvPicPr>
          <p:cNvPr id="12" name="vlc-record-2022-03-07-01h05m07s-La quatrième dimension _3 - Les curiosités de la 4D - Micmaths(360P).mp4-">
            <a:hlinkClick r:id="" action="ppaction://media"/>
            <a:extLst>
              <a:ext uri="{FF2B5EF4-FFF2-40B4-BE49-F238E27FC236}">
                <a16:creationId xmlns:a16="http://schemas.microsoft.com/office/drawing/2014/main" id="{8EEF64B3-81C9-4B46-A574-A02CB35CBF97}"/>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84240" y="4206845"/>
            <a:ext cx="4535117" cy="2551003"/>
          </a:xfrm>
          <a:prstGeom prst="rect">
            <a:avLst/>
          </a:prstGeom>
        </p:spPr>
      </p:pic>
      <p:pic>
        <p:nvPicPr>
          <p:cNvPr id="18" name="Image 17">
            <a:extLst>
              <a:ext uri="{FF2B5EF4-FFF2-40B4-BE49-F238E27FC236}">
                <a16:creationId xmlns:a16="http://schemas.microsoft.com/office/drawing/2014/main" id="{D01ACFA3-9D0F-46FF-B37C-F1506464A213}"/>
              </a:ext>
            </a:extLst>
          </p:cNvPr>
          <p:cNvPicPr>
            <a:picLocks noChangeAspect="1"/>
          </p:cNvPicPr>
          <p:nvPr/>
        </p:nvPicPr>
        <p:blipFill>
          <a:blip r:embed="rId7"/>
          <a:stretch>
            <a:fillRect/>
          </a:stretch>
        </p:blipFill>
        <p:spPr>
          <a:xfrm>
            <a:off x="6019059" y="441621"/>
            <a:ext cx="4225771" cy="1903057"/>
          </a:xfrm>
          <a:prstGeom prst="rect">
            <a:avLst/>
          </a:prstGeom>
        </p:spPr>
      </p:pic>
      <p:pic>
        <p:nvPicPr>
          <p:cNvPr id="20" name="Image 19">
            <a:extLst>
              <a:ext uri="{FF2B5EF4-FFF2-40B4-BE49-F238E27FC236}">
                <a16:creationId xmlns:a16="http://schemas.microsoft.com/office/drawing/2014/main" id="{738875BA-9C9E-476B-999E-B8C39BCF30CF}"/>
              </a:ext>
            </a:extLst>
          </p:cNvPr>
          <p:cNvPicPr>
            <a:picLocks noChangeAspect="1"/>
          </p:cNvPicPr>
          <p:nvPr/>
        </p:nvPicPr>
        <p:blipFill>
          <a:blip r:embed="rId8"/>
          <a:stretch>
            <a:fillRect/>
          </a:stretch>
        </p:blipFill>
        <p:spPr>
          <a:xfrm>
            <a:off x="6089067" y="2820791"/>
            <a:ext cx="1558794" cy="1983920"/>
          </a:xfrm>
          <a:prstGeom prst="rect">
            <a:avLst/>
          </a:prstGeom>
        </p:spPr>
      </p:pic>
      <p:sp>
        <p:nvSpPr>
          <p:cNvPr id="22" name="ZoneTexte 21">
            <a:extLst>
              <a:ext uri="{FF2B5EF4-FFF2-40B4-BE49-F238E27FC236}">
                <a16:creationId xmlns:a16="http://schemas.microsoft.com/office/drawing/2014/main" id="{4C9362B2-C240-4D4C-B5B7-F9A633F7C475}"/>
              </a:ext>
            </a:extLst>
          </p:cNvPr>
          <p:cNvSpPr txBox="1"/>
          <p:nvPr/>
        </p:nvSpPr>
        <p:spPr>
          <a:xfrm>
            <a:off x="7375344" y="2367291"/>
            <a:ext cx="1449060" cy="430887"/>
          </a:xfrm>
          <a:prstGeom prst="rect">
            <a:avLst/>
          </a:prstGeom>
          <a:noFill/>
        </p:spPr>
        <p:txBody>
          <a:bodyPr wrap="square" rtlCol="0">
            <a:spAutoFit/>
          </a:bodyPr>
          <a:lstStyle/>
          <a:p>
            <a:r>
              <a:rPr lang="fr-FR" sz="2200" dirty="0">
                <a:latin typeface="Monotype Corsiva" panose="03010101010201010101" pitchFamily="66" charset="0"/>
              </a:rPr>
              <a:t>Hypercubes</a:t>
            </a:r>
            <a:endParaRPr lang="en-GB" sz="2200" dirty="0">
              <a:latin typeface="Monotype Corsiva" panose="03010101010201010101" pitchFamily="66" charset="0"/>
            </a:endParaRPr>
          </a:p>
        </p:txBody>
      </p:sp>
      <p:sp>
        <p:nvSpPr>
          <p:cNvPr id="23" name="ZoneTexte 22">
            <a:extLst>
              <a:ext uri="{FF2B5EF4-FFF2-40B4-BE49-F238E27FC236}">
                <a16:creationId xmlns:a16="http://schemas.microsoft.com/office/drawing/2014/main" id="{81C8168C-EF68-48E9-B82D-0B485B454C3E}"/>
              </a:ext>
            </a:extLst>
          </p:cNvPr>
          <p:cNvSpPr txBox="1"/>
          <p:nvPr/>
        </p:nvSpPr>
        <p:spPr>
          <a:xfrm>
            <a:off x="5897078" y="5132104"/>
            <a:ext cx="1942771" cy="430888"/>
          </a:xfrm>
          <a:prstGeom prst="rect">
            <a:avLst/>
          </a:prstGeom>
          <a:noFill/>
        </p:spPr>
        <p:txBody>
          <a:bodyPr wrap="square" rtlCol="0">
            <a:spAutoFit/>
          </a:bodyPr>
          <a:lstStyle/>
          <a:p>
            <a:r>
              <a:rPr lang="fr-FR" sz="2200" dirty="0">
                <a:latin typeface="Monotype Corsiva" panose="03010101010201010101" pitchFamily="66" charset="0"/>
              </a:rPr>
              <a:t>Patron Tesseract</a:t>
            </a:r>
            <a:endParaRPr lang="en-GB" sz="2200" dirty="0">
              <a:latin typeface="Monotype Corsiva" panose="03010101010201010101" pitchFamily="66" charset="0"/>
            </a:endParaRPr>
          </a:p>
        </p:txBody>
      </p:sp>
      <p:sp>
        <p:nvSpPr>
          <p:cNvPr id="24" name="ZoneTexte 23">
            <a:extLst>
              <a:ext uri="{FF2B5EF4-FFF2-40B4-BE49-F238E27FC236}">
                <a16:creationId xmlns:a16="http://schemas.microsoft.com/office/drawing/2014/main" id="{76A44413-AD85-4DD3-A887-09D7353C8338}"/>
              </a:ext>
            </a:extLst>
          </p:cNvPr>
          <p:cNvSpPr txBox="1"/>
          <p:nvPr/>
        </p:nvSpPr>
        <p:spPr>
          <a:xfrm>
            <a:off x="9631752" y="5132104"/>
            <a:ext cx="1449060" cy="430887"/>
          </a:xfrm>
          <a:prstGeom prst="rect">
            <a:avLst/>
          </a:prstGeom>
          <a:noFill/>
        </p:spPr>
        <p:txBody>
          <a:bodyPr wrap="square" rtlCol="0">
            <a:spAutoFit/>
          </a:bodyPr>
          <a:lstStyle/>
          <a:p>
            <a:r>
              <a:rPr lang="fr-FR" sz="2200" dirty="0">
                <a:latin typeface="Monotype Corsiva" panose="03010101010201010101" pitchFamily="66" charset="0"/>
              </a:rPr>
              <a:t>Tesseract</a:t>
            </a:r>
            <a:endParaRPr lang="en-GB" sz="2200" dirty="0">
              <a:latin typeface="Monotype Corsiva" panose="03010101010201010101" pitchFamily="66" charset="0"/>
            </a:endParaRPr>
          </a:p>
        </p:txBody>
      </p:sp>
      <p:sp>
        <p:nvSpPr>
          <p:cNvPr id="25" name="Espace réservé du numéro de diapositive 5">
            <a:extLst>
              <a:ext uri="{FF2B5EF4-FFF2-40B4-BE49-F238E27FC236}">
                <a16:creationId xmlns:a16="http://schemas.microsoft.com/office/drawing/2014/main" id="{1E8E48D6-31C2-4338-ACB7-B4F469D3A35E}"/>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24</a:t>
            </a:fld>
            <a:endParaRPr lang="fr-FR" sz="2200" b="1" dirty="0">
              <a:solidFill>
                <a:schemeClr val="tx1"/>
              </a:solidFill>
              <a:latin typeface="Monotype Corsiva" panose="03010101010201010101" pitchFamily="66" charset="0"/>
            </a:endParaRPr>
          </a:p>
        </p:txBody>
      </p:sp>
      <p:sp>
        <p:nvSpPr>
          <p:cNvPr id="13" name="ZoneTexte 12">
            <a:extLst>
              <a:ext uri="{FF2B5EF4-FFF2-40B4-BE49-F238E27FC236}">
                <a16:creationId xmlns:a16="http://schemas.microsoft.com/office/drawing/2014/main" id="{3CFA0D71-4E08-4C4D-952D-65EDD70FC416}"/>
              </a:ext>
            </a:extLst>
          </p:cNvPr>
          <p:cNvSpPr txBox="1"/>
          <p:nvPr/>
        </p:nvSpPr>
        <p:spPr>
          <a:xfrm>
            <a:off x="5428041" y="6320462"/>
            <a:ext cx="2313287" cy="437386"/>
          </a:xfrm>
          <a:prstGeom prst="rect">
            <a:avLst/>
          </a:prstGeom>
          <a:noFill/>
        </p:spPr>
        <p:txBody>
          <a:bodyPr wrap="square" rtlCol="0">
            <a:spAutoFit/>
          </a:bodyPr>
          <a:lstStyle/>
          <a:p>
            <a:r>
              <a:rPr lang="fr-FR" sz="2200" dirty="0">
                <a:latin typeface="Monotype Corsiva" panose="03010101010201010101" pitchFamily="66" charset="0"/>
              </a:rPr>
              <a:t>Bouteille de Klein</a:t>
            </a:r>
          </a:p>
        </p:txBody>
      </p:sp>
    </p:spTree>
    <p:extLst>
      <p:ext uri="{BB962C8B-B14F-4D97-AF65-F5344CB8AC3E}">
        <p14:creationId xmlns:p14="http://schemas.microsoft.com/office/powerpoint/2010/main" val="30137222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91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D1EAE90-B5D4-4FD5-8848-CA08AD69A8D2}"/>
              </a:ext>
            </a:extLst>
          </p:cNvPr>
          <p:cNvSpPr>
            <a:spLocks noGrp="1"/>
          </p:cNvSpPr>
          <p:nvPr>
            <p:ph type="title"/>
          </p:nvPr>
        </p:nvSpPr>
        <p:spPr>
          <a:xfrm>
            <a:off x="1779369" y="-9098"/>
            <a:ext cx="8286092" cy="565447"/>
          </a:xfrm>
        </p:spPr>
        <p:txBody>
          <a:bodyPr>
            <a:normAutofit fontScale="90000"/>
          </a:bodyPr>
          <a:lstStyle/>
          <a:p>
            <a:r>
              <a:rPr lang="fr-FR" dirty="0">
                <a:latin typeface="Monotype Corsiva" panose="03010101010201010101" pitchFamily="66" charset="0"/>
              </a:rPr>
              <a:t>Quelques Géomètres Eminents de l’Histoire</a:t>
            </a:r>
            <a:endParaRPr lang="en-GB" dirty="0">
              <a:latin typeface="Monotype Corsiva" panose="03010101010201010101" pitchFamily="66" charset="0"/>
            </a:endParaRPr>
          </a:p>
        </p:txBody>
      </p:sp>
      <p:sp>
        <p:nvSpPr>
          <p:cNvPr id="10" name="Espace réservé du numéro de diapositive 5">
            <a:extLst>
              <a:ext uri="{FF2B5EF4-FFF2-40B4-BE49-F238E27FC236}">
                <a16:creationId xmlns:a16="http://schemas.microsoft.com/office/drawing/2014/main" id="{D65BFBC0-E57A-4EED-BDAD-DDCC4D164FD0}"/>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25</a:t>
            </a:fld>
            <a:endParaRPr lang="fr-FR" sz="2200" b="1" dirty="0">
              <a:solidFill>
                <a:schemeClr val="tx1"/>
              </a:solidFill>
              <a:latin typeface="Monotype Corsiva" panose="03010101010201010101" pitchFamily="66" charset="0"/>
            </a:endParaRPr>
          </a:p>
        </p:txBody>
      </p:sp>
      <p:pic>
        <p:nvPicPr>
          <p:cNvPr id="3" name="Image 2">
            <a:extLst>
              <a:ext uri="{FF2B5EF4-FFF2-40B4-BE49-F238E27FC236}">
                <a16:creationId xmlns:a16="http://schemas.microsoft.com/office/drawing/2014/main" id="{B521A30C-92FD-4938-8468-09933DAC497E}"/>
              </a:ext>
            </a:extLst>
          </p:cNvPr>
          <p:cNvPicPr>
            <a:picLocks noChangeAspect="1"/>
          </p:cNvPicPr>
          <p:nvPr/>
        </p:nvPicPr>
        <p:blipFill>
          <a:blip r:embed="rId2"/>
          <a:stretch>
            <a:fillRect/>
          </a:stretch>
        </p:blipFill>
        <p:spPr>
          <a:xfrm>
            <a:off x="9300994" y="3821175"/>
            <a:ext cx="2355068" cy="25717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1" name="Image 20">
            <a:extLst>
              <a:ext uri="{FF2B5EF4-FFF2-40B4-BE49-F238E27FC236}">
                <a16:creationId xmlns:a16="http://schemas.microsoft.com/office/drawing/2014/main" id="{7995E6CB-B2EB-4BC9-82FD-16F01AEFB205}"/>
              </a:ext>
            </a:extLst>
          </p:cNvPr>
          <p:cNvPicPr>
            <a:picLocks noChangeAspect="1"/>
          </p:cNvPicPr>
          <p:nvPr/>
        </p:nvPicPr>
        <p:blipFill>
          <a:blip r:embed="rId3"/>
          <a:stretch>
            <a:fillRect/>
          </a:stretch>
        </p:blipFill>
        <p:spPr>
          <a:xfrm>
            <a:off x="353619" y="464152"/>
            <a:ext cx="1782778" cy="2712369"/>
          </a:xfrm>
          <a:prstGeom prst="ellipse">
            <a:avLst/>
          </a:prstGeom>
          <a:ln>
            <a:noFill/>
          </a:ln>
          <a:effectLst>
            <a:softEdge rad="112500"/>
          </a:effectLst>
        </p:spPr>
      </p:pic>
      <p:pic>
        <p:nvPicPr>
          <p:cNvPr id="27" name="Image 26">
            <a:extLst>
              <a:ext uri="{FF2B5EF4-FFF2-40B4-BE49-F238E27FC236}">
                <a16:creationId xmlns:a16="http://schemas.microsoft.com/office/drawing/2014/main" id="{901EC3E2-8D91-420A-A046-9C4A10DB00FF}"/>
              </a:ext>
            </a:extLst>
          </p:cNvPr>
          <p:cNvPicPr>
            <a:picLocks noChangeAspect="1"/>
          </p:cNvPicPr>
          <p:nvPr/>
        </p:nvPicPr>
        <p:blipFill>
          <a:blip r:embed="rId4"/>
          <a:stretch>
            <a:fillRect/>
          </a:stretch>
        </p:blipFill>
        <p:spPr>
          <a:xfrm>
            <a:off x="2777796" y="4187880"/>
            <a:ext cx="2486025" cy="1838325"/>
          </a:xfrm>
          <a:prstGeom prst="rect">
            <a:avLst/>
          </a:prstGeom>
          <a:ln>
            <a:noFill/>
          </a:ln>
          <a:effectLst>
            <a:softEdge rad="112500"/>
          </a:effectLst>
        </p:spPr>
      </p:pic>
      <p:pic>
        <p:nvPicPr>
          <p:cNvPr id="29" name="Image 28">
            <a:extLst>
              <a:ext uri="{FF2B5EF4-FFF2-40B4-BE49-F238E27FC236}">
                <a16:creationId xmlns:a16="http://schemas.microsoft.com/office/drawing/2014/main" id="{B90C23E7-33D8-4987-8B6B-DA53F4A57662}"/>
              </a:ext>
            </a:extLst>
          </p:cNvPr>
          <p:cNvPicPr>
            <a:picLocks noChangeAspect="1"/>
          </p:cNvPicPr>
          <p:nvPr/>
        </p:nvPicPr>
        <p:blipFill>
          <a:blip r:embed="rId5"/>
          <a:stretch>
            <a:fillRect/>
          </a:stretch>
        </p:blipFill>
        <p:spPr>
          <a:xfrm>
            <a:off x="2794328" y="556349"/>
            <a:ext cx="2363236" cy="2749534"/>
          </a:xfrm>
          <a:prstGeom prst="ellipse">
            <a:avLst/>
          </a:prstGeom>
          <a:ln>
            <a:noFill/>
          </a:ln>
          <a:effectLst>
            <a:softEdge rad="112500"/>
          </a:effectLst>
        </p:spPr>
      </p:pic>
      <p:pic>
        <p:nvPicPr>
          <p:cNvPr id="31" name="Image 30">
            <a:extLst>
              <a:ext uri="{FF2B5EF4-FFF2-40B4-BE49-F238E27FC236}">
                <a16:creationId xmlns:a16="http://schemas.microsoft.com/office/drawing/2014/main" id="{D4A1E3DC-5954-4B53-A05A-490FB78495F7}"/>
              </a:ext>
            </a:extLst>
          </p:cNvPr>
          <p:cNvPicPr>
            <a:picLocks noChangeAspect="1"/>
          </p:cNvPicPr>
          <p:nvPr/>
        </p:nvPicPr>
        <p:blipFill>
          <a:blip r:embed="rId6"/>
          <a:stretch>
            <a:fillRect/>
          </a:stretch>
        </p:blipFill>
        <p:spPr>
          <a:xfrm>
            <a:off x="5922415" y="556349"/>
            <a:ext cx="2363236" cy="2810645"/>
          </a:xfrm>
          <a:prstGeom prst="ellipse">
            <a:avLst/>
          </a:prstGeom>
          <a:ln>
            <a:noFill/>
          </a:ln>
          <a:effectLst>
            <a:softEdge rad="112500"/>
          </a:effectLst>
        </p:spPr>
      </p:pic>
      <p:pic>
        <p:nvPicPr>
          <p:cNvPr id="32" name="Image 31">
            <a:extLst>
              <a:ext uri="{FF2B5EF4-FFF2-40B4-BE49-F238E27FC236}">
                <a16:creationId xmlns:a16="http://schemas.microsoft.com/office/drawing/2014/main" id="{C5A12A96-60B7-4D68-BC2D-B4D991879B29}"/>
              </a:ext>
            </a:extLst>
          </p:cNvPr>
          <p:cNvPicPr>
            <a:picLocks noChangeAspect="1"/>
          </p:cNvPicPr>
          <p:nvPr/>
        </p:nvPicPr>
        <p:blipFill>
          <a:blip r:embed="rId7"/>
          <a:stretch>
            <a:fillRect/>
          </a:stretch>
        </p:blipFill>
        <p:spPr>
          <a:xfrm>
            <a:off x="6254002" y="3817280"/>
            <a:ext cx="1885950" cy="2428875"/>
          </a:xfrm>
          <a:prstGeom prst="rect">
            <a:avLst/>
          </a:prstGeom>
          <a:ln>
            <a:noFill/>
          </a:ln>
          <a:effectLst>
            <a:softEdge rad="112500"/>
          </a:effectLst>
        </p:spPr>
      </p:pic>
      <p:pic>
        <p:nvPicPr>
          <p:cNvPr id="34" name="Image 33">
            <a:extLst>
              <a:ext uri="{FF2B5EF4-FFF2-40B4-BE49-F238E27FC236}">
                <a16:creationId xmlns:a16="http://schemas.microsoft.com/office/drawing/2014/main" id="{F686CC2C-74FB-422A-AE28-2F72D825336D}"/>
              </a:ext>
            </a:extLst>
          </p:cNvPr>
          <p:cNvPicPr>
            <a:picLocks noChangeAspect="1"/>
          </p:cNvPicPr>
          <p:nvPr/>
        </p:nvPicPr>
        <p:blipFill>
          <a:blip r:embed="rId8"/>
          <a:stretch>
            <a:fillRect/>
          </a:stretch>
        </p:blipFill>
        <p:spPr>
          <a:xfrm>
            <a:off x="133460" y="3834165"/>
            <a:ext cx="2002937" cy="2592412"/>
          </a:xfrm>
          <a:prstGeom prst="rect">
            <a:avLst/>
          </a:prstGeom>
          <a:ln>
            <a:noFill/>
          </a:ln>
          <a:effectLst>
            <a:softEdge rad="112500"/>
          </a:effectLst>
        </p:spPr>
      </p:pic>
      <p:pic>
        <p:nvPicPr>
          <p:cNvPr id="38" name="Image 37">
            <a:extLst>
              <a:ext uri="{FF2B5EF4-FFF2-40B4-BE49-F238E27FC236}">
                <a16:creationId xmlns:a16="http://schemas.microsoft.com/office/drawing/2014/main" id="{484E8C14-8A3D-4CEF-A041-86ED3C3BDEE8}"/>
              </a:ext>
            </a:extLst>
          </p:cNvPr>
          <p:cNvPicPr>
            <a:picLocks noChangeAspect="1"/>
          </p:cNvPicPr>
          <p:nvPr/>
        </p:nvPicPr>
        <p:blipFill>
          <a:blip r:embed="rId9"/>
          <a:stretch>
            <a:fillRect/>
          </a:stretch>
        </p:blipFill>
        <p:spPr>
          <a:xfrm>
            <a:off x="9484882" y="742159"/>
            <a:ext cx="1987293" cy="2526559"/>
          </a:xfrm>
          <a:prstGeom prst="ellipse">
            <a:avLst/>
          </a:prstGeom>
          <a:ln>
            <a:noFill/>
          </a:ln>
          <a:effectLst>
            <a:softEdge rad="112500"/>
          </a:effectLst>
        </p:spPr>
      </p:pic>
      <p:sp>
        <p:nvSpPr>
          <p:cNvPr id="41" name="ZoneTexte 40">
            <a:extLst>
              <a:ext uri="{FF2B5EF4-FFF2-40B4-BE49-F238E27FC236}">
                <a16:creationId xmlns:a16="http://schemas.microsoft.com/office/drawing/2014/main" id="{7D6585AA-540F-4953-85B7-1355E4BFD708}"/>
              </a:ext>
            </a:extLst>
          </p:cNvPr>
          <p:cNvSpPr txBox="1"/>
          <p:nvPr/>
        </p:nvSpPr>
        <p:spPr>
          <a:xfrm>
            <a:off x="3448414" y="3346771"/>
            <a:ext cx="1782778" cy="400110"/>
          </a:xfrm>
          <a:prstGeom prst="rect">
            <a:avLst/>
          </a:prstGeom>
          <a:noFill/>
        </p:spPr>
        <p:txBody>
          <a:bodyPr wrap="square" rtlCol="0">
            <a:spAutoFit/>
          </a:bodyPr>
          <a:lstStyle/>
          <a:p>
            <a:r>
              <a:rPr lang="fr-FR" sz="2000" dirty="0">
                <a:latin typeface="Monotype Corsiva" panose="03010101010201010101" pitchFamily="66" charset="0"/>
              </a:rPr>
              <a:t>Pythagore</a:t>
            </a:r>
          </a:p>
        </p:txBody>
      </p:sp>
      <p:sp>
        <p:nvSpPr>
          <p:cNvPr id="42" name="ZoneTexte 41">
            <a:extLst>
              <a:ext uri="{FF2B5EF4-FFF2-40B4-BE49-F238E27FC236}">
                <a16:creationId xmlns:a16="http://schemas.microsoft.com/office/drawing/2014/main" id="{1DDC543B-FEB4-4741-BEFF-F605963C9EC4}"/>
              </a:ext>
            </a:extLst>
          </p:cNvPr>
          <p:cNvSpPr txBox="1"/>
          <p:nvPr/>
        </p:nvSpPr>
        <p:spPr>
          <a:xfrm>
            <a:off x="428636" y="3346771"/>
            <a:ext cx="1782778" cy="400110"/>
          </a:xfrm>
          <a:prstGeom prst="rect">
            <a:avLst/>
          </a:prstGeom>
          <a:noFill/>
        </p:spPr>
        <p:txBody>
          <a:bodyPr wrap="square" rtlCol="0">
            <a:spAutoFit/>
          </a:bodyPr>
          <a:lstStyle/>
          <a:p>
            <a:r>
              <a:rPr lang="fr-FR" sz="2000" dirty="0">
                <a:latin typeface="Monotype Corsiva" panose="03010101010201010101" pitchFamily="66" charset="0"/>
              </a:rPr>
              <a:t>Thalès de Millet</a:t>
            </a:r>
          </a:p>
        </p:txBody>
      </p:sp>
      <p:sp>
        <p:nvSpPr>
          <p:cNvPr id="43" name="ZoneTexte 42">
            <a:extLst>
              <a:ext uri="{FF2B5EF4-FFF2-40B4-BE49-F238E27FC236}">
                <a16:creationId xmlns:a16="http://schemas.microsoft.com/office/drawing/2014/main" id="{D38203B5-90E8-4D7B-BB75-5FA2B2A5E98D}"/>
              </a:ext>
            </a:extLst>
          </p:cNvPr>
          <p:cNvSpPr txBox="1"/>
          <p:nvPr/>
        </p:nvSpPr>
        <p:spPr>
          <a:xfrm>
            <a:off x="6762626" y="3392082"/>
            <a:ext cx="1002652" cy="400110"/>
          </a:xfrm>
          <a:prstGeom prst="rect">
            <a:avLst/>
          </a:prstGeom>
          <a:noFill/>
        </p:spPr>
        <p:txBody>
          <a:bodyPr wrap="square" rtlCol="0">
            <a:spAutoFit/>
          </a:bodyPr>
          <a:lstStyle/>
          <a:p>
            <a:r>
              <a:rPr lang="fr-FR" sz="2000" dirty="0">
                <a:latin typeface="Monotype Corsiva" panose="03010101010201010101" pitchFamily="66" charset="0"/>
              </a:rPr>
              <a:t>Euclide</a:t>
            </a:r>
          </a:p>
        </p:txBody>
      </p:sp>
      <p:sp>
        <p:nvSpPr>
          <p:cNvPr id="44" name="ZoneTexte 43">
            <a:extLst>
              <a:ext uri="{FF2B5EF4-FFF2-40B4-BE49-F238E27FC236}">
                <a16:creationId xmlns:a16="http://schemas.microsoft.com/office/drawing/2014/main" id="{2EB4EB0F-5AB7-453C-AF9A-EFC0DA7E3559}"/>
              </a:ext>
            </a:extLst>
          </p:cNvPr>
          <p:cNvSpPr txBox="1"/>
          <p:nvPr/>
        </p:nvSpPr>
        <p:spPr>
          <a:xfrm>
            <a:off x="9901830" y="3389228"/>
            <a:ext cx="1290592" cy="400110"/>
          </a:xfrm>
          <a:prstGeom prst="rect">
            <a:avLst/>
          </a:prstGeom>
          <a:noFill/>
        </p:spPr>
        <p:txBody>
          <a:bodyPr wrap="square" rtlCol="0">
            <a:spAutoFit/>
          </a:bodyPr>
          <a:lstStyle/>
          <a:p>
            <a:r>
              <a:rPr lang="fr-FR" sz="2000" dirty="0">
                <a:latin typeface="Monotype Corsiva" panose="03010101010201010101" pitchFamily="66" charset="0"/>
              </a:rPr>
              <a:t>Archimède</a:t>
            </a:r>
          </a:p>
        </p:txBody>
      </p:sp>
      <p:sp>
        <p:nvSpPr>
          <p:cNvPr id="45" name="ZoneTexte 44">
            <a:extLst>
              <a:ext uri="{FF2B5EF4-FFF2-40B4-BE49-F238E27FC236}">
                <a16:creationId xmlns:a16="http://schemas.microsoft.com/office/drawing/2014/main" id="{C8896D10-EBAF-4A1B-A613-3E54C932C766}"/>
              </a:ext>
            </a:extLst>
          </p:cNvPr>
          <p:cNvSpPr txBox="1"/>
          <p:nvPr/>
        </p:nvSpPr>
        <p:spPr>
          <a:xfrm>
            <a:off x="453954" y="6392909"/>
            <a:ext cx="1782778" cy="400110"/>
          </a:xfrm>
          <a:prstGeom prst="rect">
            <a:avLst/>
          </a:prstGeom>
          <a:noFill/>
        </p:spPr>
        <p:txBody>
          <a:bodyPr wrap="square" rtlCol="0">
            <a:spAutoFit/>
          </a:bodyPr>
          <a:lstStyle/>
          <a:p>
            <a:r>
              <a:rPr lang="fr-FR" sz="2000" dirty="0">
                <a:latin typeface="Monotype Corsiva" panose="03010101010201010101" pitchFamily="66" charset="0"/>
              </a:rPr>
              <a:t>Isaac Newton</a:t>
            </a:r>
          </a:p>
        </p:txBody>
      </p:sp>
      <p:sp>
        <p:nvSpPr>
          <p:cNvPr id="46" name="ZoneTexte 45">
            <a:extLst>
              <a:ext uri="{FF2B5EF4-FFF2-40B4-BE49-F238E27FC236}">
                <a16:creationId xmlns:a16="http://schemas.microsoft.com/office/drawing/2014/main" id="{82CAFB08-2A50-4205-B89C-82984E5FF098}"/>
              </a:ext>
            </a:extLst>
          </p:cNvPr>
          <p:cNvSpPr txBox="1"/>
          <p:nvPr/>
        </p:nvSpPr>
        <p:spPr>
          <a:xfrm>
            <a:off x="3259380" y="6384550"/>
            <a:ext cx="1782778" cy="400110"/>
          </a:xfrm>
          <a:prstGeom prst="rect">
            <a:avLst/>
          </a:prstGeom>
          <a:noFill/>
        </p:spPr>
        <p:txBody>
          <a:bodyPr wrap="square" rtlCol="0">
            <a:spAutoFit/>
          </a:bodyPr>
          <a:lstStyle/>
          <a:p>
            <a:r>
              <a:rPr lang="fr-FR" sz="2000" dirty="0">
                <a:latin typeface="Monotype Corsiva" panose="03010101010201010101" pitchFamily="66" charset="0"/>
              </a:rPr>
              <a:t>Leonard Euler</a:t>
            </a:r>
          </a:p>
        </p:txBody>
      </p:sp>
      <p:sp>
        <p:nvSpPr>
          <p:cNvPr id="47" name="ZoneTexte 46">
            <a:extLst>
              <a:ext uri="{FF2B5EF4-FFF2-40B4-BE49-F238E27FC236}">
                <a16:creationId xmlns:a16="http://schemas.microsoft.com/office/drawing/2014/main" id="{ECAA8358-0EB4-406F-B1F3-EE52753258CA}"/>
              </a:ext>
            </a:extLst>
          </p:cNvPr>
          <p:cNvSpPr txBox="1"/>
          <p:nvPr/>
        </p:nvSpPr>
        <p:spPr>
          <a:xfrm>
            <a:off x="6165141" y="6392909"/>
            <a:ext cx="2197623" cy="407893"/>
          </a:xfrm>
          <a:prstGeom prst="rect">
            <a:avLst/>
          </a:prstGeom>
          <a:noFill/>
        </p:spPr>
        <p:txBody>
          <a:bodyPr wrap="square" rtlCol="0">
            <a:spAutoFit/>
          </a:bodyPr>
          <a:lstStyle/>
          <a:p>
            <a:r>
              <a:rPr lang="fr-FR" sz="2000" dirty="0">
                <a:latin typeface="Monotype Corsiva" panose="03010101010201010101" pitchFamily="66" charset="0"/>
              </a:rPr>
              <a:t>Carl Friedrich Gauss</a:t>
            </a:r>
          </a:p>
        </p:txBody>
      </p:sp>
      <p:sp>
        <p:nvSpPr>
          <p:cNvPr id="48" name="ZoneTexte 47">
            <a:extLst>
              <a:ext uri="{FF2B5EF4-FFF2-40B4-BE49-F238E27FC236}">
                <a16:creationId xmlns:a16="http://schemas.microsoft.com/office/drawing/2014/main" id="{215F5336-2084-462E-BD50-B39CDBAE4853}"/>
              </a:ext>
            </a:extLst>
          </p:cNvPr>
          <p:cNvSpPr txBox="1"/>
          <p:nvPr/>
        </p:nvSpPr>
        <p:spPr>
          <a:xfrm>
            <a:off x="9655737" y="6425428"/>
            <a:ext cx="1782778" cy="400110"/>
          </a:xfrm>
          <a:prstGeom prst="rect">
            <a:avLst/>
          </a:prstGeom>
          <a:noFill/>
        </p:spPr>
        <p:txBody>
          <a:bodyPr wrap="square" rtlCol="0">
            <a:spAutoFit/>
          </a:bodyPr>
          <a:lstStyle/>
          <a:p>
            <a:r>
              <a:rPr lang="fr-FR" sz="2000" dirty="0">
                <a:latin typeface="Monotype Corsiva" panose="03010101010201010101" pitchFamily="66" charset="0"/>
              </a:rPr>
              <a:t>Bernard Riemann</a:t>
            </a:r>
          </a:p>
        </p:txBody>
      </p:sp>
    </p:spTree>
    <p:extLst>
      <p:ext uri="{BB962C8B-B14F-4D97-AF65-F5344CB8AC3E}">
        <p14:creationId xmlns:p14="http://schemas.microsoft.com/office/powerpoint/2010/main" val="16315856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103D57-B79D-47C2-BAC0-0BCB26165394}"/>
              </a:ext>
            </a:extLst>
          </p:cNvPr>
          <p:cNvSpPr>
            <a:spLocks noGrp="1"/>
          </p:cNvSpPr>
          <p:nvPr>
            <p:ph type="title"/>
          </p:nvPr>
        </p:nvSpPr>
        <p:spPr>
          <a:xfrm>
            <a:off x="1354377" y="1048009"/>
            <a:ext cx="3236976" cy="4069080"/>
          </a:xfrm>
        </p:spPr>
        <p:txBody>
          <a:bodyPr/>
          <a:lstStyle/>
          <a:p>
            <a:r>
              <a:rPr lang="fr-FR" dirty="0">
                <a:latin typeface="Monotype Corsiva" panose="03010101010201010101" pitchFamily="66" charset="0"/>
              </a:rPr>
              <a:t>Conclusion</a:t>
            </a:r>
          </a:p>
        </p:txBody>
      </p:sp>
      <p:sp>
        <p:nvSpPr>
          <p:cNvPr id="6" name="Espace réservé du contenu 5">
            <a:extLst>
              <a:ext uri="{FF2B5EF4-FFF2-40B4-BE49-F238E27FC236}">
                <a16:creationId xmlns:a16="http://schemas.microsoft.com/office/drawing/2014/main" id="{191E514B-98C5-43D2-9FA3-47E1DB122D9A}"/>
              </a:ext>
            </a:extLst>
          </p:cNvPr>
          <p:cNvSpPr>
            <a:spLocks noGrp="1"/>
          </p:cNvSpPr>
          <p:nvPr>
            <p:ph idx="1"/>
          </p:nvPr>
        </p:nvSpPr>
        <p:spPr>
          <a:xfrm>
            <a:off x="5367221" y="663352"/>
            <a:ext cx="6670765" cy="6048167"/>
          </a:xfrm>
        </p:spPr>
        <p:txBody>
          <a:bodyPr>
            <a:normAutofit fontScale="92500" lnSpcReduction="20000"/>
          </a:bodyPr>
          <a:lstStyle/>
          <a:p>
            <a:pPr algn="just">
              <a:lnSpc>
                <a:spcPct val="110000"/>
              </a:lnSpc>
            </a:pPr>
            <a:r>
              <a:rPr lang="fr-FR" dirty="0">
                <a:latin typeface="Monotype Corsiva" panose="03010101010201010101" pitchFamily="66" charset="0"/>
              </a:rPr>
              <a:t>	Au terme de cet exposé, rappelons qu’il visait à présenter les origines et à retracer le développement de la géométrie, ainsi qu’à expliquer son rôle et son utilité dans la société .Nous avons ainsi pu constater que la géométrie présente déjà des traces d’existence dans l’Antiquité, notamment chez les peuples de l’Égypte Antique. Mais la première formalisation de la géométrie en tant que science mathématique n’intervient qu’avec la civilisation grecque grâce au mathématicien EUCLIDE qui a posé les bases axiomatiques de la géométrie. Il ouvre ainsi la voie à l’évolution de la géométrie en tant que discipline rigoureuse. Le développement de la géométrie au cours des siècles et époques donnera naissance à de nouvelles branches (géométrie projective, géométrie euclidienne, géométrie différentielle…). Au </a:t>
            </a:r>
            <a:r>
              <a:rPr lang="fr-FR" dirty="0" err="1">
                <a:latin typeface="Monotype Corsiva" panose="03010101010201010101" pitchFamily="66" charset="0"/>
              </a:rPr>
              <a:t>XXè</a:t>
            </a:r>
            <a:r>
              <a:rPr lang="fr-FR" dirty="0">
                <a:latin typeface="Monotype Corsiva" panose="03010101010201010101" pitchFamily="66" charset="0"/>
              </a:rPr>
              <a:t> siècle, Felix Klein trouve un critère permettant de définir et classifier toutes les géométries. De plus, la géométrie présente de nombreuses applications, en particulier dans l’ingénierie (informatique ,architecture ,astronomie ,mécanique). Elle se présente ainsi comme une science indispensable dans la formation scientifique des élèves et elle est très utile au développement du monde.</a:t>
            </a:r>
          </a:p>
          <a:p>
            <a:pPr>
              <a:lnSpc>
                <a:spcPct val="110000"/>
              </a:lnSpc>
            </a:pPr>
            <a:endParaRPr lang="fr-FR" dirty="0">
              <a:latin typeface="Monotype Corsiva" panose="03010101010201010101" pitchFamily="66" charset="0"/>
            </a:endParaRPr>
          </a:p>
        </p:txBody>
      </p:sp>
      <p:sp>
        <p:nvSpPr>
          <p:cNvPr id="9" name="Espace réservé du numéro de diapositive 5">
            <a:extLst>
              <a:ext uri="{FF2B5EF4-FFF2-40B4-BE49-F238E27FC236}">
                <a16:creationId xmlns:a16="http://schemas.microsoft.com/office/drawing/2014/main" id="{B42E621C-ECA3-4F46-9A9A-3F5366697691}"/>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26</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3205726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9706C9-F26D-46CA-93BF-8C27012F6B12}"/>
              </a:ext>
            </a:extLst>
          </p:cNvPr>
          <p:cNvSpPr>
            <a:spLocks noGrp="1"/>
          </p:cNvSpPr>
          <p:nvPr>
            <p:ph type="title"/>
          </p:nvPr>
        </p:nvSpPr>
        <p:spPr>
          <a:xfrm>
            <a:off x="1416521" y="1056887"/>
            <a:ext cx="2977926" cy="4296348"/>
          </a:xfrm>
        </p:spPr>
        <p:txBody>
          <a:bodyPr rtlCol="0"/>
          <a:lstStyle/>
          <a:p>
            <a:pPr rtl="0"/>
            <a:r>
              <a:rPr lang="fr-FR" dirty="0">
                <a:latin typeface="Monotype Corsiva" panose="03010101010201010101" pitchFamily="66" charset="0"/>
              </a:rPr>
              <a:t>Merci de votre Attention !</a:t>
            </a:r>
          </a:p>
        </p:txBody>
      </p:sp>
      <p:sp>
        <p:nvSpPr>
          <p:cNvPr id="3" name="Espace réservé du contenu 2">
            <a:extLst>
              <a:ext uri="{FF2B5EF4-FFF2-40B4-BE49-F238E27FC236}">
                <a16:creationId xmlns:a16="http://schemas.microsoft.com/office/drawing/2014/main" id="{21F0B6E0-1F7C-4E6A-87B1-554ADE739CD1}"/>
              </a:ext>
            </a:extLst>
          </p:cNvPr>
          <p:cNvSpPr>
            <a:spLocks noGrp="1"/>
          </p:cNvSpPr>
          <p:nvPr>
            <p:ph idx="1"/>
          </p:nvPr>
        </p:nvSpPr>
        <p:spPr>
          <a:xfrm>
            <a:off x="6419089" y="559294"/>
            <a:ext cx="2977926" cy="5273336"/>
          </a:xfrm>
        </p:spPr>
        <p:txBody>
          <a:bodyPr rtlCol="0">
            <a:normAutofit lnSpcReduction="10000"/>
          </a:bodyPr>
          <a:lstStyle/>
          <a:p>
            <a:pPr rtl="0"/>
            <a:r>
              <a:rPr lang="fr-FR" sz="2800" b="1" dirty="0">
                <a:latin typeface="Monotype Corsiva" panose="03010101010201010101" pitchFamily="66" charset="0"/>
              </a:rPr>
              <a:t>    Bibliographie</a:t>
            </a:r>
          </a:p>
          <a:p>
            <a:pPr marL="285750" indent="-285750" rtl="0">
              <a:buFont typeface="Arial" panose="020B0604020202020204" pitchFamily="34" charset="0"/>
              <a:buChar char="•"/>
            </a:pPr>
            <a:r>
              <a:rPr lang="fr-FR" dirty="0">
                <a:latin typeface="Monotype Corsiva" panose="03010101010201010101" pitchFamily="66" charset="0"/>
              </a:rPr>
              <a:t>fr.wikipédia.org,</a:t>
            </a:r>
          </a:p>
          <a:p>
            <a:pPr marL="285750" indent="-285750" rtl="0">
              <a:buFont typeface="Arial" panose="020B0604020202020204" pitchFamily="34" charset="0"/>
              <a:buChar char="•"/>
            </a:pPr>
            <a:r>
              <a:rPr lang="en-GB" dirty="0">
                <a:latin typeface="Monotype Corsiva" panose="03010101010201010101" pitchFamily="66" charset="0"/>
              </a:rPr>
              <a:t>geo.fr,</a:t>
            </a:r>
          </a:p>
          <a:p>
            <a:pPr marL="285750" indent="-285750" rtl="0">
              <a:buFont typeface="Arial" panose="020B0604020202020204" pitchFamily="34" charset="0"/>
              <a:buChar char="•"/>
            </a:pPr>
            <a:r>
              <a:rPr lang="en-GB" dirty="0">
                <a:latin typeface="Monotype Corsiva" panose="03010101010201010101" pitchFamily="66" charset="0"/>
              </a:rPr>
              <a:t>dailygeekshow.com, </a:t>
            </a:r>
          </a:p>
          <a:p>
            <a:pPr marL="285750" indent="-285750" rtl="0">
              <a:buFont typeface="Arial" panose="020B0604020202020204" pitchFamily="34" charset="0"/>
              <a:buChar char="•"/>
            </a:pPr>
            <a:r>
              <a:rPr lang="en-GB" dirty="0">
                <a:latin typeface="Monotype Corsiva" panose="03010101010201010101" pitchFamily="66" charset="0"/>
              </a:rPr>
              <a:t>portailconstructo.com, </a:t>
            </a:r>
          </a:p>
          <a:p>
            <a:pPr marL="285750" indent="-285750" rtl="0">
              <a:buFont typeface="Arial" panose="020B0604020202020204" pitchFamily="34" charset="0"/>
              <a:buChar char="•"/>
            </a:pPr>
            <a:r>
              <a:rPr lang="en-GB" dirty="0">
                <a:latin typeface="Monotype Corsiva" panose="03010101010201010101" pitchFamily="66" charset="0"/>
              </a:rPr>
              <a:t>unrealengine.com, </a:t>
            </a:r>
          </a:p>
          <a:p>
            <a:pPr marL="285750" indent="-285750" rtl="0">
              <a:buFont typeface="Arial" panose="020B0604020202020204" pitchFamily="34" charset="0"/>
              <a:buChar char="•"/>
            </a:pPr>
            <a:r>
              <a:rPr lang="en-GB" dirty="0">
                <a:latin typeface="Monotype Corsiva" panose="03010101010201010101" pitchFamily="66" charset="0"/>
              </a:rPr>
              <a:t>escadrone.com, </a:t>
            </a:r>
          </a:p>
          <a:p>
            <a:pPr marL="285750" indent="-285750" rtl="0">
              <a:buFont typeface="Arial" panose="020B0604020202020204" pitchFamily="34" charset="0"/>
              <a:buChar char="•"/>
            </a:pPr>
            <a:r>
              <a:rPr lang="en-GB" dirty="0">
                <a:latin typeface="Monotype Corsiva" panose="03010101010201010101" pitchFamily="66" charset="0"/>
              </a:rPr>
              <a:t>eclipse2024.org, </a:t>
            </a:r>
          </a:p>
          <a:p>
            <a:pPr marL="285750" indent="-285750" rtl="0">
              <a:buFont typeface="Arial" panose="020B0604020202020204" pitchFamily="34" charset="0"/>
              <a:buChar char="•"/>
            </a:pPr>
            <a:r>
              <a:rPr lang="en-GB" dirty="0">
                <a:latin typeface="Monotype Corsiva" panose="03010101010201010101" pitchFamily="66" charset="0"/>
              </a:rPr>
              <a:t>science-et-vie.com, </a:t>
            </a:r>
          </a:p>
          <a:p>
            <a:pPr marL="285750" indent="-285750" rtl="0">
              <a:buFont typeface="Arial" panose="020B0604020202020204" pitchFamily="34" charset="0"/>
              <a:buChar char="•"/>
            </a:pPr>
            <a:r>
              <a:rPr lang="en-GB" dirty="0">
                <a:latin typeface="Monotype Corsiva" panose="03010101010201010101" pitchFamily="66" charset="0"/>
              </a:rPr>
              <a:t>pdfprof.com</a:t>
            </a:r>
          </a:p>
          <a:p>
            <a:pPr marL="285750" indent="-285750" rtl="0">
              <a:buFont typeface="Arial" panose="020B0604020202020204" pitchFamily="34" charset="0"/>
              <a:buChar char="•"/>
            </a:pPr>
            <a:r>
              <a:rPr lang="fr-FR" dirty="0">
                <a:latin typeface="Monotype Corsiva" panose="03010101010201010101" pitchFamily="66" charset="0"/>
              </a:rPr>
              <a:t>uel.unisciel.fr</a:t>
            </a:r>
          </a:p>
          <a:p>
            <a:pPr marL="285750" indent="-285750" rtl="0">
              <a:buFont typeface="Arial" panose="020B0604020202020204" pitchFamily="34" charset="0"/>
              <a:buChar char="•"/>
            </a:pPr>
            <a:r>
              <a:rPr lang="en-GB" dirty="0">
                <a:latin typeface="Monotype Corsiva" panose="03010101010201010101" pitchFamily="66" charset="0"/>
              </a:rPr>
              <a:t>www.superprof.fr</a:t>
            </a:r>
            <a:endParaRPr lang="fr-FR" sz="1800" dirty="0"/>
          </a:p>
          <a:p>
            <a:pPr marL="285750" indent="-285750" rtl="0">
              <a:buFont typeface="Arial" panose="020B0604020202020204" pitchFamily="34" charset="0"/>
              <a:buChar char="•"/>
            </a:pPr>
            <a:endParaRPr lang="fr-FR" sz="1800" dirty="0"/>
          </a:p>
          <a:p>
            <a:pPr rtl="0"/>
            <a:endParaRPr lang="fr-FR" dirty="0"/>
          </a:p>
        </p:txBody>
      </p:sp>
      <p:pic>
        <p:nvPicPr>
          <p:cNvPr id="8" name="Image 7">
            <a:extLst>
              <a:ext uri="{FF2B5EF4-FFF2-40B4-BE49-F238E27FC236}">
                <a16:creationId xmlns:a16="http://schemas.microsoft.com/office/drawing/2014/main" id="{5D8FDFA5-3285-4C84-BE93-129E43DF4A19}"/>
              </a:ext>
            </a:extLst>
          </p:cNvPr>
          <p:cNvPicPr>
            <a:picLocks noChangeAspect="1"/>
          </p:cNvPicPr>
          <p:nvPr/>
        </p:nvPicPr>
        <p:blipFill>
          <a:blip r:embed="rId3"/>
          <a:stretch>
            <a:fillRect/>
          </a:stretch>
        </p:blipFill>
        <p:spPr>
          <a:xfrm>
            <a:off x="10017652" y="1606859"/>
            <a:ext cx="1990725" cy="2295525"/>
          </a:xfrm>
          <a:prstGeom prst="rect">
            <a:avLst/>
          </a:prstGeom>
        </p:spPr>
      </p:pic>
      <p:sp>
        <p:nvSpPr>
          <p:cNvPr id="10" name="Espace réservé du numéro de diapositive 5">
            <a:extLst>
              <a:ext uri="{FF2B5EF4-FFF2-40B4-BE49-F238E27FC236}">
                <a16:creationId xmlns:a16="http://schemas.microsoft.com/office/drawing/2014/main" id="{28C2A57D-DC32-49E2-8F7A-EC259B6ADBF1}"/>
              </a:ext>
            </a:extLst>
          </p:cNvPr>
          <p:cNvSpPr txBox="1">
            <a:spLocks/>
          </p:cNvSpPr>
          <p:nvPr/>
        </p:nvSpPr>
        <p:spPr>
          <a:xfrm>
            <a:off x="11670910" y="6392967"/>
            <a:ext cx="521089" cy="46503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lstStyle>
            <a:defPPr rtl="0">
              <a:defRPr lang="fr-fr"/>
            </a:defPPr>
            <a:lvl1pPr marL="0" algn="r" defTabSz="914400" rtl="0" eaLnBrk="1" latinLnBrk="0" hangingPunct="1">
              <a:defRPr sz="1200" kern="1200" cap="none" spc="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fr-FR" sz="2200" b="1" dirty="0">
                <a:solidFill>
                  <a:schemeClr val="tx1"/>
                </a:solidFill>
                <a:latin typeface="Monotype Corsiva" panose="03010101010201010101" pitchFamily="66" charset="0"/>
              </a:rPr>
              <a:t> </a:t>
            </a:r>
            <a:fld id="{D76B855D-E9CC-4FF8-AD85-6CDC7B89A0DE}" type="slidenum">
              <a:rPr lang="fr-FR" sz="2200" b="1" smtClean="0">
                <a:solidFill>
                  <a:schemeClr val="tx1"/>
                </a:solidFill>
                <a:latin typeface="Monotype Corsiva" panose="03010101010201010101" pitchFamily="66" charset="0"/>
              </a:rPr>
              <a:pPr>
                <a:defRPr/>
              </a:pPr>
              <a:t>27</a:t>
            </a:fld>
            <a:endParaRPr lang="fr-FR" sz="2200" b="1" dirty="0">
              <a:solidFill>
                <a:schemeClr val="tx1"/>
              </a:solidFill>
              <a:latin typeface="Monotype Corsiva" panose="03010101010201010101" pitchFamily="66" charset="0"/>
            </a:endParaRPr>
          </a:p>
        </p:txBody>
      </p:sp>
    </p:spTree>
    <p:extLst>
      <p:ext uri="{BB962C8B-B14F-4D97-AF65-F5344CB8AC3E}">
        <p14:creationId xmlns:p14="http://schemas.microsoft.com/office/powerpoint/2010/main" val="9622589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0" nodeType="clickEffect">
                                  <p:stCondLst>
                                    <p:cond delay="0"/>
                                  </p:stCondLst>
                                  <p:childTnLst>
                                    <p:animEffect transition="out" filter="fade">
                                      <p:cBhvr>
                                        <p:cTn id="13" dur="1000"/>
                                        <p:tgtEl>
                                          <p:spTgt spid="3">
                                            <p:txEl>
                                              <p:pRg st="0" end="0"/>
                                            </p:txEl>
                                          </p:spTgt>
                                        </p:tgtEl>
                                      </p:cBhvr>
                                    </p:animEffect>
                                    <p:anim calcmode="lin" valueType="num">
                                      <p:cBhvr>
                                        <p:cTn id="14" dur="1000"/>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p:tgtEl>
                                          <p:spTgt spid="3">
                                            <p:txEl>
                                              <p:pRg st="0" end="0"/>
                                            </p:txEl>
                                          </p:spTgt>
                                        </p:tgtEl>
                                        <p:attrNameLst>
                                          <p:attrName>ppt_y</p:attrName>
                                        </p:attrNameLst>
                                      </p:cBhvr>
                                      <p:tavLst>
                                        <p:tav tm="0">
                                          <p:val>
                                            <p:strVal val="ppt_y"/>
                                          </p:val>
                                        </p:tav>
                                        <p:tav tm="100000">
                                          <p:val>
                                            <p:strVal val="ppt_y+.1"/>
                                          </p:val>
                                        </p:tav>
                                      </p:tavLst>
                                    </p:anim>
                                    <p:set>
                                      <p:cBhvr>
                                        <p:cTn id="16" dur="1" fill="hold">
                                          <p:stCondLst>
                                            <p:cond delay="999"/>
                                          </p:stCondLst>
                                        </p:cTn>
                                        <p:tgtEl>
                                          <p:spTgt spid="3">
                                            <p:txEl>
                                              <p:pRg st="0" end="0"/>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grpId="0" nodeType="clickEffect">
                                  <p:stCondLst>
                                    <p:cond delay="0"/>
                                  </p:stCondLst>
                                  <p:childTnLst>
                                    <p:animEffect transition="out" filter="fade">
                                      <p:cBhvr>
                                        <p:cTn id="20" dur="1000"/>
                                        <p:tgtEl>
                                          <p:spTgt spid="3">
                                            <p:txEl>
                                              <p:pRg st="1" end="1"/>
                                            </p:txEl>
                                          </p:spTgt>
                                        </p:tgtEl>
                                      </p:cBhvr>
                                    </p:animEffect>
                                    <p:anim calcmode="lin" valueType="num">
                                      <p:cBhvr>
                                        <p:cTn id="21" dur="1000"/>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p:tgtEl>
                                          <p:spTgt spid="3">
                                            <p:txEl>
                                              <p:pRg st="1" end="1"/>
                                            </p:txEl>
                                          </p:spTgt>
                                        </p:tgtEl>
                                        <p:attrNameLst>
                                          <p:attrName>ppt_y</p:attrName>
                                        </p:attrNameLst>
                                      </p:cBhvr>
                                      <p:tavLst>
                                        <p:tav tm="0">
                                          <p:val>
                                            <p:strVal val="ppt_y"/>
                                          </p:val>
                                        </p:tav>
                                        <p:tav tm="100000">
                                          <p:val>
                                            <p:strVal val="ppt_y+.1"/>
                                          </p:val>
                                        </p:tav>
                                      </p:tavLst>
                                    </p:anim>
                                    <p:set>
                                      <p:cBhvr>
                                        <p:cTn id="23" dur="1" fill="hold">
                                          <p:stCondLst>
                                            <p:cond delay="999"/>
                                          </p:stCondLst>
                                        </p:cTn>
                                        <p:tgtEl>
                                          <p:spTgt spid="3">
                                            <p:txEl>
                                              <p:pRg st="1" end="1"/>
                                            </p:txEl>
                                          </p:spTgt>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0" nodeType="clickEffect">
                                  <p:stCondLst>
                                    <p:cond delay="0"/>
                                  </p:stCondLst>
                                  <p:childTnLst>
                                    <p:animEffect transition="out" filter="fade">
                                      <p:cBhvr>
                                        <p:cTn id="27" dur="1000"/>
                                        <p:tgtEl>
                                          <p:spTgt spid="3">
                                            <p:txEl>
                                              <p:pRg st="2" end="2"/>
                                            </p:txEl>
                                          </p:spTgt>
                                        </p:tgtEl>
                                      </p:cBhvr>
                                    </p:animEffect>
                                    <p:anim calcmode="lin" valueType="num">
                                      <p:cBhvr>
                                        <p:cTn id="28" dur="1000"/>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p:tgtEl>
                                          <p:spTgt spid="3">
                                            <p:txEl>
                                              <p:pRg st="2" end="2"/>
                                            </p:txEl>
                                          </p:spTgt>
                                        </p:tgtEl>
                                        <p:attrNameLst>
                                          <p:attrName>ppt_y</p:attrName>
                                        </p:attrNameLst>
                                      </p:cBhvr>
                                      <p:tavLst>
                                        <p:tav tm="0">
                                          <p:val>
                                            <p:strVal val="ppt_y"/>
                                          </p:val>
                                        </p:tav>
                                        <p:tav tm="100000">
                                          <p:val>
                                            <p:strVal val="ppt_y+.1"/>
                                          </p:val>
                                        </p:tav>
                                      </p:tavLst>
                                    </p:anim>
                                    <p:set>
                                      <p:cBhvr>
                                        <p:cTn id="30" dur="1" fill="hold">
                                          <p:stCondLst>
                                            <p:cond delay="999"/>
                                          </p:stCondLst>
                                        </p:cTn>
                                        <p:tgtEl>
                                          <p:spTgt spid="3">
                                            <p:txEl>
                                              <p:pRg st="2" end="2"/>
                                            </p:txEl>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xit" presetSubtype="0" fill="hold" grpId="0" nodeType="clickEffect">
                                  <p:stCondLst>
                                    <p:cond delay="0"/>
                                  </p:stCondLst>
                                  <p:childTnLst>
                                    <p:animEffect transition="out" filter="fade">
                                      <p:cBhvr>
                                        <p:cTn id="34" dur="1000"/>
                                        <p:tgtEl>
                                          <p:spTgt spid="3">
                                            <p:txEl>
                                              <p:pRg st="3" end="3"/>
                                            </p:txEl>
                                          </p:spTgt>
                                        </p:tgtEl>
                                      </p:cBhvr>
                                    </p:animEffect>
                                    <p:anim calcmode="lin" valueType="num">
                                      <p:cBhvr>
                                        <p:cTn id="35" dur="1000"/>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p:tgtEl>
                                          <p:spTgt spid="3">
                                            <p:txEl>
                                              <p:pRg st="3" end="3"/>
                                            </p:txEl>
                                          </p:spTgt>
                                        </p:tgtEl>
                                        <p:attrNameLst>
                                          <p:attrName>ppt_y</p:attrName>
                                        </p:attrNameLst>
                                      </p:cBhvr>
                                      <p:tavLst>
                                        <p:tav tm="0">
                                          <p:val>
                                            <p:strVal val="ppt_y"/>
                                          </p:val>
                                        </p:tav>
                                        <p:tav tm="100000">
                                          <p:val>
                                            <p:strVal val="ppt_y+.1"/>
                                          </p:val>
                                        </p:tav>
                                      </p:tavLst>
                                    </p:anim>
                                    <p:set>
                                      <p:cBhvr>
                                        <p:cTn id="37" dur="1" fill="hold">
                                          <p:stCondLst>
                                            <p:cond delay="999"/>
                                          </p:stCondLst>
                                        </p:cTn>
                                        <p:tgtEl>
                                          <p:spTgt spid="3">
                                            <p:txEl>
                                              <p:pRg st="3" end="3"/>
                                            </p:txEl>
                                          </p:spTgt>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0" nodeType="clickEffect">
                                  <p:stCondLst>
                                    <p:cond delay="0"/>
                                  </p:stCondLst>
                                  <p:childTnLst>
                                    <p:animEffect transition="out" filter="fade">
                                      <p:cBhvr>
                                        <p:cTn id="41" dur="1000"/>
                                        <p:tgtEl>
                                          <p:spTgt spid="3">
                                            <p:txEl>
                                              <p:pRg st="4" end="4"/>
                                            </p:txEl>
                                          </p:spTgt>
                                        </p:tgtEl>
                                      </p:cBhvr>
                                    </p:animEffect>
                                    <p:anim calcmode="lin" valueType="num">
                                      <p:cBhvr>
                                        <p:cTn id="42" dur="1000"/>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p:tgtEl>
                                          <p:spTgt spid="3">
                                            <p:txEl>
                                              <p:pRg st="4" end="4"/>
                                            </p:txEl>
                                          </p:spTgt>
                                        </p:tgtEl>
                                        <p:attrNameLst>
                                          <p:attrName>ppt_y</p:attrName>
                                        </p:attrNameLst>
                                      </p:cBhvr>
                                      <p:tavLst>
                                        <p:tav tm="0">
                                          <p:val>
                                            <p:strVal val="ppt_y"/>
                                          </p:val>
                                        </p:tav>
                                        <p:tav tm="100000">
                                          <p:val>
                                            <p:strVal val="ppt_y+.1"/>
                                          </p:val>
                                        </p:tav>
                                      </p:tavLst>
                                    </p:anim>
                                    <p:set>
                                      <p:cBhvr>
                                        <p:cTn id="44" dur="1" fill="hold">
                                          <p:stCondLst>
                                            <p:cond delay="999"/>
                                          </p:stCondLst>
                                        </p:cTn>
                                        <p:tgtEl>
                                          <p:spTgt spid="3">
                                            <p:txEl>
                                              <p:pRg st="4" end="4"/>
                                            </p:txEl>
                                          </p:spTgt>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xit" presetSubtype="0" fill="hold" grpId="0" nodeType="clickEffect">
                                  <p:stCondLst>
                                    <p:cond delay="0"/>
                                  </p:stCondLst>
                                  <p:childTnLst>
                                    <p:animEffect transition="out" filter="fade">
                                      <p:cBhvr>
                                        <p:cTn id="48" dur="1000"/>
                                        <p:tgtEl>
                                          <p:spTgt spid="3">
                                            <p:txEl>
                                              <p:pRg st="5" end="5"/>
                                            </p:txEl>
                                          </p:spTgt>
                                        </p:tgtEl>
                                      </p:cBhvr>
                                    </p:animEffect>
                                    <p:anim calcmode="lin" valueType="num">
                                      <p:cBhvr>
                                        <p:cTn id="49" dur="1000"/>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p:tgtEl>
                                          <p:spTgt spid="3">
                                            <p:txEl>
                                              <p:pRg st="5" end="5"/>
                                            </p:txEl>
                                          </p:spTgt>
                                        </p:tgtEl>
                                        <p:attrNameLst>
                                          <p:attrName>ppt_y</p:attrName>
                                        </p:attrNameLst>
                                      </p:cBhvr>
                                      <p:tavLst>
                                        <p:tav tm="0">
                                          <p:val>
                                            <p:strVal val="ppt_y"/>
                                          </p:val>
                                        </p:tav>
                                        <p:tav tm="100000">
                                          <p:val>
                                            <p:strVal val="ppt_y+.1"/>
                                          </p:val>
                                        </p:tav>
                                      </p:tavLst>
                                    </p:anim>
                                    <p:set>
                                      <p:cBhvr>
                                        <p:cTn id="51" dur="1" fill="hold">
                                          <p:stCondLst>
                                            <p:cond delay="999"/>
                                          </p:stCondLst>
                                        </p:cTn>
                                        <p:tgtEl>
                                          <p:spTgt spid="3">
                                            <p:txEl>
                                              <p:pRg st="5" end="5"/>
                                            </p:txEl>
                                          </p:spTgt>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0" nodeType="clickEffect">
                                  <p:stCondLst>
                                    <p:cond delay="0"/>
                                  </p:stCondLst>
                                  <p:childTnLst>
                                    <p:animEffect transition="out" filter="fade">
                                      <p:cBhvr>
                                        <p:cTn id="55" dur="1000"/>
                                        <p:tgtEl>
                                          <p:spTgt spid="3">
                                            <p:txEl>
                                              <p:pRg st="6" end="6"/>
                                            </p:txEl>
                                          </p:spTgt>
                                        </p:tgtEl>
                                      </p:cBhvr>
                                    </p:animEffect>
                                    <p:anim calcmode="lin" valueType="num">
                                      <p:cBhvr>
                                        <p:cTn id="56" dur="1000"/>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p:tgtEl>
                                          <p:spTgt spid="3">
                                            <p:txEl>
                                              <p:pRg st="6" end="6"/>
                                            </p:txEl>
                                          </p:spTgt>
                                        </p:tgtEl>
                                        <p:attrNameLst>
                                          <p:attrName>ppt_y</p:attrName>
                                        </p:attrNameLst>
                                      </p:cBhvr>
                                      <p:tavLst>
                                        <p:tav tm="0">
                                          <p:val>
                                            <p:strVal val="ppt_y"/>
                                          </p:val>
                                        </p:tav>
                                        <p:tav tm="100000">
                                          <p:val>
                                            <p:strVal val="ppt_y+.1"/>
                                          </p:val>
                                        </p:tav>
                                      </p:tavLst>
                                    </p:anim>
                                    <p:set>
                                      <p:cBhvr>
                                        <p:cTn id="58" dur="1" fill="hold">
                                          <p:stCondLst>
                                            <p:cond delay="999"/>
                                          </p:stCondLst>
                                        </p:cTn>
                                        <p:tgtEl>
                                          <p:spTgt spid="3">
                                            <p:txEl>
                                              <p:pRg st="6" end="6"/>
                                            </p:txEl>
                                          </p:spTgt>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2" presetClass="exit" presetSubtype="0" fill="hold" grpId="0" nodeType="clickEffect">
                                  <p:stCondLst>
                                    <p:cond delay="0"/>
                                  </p:stCondLst>
                                  <p:childTnLst>
                                    <p:animEffect transition="out" filter="fade">
                                      <p:cBhvr>
                                        <p:cTn id="62" dur="1000"/>
                                        <p:tgtEl>
                                          <p:spTgt spid="3">
                                            <p:txEl>
                                              <p:pRg st="7" end="7"/>
                                            </p:txEl>
                                          </p:spTgt>
                                        </p:tgtEl>
                                      </p:cBhvr>
                                    </p:animEffect>
                                    <p:anim calcmode="lin" valueType="num">
                                      <p:cBhvr>
                                        <p:cTn id="63" dur="1000"/>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p:tgtEl>
                                          <p:spTgt spid="3">
                                            <p:txEl>
                                              <p:pRg st="7" end="7"/>
                                            </p:txEl>
                                          </p:spTgt>
                                        </p:tgtEl>
                                        <p:attrNameLst>
                                          <p:attrName>ppt_y</p:attrName>
                                        </p:attrNameLst>
                                      </p:cBhvr>
                                      <p:tavLst>
                                        <p:tav tm="0">
                                          <p:val>
                                            <p:strVal val="ppt_y"/>
                                          </p:val>
                                        </p:tav>
                                        <p:tav tm="100000">
                                          <p:val>
                                            <p:strVal val="ppt_y+.1"/>
                                          </p:val>
                                        </p:tav>
                                      </p:tavLst>
                                    </p:anim>
                                    <p:set>
                                      <p:cBhvr>
                                        <p:cTn id="65" dur="1" fill="hold">
                                          <p:stCondLst>
                                            <p:cond delay="999"/>
                                          </p:stCondLst>
                                        </p:cTn>
                                        <p:tgtEl>
                                          <p:spTgt spid="3">
                                            <p:txEl>
                                              <p:pRg st="7" end="7"/>
                                            </p:txEl>
                                          </p:spTgt>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42" presetClass="exit" presetSubtype="0" fill="hold" grpId="0" nodeType="clickEffect">
                                  <p:stCondLst>
                                    <p:cond delay="0"/>
                                  </p:stCondLst>
                                  <p:childTnLst>
                                    <p:animEffect transition="out" filter="fade">
                                      <p:cBhvr>
                                        <p:cTn id="69" dur="1000"/>
                                        <p:tgtEl>
                                          <p:spTgt spid="3">
                                            <p:txEl>
                                              <p:pRg st="8" end="8"/>
                                            </p:txEl>
                                          </p:spTgt>
                                        </p:tgtEl>
                                      </p:cBhvr>
                                    </p:animEffect>
                                    <p:anim calcmode="lin" valueType="num">
                                      <p:cBhvr>
                                        <p:cTn id="70" dur="1000"/>
                                        <p:tgtEl>
                                          <p:spTgt spid="3">
                                            <p:txEl>
                                              <p:pRg st="8" end="8"/>
                                            </p:txEl>
                                          </p:spTgt>
                                        </p:tgtEl>
                                        <p:attrNameLst>
                                          <p:attrName>ppt_x</p:attrName>
                                        </p:attrNameLst>
                                      </p:cBhvr>
                                      <p:tavLst>
                                        <p:tav tm="0">
                                          <p:val>
                                            <p:strVal val="ppt_x"/>
                                          </p:val>
                                        </p:tav>
                                        <p:tav tm="100000">
                                          <p:val>
                                            <p:strVal val="ppt_x"/>
                                          </p:val>
                                        </p:tav>
                                      </p:tavLst>
                                    </p:anim>
                                    <p:anim calcmode="lin" valueType="num">
                                      <p:cBhvr>
                                        <p:cTn id="71" dur="1000"/>
                                        <p:tgtEl>
                                          <p:spTgt spid="3">
                                            <p:txEl>
                                              <p:pRg st="8" end="8"/>
                                            </p:txEl>
                                          </p:spTgt>
                                        </p:tgtEl>
                                        <p:attrNameLst>
                                          <p:attrName>ppt_y</p:attrName>
                                        </p:attrNameLst>
                                      </p:cBhvr>
                                      <p:tavLst>
                                        <p:tav tm="0">
                                          <p:val>
                                            <p:strVal val="ppt_y"/>
                                          </p:val>
                                        </p:tav>
                                        <p:tav tm="100000">
                                          <p:val>
                                            <p:strVal val="ppt_y+.1"/>
                                          </p:val>
                                        </p:tav>
                                      </p:tavLst>
                                    </p:anim>
                                    <p:set>
                                      <p:cBhvr>
                                        <p:cTn id="72" dur="1" fill="hold">
                                          <p:stCondLst>
                                            <p:cond delay="999"/>
                                          </p:stCondLst>
                                        </p:cTn>
                                        <p:tgtEl>
                                          <p:spTgt spid="3">
                                            <p:txEl>
                                              <p:pRg st="8" end="8"/>
                                            </p:txEl>
                                          </p:spTgt>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2" presetClass="exit" presetSubtype="0" fill="hold" grpId="0" nodeType="clickEffect">
                                  <p:stCondLst>
                                    <p:cond delay="0"/>
                                  </p:stCondLst>
                                  <p:childTnLst>
                                    <p:animEffect transition="out" filter="fade">
                                      <p:cBhvr>
                                        <p:cTn id="76" dur="1000"/>
                                        <p:tgtEl>
                                          <p:spTgt spid="3">
                                            <p:txEl>
                                              <p:pRg st="9" end="9"/>
                                            </p:txEl>
                                          </p:spTgt>
                                        </p:tgtEl>
                                      </p:cBhvr>
                                    </p:animEffect>
                                    <p:anim calcmode="lin" valueType="num">
                                      <p:cBhvr>
                                        <p:cTn id="77" dur="1000"/>
                                        <p:tgtEl>
                                          <p:spTgt spid="3">
                                            <p:txEl>
                                              <p:pRg st="9" end="9"/>
                                            </p:txEl>
                                          </p:spTgt>
                                        </p:tgtEl>
                                        <p:attrNameLst>
                                          <p:attrName>ppt_x</p:attrName>
                                        </p:attrNameLst>
                                      </p:cBhvr>
                                      <p:tavLst>
                                        <p:tav tm="0">
                                          <p:val>
                                            <p:strVal val="ppt_x"/>
                                          </p:val>
                                        </p:tav>
                                        <p:tav tm="100000">
                                          <p:val>
                                            <p:strVal val="ppt_x"/>
                                          </p:val>
                                        </p:tav>
                                      </p:tavLst>
                                    </p:anim>
                                    <p:anim calcmode="lin" valueType="num">
                                      <p:cBhvr>
                                        <p:cTn id="78" dur="1000"/>
                                        <p:tgtEl>
                                          <p:spTgt spid="3">
                                            <p:txEl>
                                              <p:pRg st="9" end="9"/>
                                            </p:txEl>
                                          </p:spTgt>
                                        </p:tgtEl>
                                        <p:attrNameLst>
                                          <p:attrName>ppt_y</p:attrName>
                                        </p:attrNameLst>
                                      </p:cBhvr>
                                      <p:tavLst>
                                        <p:tav tm="0">
                                          <p:val>
                                            <p:strVal val="ppt_y"/>
                                          </p:val>
                                        </p:tav>
                                        <p:tav tm="100000">
                                          <p:val>
                                            <p:strVal val="ppt_y+.1"/>
                                          </p:val>
                                        </p:tav>
                                      </p:tavLst>
                                    </p:anim>
                                    <p:set>
                                      <p:cBhvr>
                                        <p:cTn id="79" dur="1" fill="hold">
                                          <p:stCondLst>
                                            <p:cond delay="999"/>
                                          </p:stCondLst>
                                        </p:cTn>
                                        <p:tgtEl>
                                          <p:spTgt spid="3">
                                            <p:txEl>
                                              <p:pRg st="9" end="9"/>
                                            </p:txEl>
                                          </p:spTgt>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42" presetClass="exit" presetSubtype="0" fill="hold" grpId="0" nodeType="clickEffect">
                                  <p:stCondLst>
                                    <p:cond delay="0"/>
                                  </p:stCondLst>
                                  <p:childTnLst>
                                    <p:animEffect transition="out" filter="fade">
                                      <p:cBhvr>
                                        <p:cTn id="83" dur="1000"/>
                                        <p:tgtEl>
                                          <p:spTgt spid="3">
                                            <p:txEl>
                                              <p:pRg st="10" end="10"/>
                                            </p:txEl>
                                          </p:spTgt>
                                        </p:tgtEl>
                                      </p:cBhvr>
                                    </p:animEffect>
                                    <p:anim calcmode="lin" valueType="num">
                                      <p:cBhvr>
                                        <p:cTn id="84" dur="1000"/>
                                        <p:tgtEl>
                                          <p:spTgt spid="3">
                                            <p:txEl>
                                              <p:pRg st="10" end="10"/>
                                            </p:txEl>
                                          </p:spTgt>
                                        </p:tgtEl>
                                        <p:attrNameLst>
                                          <p:attrName>ppt_x</p:attrName>
                                        </p:attrNameLst>
                                      </p:cBhvr>
                                      <p:tavLst>
                                        <p:tav tm="0">
                                          <p:val>
                                            <p:strVal val="ppt_x"/>
                                          </p:val>
                                        </p:tav>
                                        <p:tav tm="100000">
                                          <p:val>
                                            <p:strVal val="ppt_x"/>
                                          </p:val>
                                        </p:tav>
                                      </p:tavLst>
                                    </p:anim>
                                    <p:anim calcmode="lin" valueType="num">
                                      <p:cBhvr>
                                        <p:cTn id="85" dur="1000"/>
                                        <p:tgtEl>
                                          <p:spTgt spid="3">
                                            <p:txEl>
                                              <p:pRg st="10" end="10"/>
                                            </p:txEl>
                                          </p:spTgt>
                                        </p:tgtEl>
                                        <p:attrNameLst>
                                          <p:attrName>ppt_y</p:attrName>
                                        </p:attrNameLst>
                                      </p:cBhvr>
                                      <p:tavLst>
                                        <p:tav tm="0">
                                          <p:val>
                                            <p:strVal val="ppt_y"/>
                                          </p:val>
                                        </p:tav>
                                        <p:tav tm="100000">
                                          <p:val>
                                            <p:strVal val="ppt_y+.1"/>
                                          </p:val>
                                        </p:tav>
                                      </p:tavLst>
                                    </p:anim>
                                    <p:set>
                                      <p:cBhvr>
                                        <p:cTn id="86" dur="1" fill="hold">
                                          <p:stCondLst>
                                            <p:cond delay="999"/>
                                          </p:stCondLst>
                                        </p:cTn>
                                        <p:tgtEl>
                                          <p:spTgt spid="3">
                                            <p:txEl>
                                              <p:pRg st="10" end="10"/>
                                            </p:txEl>
                                          </p:spTgt>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42" presetClass="exit" presetSubtype="0" fill="hold" grpId="0" nodeType="clickEffect">
                                  <p:stCondLst>
                                    <p:cond delay="0"/>
                                  </p:stCondLst>
                                  <p:childTnLst>
                                    <p:animEffect transition="out" filter="fade">
                                      <p:cBhvr>
                                        <p:cTn id="90" dur="1000"/>
                                        <p:tgtEl>
                                          <p:spTgt spid="3">
                                            <p:txEl>
                                              <p:pRg st="11" end="11"/>
                                            </p:txEl>
                                          </p:spTgt>
                                        </p:tgtEl>
                                      </p:cBhvr>
                                    </p:animEffect>
                                    <p:anim calcmode="lin" valueType="num">
                                      <p:cBhvr>
                                        <p:cTn id="91" dur="1000"/>
                                        <p:tgtEl>
                                          <p:spTgt spid="3">
                                            <p:txEl>
                                              <p:pRg st="11" end="11"/>
                                            </p:txEl>
                                          </p:spTgt>
                                        </p:tgtEl>
                                        <p:attrNameLst>
                                          <p:attrName>ppt_x</p:attrName>
                                        </p:attrNameLst>
                                      </p:cBhvr>
                                      <p:tavLst>
                                        <p:tav tm="0">
                                          <p:val>
                                            <p:strVal val="ppt_x"/>
                                          </p:val>
                                        </p:tav>
                                        <p:tav tm="100000">
                                          <p:val>
                                            <p:strVal val="ppt_x"/>
                                          </p:val>
                                        </p:tav>
                                      </p:tavLst>
                                    </p:anim>
                                    <p:anim calcmode="lin" valueType="num">
                                      <p:cBhvr>
                                        <p:cTn id="92" dur="1000"/>
                                        <p:tgtEl>
                                          <p:spTgt spid="3">
                                            <p:txEl>
                                              <p:pRg st="11" end="11"/>
                                            </p:txEl>
                                          </p:spTgt>
                                        </p:tgtEl>
                                        <p:attrNameLst>
                                          <p:attrName>ppt_y</p:attrName>
                                        </p:attrNameLst>
                                      </p:cBhvr>
                                      <p:tavLst>
                                        <p:tav tm="0">
                                          <p:val>
                                            <p:strVal val="ppt_y"/>
                                          </p:val>
                                        </p:tav>
                                        <p:tav tm="100000">
                                          <p:val>
                                            <p:strVal val="ppt_y+.1"/>
                                          </p:val>
                                        </p:tav>
                                      </p:tavLst>
                                    </p:anim>
                                    <p:set>
                                      <p:cBhvr>
                                        <p:cTn id="93" dur="1" fill="hold">
                                          <p:stCondLst>
                                            <p:cond delay="999"/>
                                          </p:stCondLst>
                                        </p:cTn>
                                        <p:tgtEl>
                                          <p:spTgt spid="3">
                                            <p:txEl>
                                              <p:pRg st="11" end="11"/>
                                            </p:txEl>
                                          </p:spTgt>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42" presetClass="exit" presetSubtype="0" fill="hold" nodeType="clickEffect">
                                  <p:stCondLst>
                                    <p:cond delay="0"/>
                                  </p:stCondLst>
                                  <p:childTnLst>
                                    <p:animEffect transition="out" filter="fade">
                                      <p:cBhvr>
                                        <p:cTn id="97" dur="1000"/>
                                        <p:tgtEl>
                                          <p:spTgt spid="8"/>
                                        </p:tgtEl>
                                      </p:cBhvr>
                                    </p:animEffect>
                                    <p:anim calcmode="lin" valueType="num">
                                      <p:cBhvr>
                                        <p:cTn id="98" dur="1000"/>
                                        <p:tgtEl>
                                          <p:spTgt spid="8"/>
                                        </p:tgtEl>
                                        <p:attrNameLst>
                                          <p:attrName>ppt_x</p:attrName>
                                        </p:attrNameLst>
                                      </p:cBhvr>
                                      <p:tavLst>
                                        <p:tav tm="0">
                                          <p:val>
                                            <p:strVal val="ppt_x"/>
                                          </p:val>
                                        </p:tav>
                                        <p:tav tm="100000">
                                          <p:val>
                                            <p:strVal val="ppt_x"/>
                                          </p:val>
                                        </p:tav>
                                      </p:tavLst>
                                    </p:anim>
                                    <p:anim calcmode="lin" valueType="num">
                                      <p:cBhvr>
                                        <p:cTn id="99" dur="1000"/>
                                        <p:tgtEl>
                                          <p:spTgt spid="8"/>
                                        </p:tgtEl>
                                        <p:attrNameLst>
                                          <p:attrName>ppt_y</p:attrName>
                                        </p:attrNameLst>
                                      </p:cBhvr>
                                      <p:tavLst>
                                        <p:tav tm="0">
                                          <p:val>
                                            <p:strVal val="ppt_y"/>
                                          </p:val>
                                        </p:tav>
                                        <p:tav tm="100000">
                                          <p:val>
                                            <p:strVal val="ppt_y+.1"/>
                                          </p:val>
                                        </p:tav>
                                      </p:tavLst>
                                    </p:anim>
                                    <p:set>
                                      <p:cBhvr>
                                        <p:cTn id="100"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8167030_TF78504181_Win32" id="{53FBEEF7-B026-4CB2-8762-EFA75AE09B21}" vid="{B471518D-E795-456F-B23A-072EA46323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A449C04-64B3-4403-94B7-8D2284C38D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Présentation de formes</Template>
  <TotalTime>3129</TotalTime>
  <Words>4545</Words>
  <Application>Microsoft Office PowerPoint</Application>
  <PresentationFormat>Grand écran</PresentationFormat>
  <Paragraphs>209</Paragraphs>
  <Slides>27</Slides>
  <Notes>7</Notes>
  <HiddenSlides>0</HiddenSlides>
  <MMClips>2</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Arial</vt:lpstr>
      <vt:lpstr>Avenir Next LT Pro</vt:lpstr>
      <vt:lpstr>Calibri</vt:lpstr>
      <vt:lpstr>Cambria Math</vt:lpstr>
      <vt:lpstr>Mongolian Baiti</vt:lpstr>
      <vt:lpstr>Monotype Corsiva</vt:lpstr>
      <vt:lpstr>Tw Cen MT</vt:lpstr>
      <vt:lpstr>Wingdings</vt:lpstr>
      <vt:lpstr>ShapesVTI</vt:lpstr>
      <vt:lpstr>Présentation PowerPoint</vt:lpstr>
      <vt:lpstr>EXPOSÉ RÉALISÉ &amp; PRÉSENTÉ PAR :</vt:lpstr>
      <vt:lpstr>SOMMAIRE</vt:lpstr>
      <vt:lpstr>Introduction</vt:lpstr>
      <vt:lpstr>I – HISTORIQUE DE LA GEOMETRIE</vt:lpstr>
      <vt:lpstr>Premières Traces (Avant Euclide)</vt:lpstr>
      <vt:lpstr>Présentation PowerPoint</vt:lpstr>
      <vt:lpstr>Présentation PowerPoint</vt:lpstr>
      <vt:lpstr>D’Euclide à la forme actuelle de la Géométrie</vt:lpstr>
      <vt:lpstr>Présentation PowerPoint</vt:lpstr>
      <vt:lpstr>La Géométrie au XIXe siècle</vt:lpstr>
      <vt:lpstr>Géométrie du XXe siècle à nos jours</vt:lpstr>
      <vt:lpstr>OBJECTIFS &amp; RÔLE DE LA GEOMETRIE</vt:lpstr>
      <vt:lpstr>Objectifs  de la Géométrie</vt:lpstr>
      <vt:lpstr>Rôle de la Géométrie</vt:lpstr>
      <vt:lpstr>Présentation PowerPoint</vt:lpstr>
      <vt:lpstr>UTILITE DE LA GEOMETRIE</vt:lpstr>
      <vt:lpstr>Présentation PowerPoint</vt:lpstr>
      <vt:lpstr>Présentation PowerPoint</vt:lpstr>
      <vt:lpstr>Présentation PowerPoint</vt:lpstr>
      <vt:lpstr>Présentation PowerPoint</vt:lpstr>
      <vt:lpstr>CURIOSITES GEOMETRIQUES</vt:lpstr>
      <vt:lpstr>π &amp; φ </vt:lpstr>
      <vt:lpstr>Hyper-espace</vt:lpstr>
      <vt:lpstr>Quelques Géomètres Eminents de l’Histoire</vt:lpstr>
      <vt:lpstr>Conclusion</vt:lpstr>
      <vt:lpstr>Merci de votre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&amp; IMPORTANCE DE LA GEOMETRIE</dc:title>
  <dc:creator>user</dc:creator>
  <cp:lastModifiedBy>Ivann Kamdem</cp:lastModifiedBy>
  <cp:revision>115</cp:revision>
  <dcterms:created xsi:type="dcterms:W3CDTF">2022-02-25T10:21:12Z</dcterms:created>
  <dcterms:modified xsi:type="dcterms:W3CDTF">2022-05-04T11:06:56Z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