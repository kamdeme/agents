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2" r:id="rId1"/>
  </p:sldMasterIdLst>
  <p:notesMasterIdLst>
    <p:notesMasterId r:id="rId25"/>
  </p:notesMasterIdLst>
  <p:handoutMasterIdLst>
    <p:handoutMasterId r:id="rId26"/>
  </p:handoutMasterIdLst>
  <p:sldIdLst>
    <p:sldId id="258" r:id="rId2"/>
    <p:sldId id="282" r:id="rId3"/>
    <p:sldId id="284" r:id="rId4"/>
    <p:sldId id="260" r:id="rId5"/>
    <p:sldId id="262" r:id="rId6"/>
    <p:sldId id="261" r:id="rId7"/>
    <p:sldId id="263" r:id="rId8"/>
    <p:sldId id="285" r:id="rId9"/>
    <p:sldId id="264" r:id="rId10"/>
    <p:sldId id="265" r:id="rId11"/>
    <p:sldId id="266" r:id="rId12"/>
    <p:sldId id="267" r:id="rId13"/>
    <p:sldId id="288" r:id="rId14"/>
    <p:sldId id="270" r:id="rId15"/>
    <p:sldId id="271" r:id="rId16"/>
    <p:sldId id="278" r:id="rId17"/>
    <p:sldId id="272" r:id="rId18"/>
    <p:sldId id="279" r:id="rId19"/>
    <p:sldId id="273" r:id="rId20"/>
    <p:sldId id="274" r:id="rId21"/>
    <p:sldId id="275" r:id="rId22"/>
    <p:sldId id="291" r:id="rId23"/>
    <p:sldId id="29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5B57741F-DDB6-444F-B00A-8C5C2DC07B20}">
          <p14:sldIdLst>
            <p14:sldId id="258"/>
            <p14:sldId id="282"/>
            <p14:sldId id="284"/>
            <p14:sldId id="260"/>
            <p14:sldId id="262"/>
            <p14:sldId id="261"/>
            <p14:sldId id="263"/>
            <p14:sldId id="285"/>
            <p14:sldId id="264"/>
            <p14:sldId id="265"/>
            <p14:sldId id="266"/>
            <p14:sldId id="267"/>
            <p14:sldId id="288"/>
            <p14:sldId id="270"/>
            <p14:sldId id="271"/>
            <p14:sldId id="278"/>
            <p14:sldId id="272"/>
            <p14:sldId id="279"/>
            <p14:sldId id="273"/>
            <p14:sldId id="274"/>
            <p14:sldId id="275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2A00"/>
    <a:srgbClr val="FF3300"/>
    <a:srgbClr val="EE2D00"/>
    <a:srgbClr val="CC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78" autoAdjust="0"/>
    <p:restoredTop sz="93103" autoAdjust="0"/>
  </p:normalViewPr>
  <p:slideViewPr>
    <p:cSldViewPr snapToGrid="0">
      <p:cViewPr varScale="1">
        <p:scale>
          <a:sx n="59" d="100"/>
          <a:sy n="59" d="100"/>
        </p:scale>
        <p:origin x="226" y="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BC7E9-79DB-472B-B17C-1E17DA292132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30AFE-E0DB-4B17-8C7D-2F53AF6710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46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23FE0-24F7-4D3D-8FAD-81129B97CBB2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F62A4-D29C-43B4-8BDC-4C78B1796A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12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F62A4-D29C-43B4-8BDC-4C78B1796A9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01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F62A4-D29C-43B4-8BDC-4C78B1796A9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20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2982-C657-4CBF-8727-8BCFCAB12E8F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67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BE57-4B56-4921-B75F-1E7D0FC4DBBE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088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CDEC-728A-4C0B-ABBB-64ACC9C18712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925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4AC2-BBCE-4464-B7D7-59B47295C37F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193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64282-8712-48A5-9FFF-F8223097C246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537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7D55A-634F-4A79-92A0-5FB8A2699438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418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E109-AC56-4648-A1ED-3C8D767E3EE8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313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F12F-A66F-489C-A283-0E39827C56C9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65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071C-87B9-4258-A2B2-ADC15C726D5A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154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3A7A-68E4-41E8-9B84-04ADF20D2837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759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63ED-90BA-4210-B7BA-1AC9F656F19A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171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45A42-8A06-4EF7-B9D9-E6507AA7E920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56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790-86DB-4FD7-8BB3-F32BD86C9275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635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4BEF-A4EE-40B0-9605-DBD7C7773B60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540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E6EF6-828E-4E99-836A-58F5268C4E09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444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1E01-3BC5-449F-9115-9F7860E1A324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698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09780-55B0-4DB1-98B9-FCFA664E0AB3}" type="datetime1">
              <a:rPr lang="fr-FR" smtClean="0"/>
              <a:t>15/11/2021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Page /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0C8AB41-E437-4EF1-BBBD-7BD4D54667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086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4.jp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5.jp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57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79920"/>
          </a:xfrm>
          <a:ln w="38100">
            <a:solidFill>
              <a:srgbClr val="EE2D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UNIVERSITÉ DE YAOUNDÉ I 		    		                             THE UNIVERSITY OF YAOUNDE I</a:t>
            </a:r>
            <a:b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ÉCOLE NATIONALE SUPÉRIEURE                                          </a:t>
            </a:r>
            <a:r>
              <a:rPr kumimoji="0" lang="en-US" altLang="fr-FR" sz="2500" b="1" i="0" u="none" strike="noStrike" normalizeH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NATIONAL ADVANCED SCHOOL</a:t>
            </a:r>
            <a:r>
              <a:rPr kumimoji="0" lang="en-US" altLang="fr-FR" sz="2500" b="1" i="0" u="none" strike="noStrike" normalizeH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POLYTECHNIQUE DE YAOUNDÉ 		</a:t>
            </a:r>
            <a:r>
              <a:rPr lang="en-US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</a:t>
            </a:r>
            <a: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kumimoji="0" lang="en-US" altLang="fr-FR" sz="2500" b="1" i="0" u="none" strike="noStrike" normalizeH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 YAOUNDE</a:t>
            </a:r>
            <a:r>
              <a:rPr kumimoji="0" lang="en-US" altLang="fr-FR" sz="2500" b="1" i="0" u="none" strike="noStrike" normalizeH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en-US" altLang="fr-FR" sz="2500" b="1" i="0" u="none" strike="noStrike" normalizeH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DÉPARTEMENT DE MATHÉMATIQU</a:t>
            </a:r>
            <a:r>
              <a:rPr lang="fr-FR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                                         </a:t>
            </a:r>
            <a: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 AND PHYSICAL </a:t>
            </a:r>
            <a: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</a:rPr>
              <a:t/>
            </a:r>
            <a:b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</a:rPr>
            </a:br>
            <a:r>
              <a:rPr lang="fr-FR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SCIENCES PHYSIQUES                       		</a:t>
            </a:r>
            <a:r>
              <a:rPr lang="fr-FR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</a:t>
            </a:r>
            <a: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kumimoji="0" lang="fr-FR" altLang="fr-FR" sz="2500" b="1" i="0" u="none" strike="noStrike" normalizeH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   </a:t>
            </a:r>
            <a:br>
              <a:rPr kumimoji="0" lang="fr-FR" altLang="fr-FR" sz="2500" b="1" i="0" u="none" strike="noStrike" normalizeH="0" baseline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DE2A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altLang="fr-FR" sz="25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altLang="fr-FR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ELECTROMAGNETISME I – STI1031</a:t>
            </a:r>
            <a:b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altLang="fr-FR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EXPOSE DE TD 2021</a:t>
            </a:r>
            <a:b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altLang="fr-FR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GROUPE B14 – MSP I</a:t>
            </a:r>
            <a:b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altLang="fr-FR" sz="2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altLang="fr-FR" sz="27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COORDONNATEUR : M. TCHANA</a:t>
            </a:r>
            <a:endParaRPr kumimoji="0" lang="fr-FR" altLang="fr-FR" sz="2700" b="1" i="0" u="none" strike="noStrike" normalizeH="0" baseline="0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3" name="Image 1" descr="LOGO-POLYTECHNIQUE-01-sca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649" y="1333273"/>
            <a:ext cx="2420120" cy="2420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xtLst/>
        </p:spPr>
      </p:pic>
    </p:spTree>
    <p:extLst>
      <p:ext uri="{BB962C8B-B14F-4D97-AF65-F5344CB8AC3E}">
        <p14:creationId xmlns:p14="http://schemas.microsoft.com/office/powerpoint/2010/main" val="408092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90945" y="391883"/>
            <a:ext cx="8911687" cy="1095833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fr-FR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MEMBRES DU GROUPE</a:t>
            </a:r>
            <a:r>
              <a:rPr lang="fr-FR" altLang="fr-FR" b="1" u="sng" dirty="0">
                <a:solidFill>
                  <a:schemeClr val="accent2">
                    <a:lumMod val="50000"/>
                  </a:schemeClr>
                </a:solidFill>
              </a:rPr>
              <a:t/>
            </a:r>
            <a:br>
              <a:rPr lang="fr-FR" altLang="fr-FR" b="1" u="sng" dirty="0">
                <a:solidFill>
                  <a:schemeClr val="accent2">
                    <a:lumMod val="50000"/>
                  </a:schemeClr>
                </a:solidFill>
              </a:rPr>
            </a:br>
            <a:endParaRPr lang="fr-F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70760" y="939800"/>
            <a:ext cx="9921240" cy="5918200"/>
          </a:xfrm>
        </p:spPr>
        <p:txBody>
          <a:bodyPr>
            <a:normAutofit fontScale="32500" lnSpcReduction="20000"/>
          </a:bodyPr>
          <a:lstStyle/>
          <a:p>
            <a:pPr algn="ctr">
              <a:buFont typeface="Wingdings" panose="05000000000000000000" pitchFamily="2" charset="2"/>
              <a:buChar char="Ø"/>
            </a:pPr>
            <a:endParaRPr lang="fr-FR" altLang="fr-FR" sz="2000" b="1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fr-FR" altLang="fr-FR" sz="8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>
              <a:buClr>
                <a:srgbClr val="EE2D00"/>
              </a:buClr>
              <a:buFont typeface="Wingdings" panose="05000000000000000000" pitchFamily="2" charset="2"/>
              <a:buChar char="Ø"/>
            </a:pP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KAMDEM </a:t>
            </a:r>
            <a:r>
              <a:rPr lang="fr-FR" altLang="fr-FR" sz="8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POUOKAM Ivann Harold </a:t>
            </a: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- 21P254</a:t>
            </a:r>
          </a:p>
          <a:p>
            <a:pPr marL="0" indent="0">
              <a:buNone/>
            </a:pPr>
            <a:endParaRPr lang="fr-FR" altLang="fr-FR" sz="8600" b="1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>
              <a:buClr>
                <a:srgbClr val="EE2D00"/>
              </a:buClr>
              <a:buFont typeface="Wingdings" panose="05000000000000000000" pitchFamily="2" charset="2"/>
              <a:buChar char="Ø"/>
            </a:pPr>
            <a:r>
              <a:rPr lang="fr-FR" altLang="fr-FR" sz="8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KAMENI NSANGOU Théodore Allan - </a:t>
            </a: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21P218</a:t>
            </a:r>
          </a:p>
          <a:p>
            <a:pPr marL="0" indent="0">
              <a:buNone/>
            </a:pPr>
            <a:endParaRPr lang="fr-FR" altLang="fr-FR" sz="8600" b="1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>
              <a:buClr>
                <a:srgbClr val="EE2D00"/>
              </a:buClr>
              <a:buFont typeface="Wingdings" panose="05000000000000000000" pitchFamily="2" charset="2"/>
              <a:buChar char="Ø"/>
            </a:pP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KAMGA </a:t>
            </a:r>
            <a:r>
              <a:rPr lang="fr-FR" altLang="fr-FR" sz="8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CHEUKO Franklin Davy - </a:t>
            </a: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21P308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altLang="fr-FR" sz="8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>
              <a:buClr>
                <a:srgbClr val="EE2D00"/>
              </a:buClr>
              <a:buFont typeface="Wingdings" panose="05000000000000000000" pitchFamily="2" charset="2"/>
              <a:buChar char="Ø"/>
            </a:pPr>
            <a:r>
              <a:rPr lang="fr-FR" altLang="fr-FR" sz="8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KAMGA DEFO Thierry Joel - </a:t>
            </a: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21P032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altLang="fr-FR" sz="8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>
              <a:buClr>
                <a:srgbClr val="EE2D00"/>
              </a:buClr>
              <a:buFont typeface="Wingdings" panose="05000000000000000000" pitchFamily="2" charset="2"/>
              <a:buChar char="Ø"/>
            </a:pPr>
            <a:r>
              <a:rPr lang="fr-FR" altLang="fr-FR" sz="8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KAMTE MOAFO Amstrong - </a:t>
            </a:r>
            <a:r>
              <a:rPr lang="fr-FR" altLang="fr-FR" sz="8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21P017</a:t>
            </a:r>
            <a:r>
              <a:rPr lang="fr-FR" altLang="fr-FR" sz="8600" dirty="0">
                <a:solidFill>
                  <a:schemeClr val="tx1"/>
                </a:solidFill>
              </a:rPr>
              <a:t/>
            </a:r>
            <a:br>
              <a:rPr lang="fr-FR" altLang="fr-FR" sz="8600" dirty="0">
                <a:solidFill>
                  <a:schemeClr val="tx1"/>
                </a:solidFill>
              </a:rPr>
            </a:br>
            <a:r>
              <a:rPr lang="fr-FR" altLang="fr-FR" sz="8600" dirty="0">
                <a:solidFill>
                  <a:schemeClr val="tx1"/>
                </a:solidFill>
              </a:rPr>
              <a:t/>
            </a:r>
            <a:br>
              <a:rPr lang="fr-FR" altLang="fr-FR" sz="8600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/>
            </a:r>
            <a:br>
              <a:rPr lang="fr-FR" altLang="fr-FR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/>
            </a:r>
            <a:br>
              <a:rPr lang="fr-FR" altLang="fr-FR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/>
            </a:r>
            <a:br>
              <a:rPr lang="fr-FR" altLang="fr-FR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/>
            </a:r>
            <a:br>
              <a:rPr lang="fr-FR" altLang="fr-FR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/>
            </a:r>
            <a:br>
              <a:rPr lang="fr-FR" altLang="fr-FR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/>
            </a:r>
            <a:br>
              <a:rPr lang="fr-FR" altLang="fr-FR" dirty="0">
                <a:solidFill>
                  <a:schemeClr val="tx1"/>
                </a:solidFill>
              </a:rPr>
            </a:br>
            <a:endParaRPr lang="fr-FR" dirty="0"/>
          </a:p>
        </p:txBody>
      </p:sp>
      <p:sp>
        <p:nvSpPr>
          <p:cNvPr id="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2/23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8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96692" y="0"/>
            <a:ext cx="2350220" cy="692072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</a:rPr>
              <a:t>SOMMAIRE</a:t>
            </a:r>
            <a:endParaRPr lang="fr-FR" b="1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692072"/>
                <a:ext cx="12192000" cy="616592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ENONCE DE L’EXERCICE A4 : « SPHERE CHARGEE EN SUFACE PUIS EN VOLUME »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CONSIDERATIONS &amp; PREREQUIS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1)</a:t>
                </a:r>
                <a:r>
                  <a:rPr lang="fr-FR" b="1" dirty="0" smtClean="0"/>
                  <a:t> DETERMINATION DE LA DIRECTION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fr-F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1" dirty="0" smtClean="0"/>
                  <a:t>EN UTILISANT LES SYMETRIES &amp; INVARIANCES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2)</a:t>
                </a:r>
                <a:r>
                  <a:rPr lang="fr-FR" b="1" dirty="0" smtClean="0"/>
                  <a:t> EXPRESSION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endParaRPr lang="fr-FR" b="1" dirty="0" smtClean="0"/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3)</a:t>
                </a:r>
                <a:r>
                  <a:rPr lang="fr-FR" b="1" dirty="0" smtClean="0"/>
                  <a:t> DEDUCTION DU POTENTIEL V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4) </a:t>
                </a:r>
                <a:r>
                  <a:rPr lang="fr-FR" b="1" dirty="0" smtClean="0"/>
                  <a:t>REPRESENTATION DES COURBES DU CHAMP ET DU POTENTIEL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5)</a:t>
                </a:r>
                <a:r>
                  <a:rPr lang="fr-FR" b="1" dirty="0" smtClean="0"/>
                  <a:t> REPRISE DES QUESTIONS PRECEDENTES POUR UNE SPHERE CHARGEE EN VOLUME DE DENSITE VOMLUMIQUE DE CHARGE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fr-FR" b="1" dirty="0" smtClean="0"/>
                  <a:t> NEGATIVE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/>
                  <a:t> </a:t>
                </a:r>
                <a:r>
                  <a:rPr lang="fr-FR" b="1" dirty="0" smtClean="0"/>
                  <a:t>  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a)</a:t>
                </a:r>
                <a:r>
                  <a:rPr lang="fr-FR" b="1" dirty="0" smtClean="0"/>
                  <a:t> </a:t>
                </a:r>
                <a:r>
                  <a:rPr lang="fr-FR" b="1" dirty="0"/>
                  <a:t>DETERMINATION DE LA DIRECTION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1" dirty="0"/>
                  <a:t>EN UTILISANT LES SYMETRIES &amp; INVARIANCES</a:t>
                </a:r>
                <a:endParaRPr lang="fr-FR" b="1" dirty="0" smtClean="0"/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/>
                  <a:t> </a:t>
                </a:r>
                <a:r>
                  <a:rPr lang="fr-FR" b="1" dirty="0" smtClean="0"/>
                  <a:t>  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b)</a:t>
                </a:r>
                <a:r>
                  <a:rPr lang="fr-FR" b="1" dirty="0" smtClean="0"/>
                  <a:t> </a:t>
                </a:r>
                <a:r>
                  <a:rPr lang="fr-FR" b="1" dirty="0"/>
                  <a:t>EXPRESSION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b="1" dirty="0" smtClean="0"/>
                  <a:t>      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/>
                  <a:t> </a:t>
                </a:r>
                <a:r>
                  <a:rPr lang="fr-FR" b="1" dirty="0" smtClean="0"/>
                  <a:t>     </a:t>
                </a:r>
                <a:r>
                  <a:rPr lang="fr-FR" b="1" dirty="0">
                    <a:solidFill>
                      <a:srgbClr val="DE2A00"/>
                    </a:solidFill>
                  </a:rPr>
                  <a:t>c)</a:t>
                </a:r>
                <a:r>
                  <a:rPr lang="fr-FR" b="1" dirty="0"/>
                  <a:t> DEDUCTION DU POTENTIEL V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      </a:t>
                </a:r>
                <a:r>
                  <a:rPr lang="fr-FR" b="1" dirty="0" smtClean="0">
                    <a:solidFill>
                      <a:srgbClr val="DE2A00"/>
                    </a:solidFill>
                  </a:rPr>
                  <a:t>d</a:t>
                </a:r>
                <a:r>
                  <a:rPr lang="fr-FR" b="1" dirty="0">
                    <a:solidFill>
                      <a:srgbClr val="DE2A00"/>
                    </a:solidFill>
                  </a:rPr>
                  <a:t>)</a:t>
                </a:r>
                <a:r>
                  <a:rPr lang="fr-FR" b="1" dirty="0"/>
                  <a:t> REPRESENTATION DES COURBES DU CHAMP ET DU </a:t>
                </a:r>
                <a:r>
                  <a:rPr lang="fr-FR" b="1" dirty="0" smtClean="0"/>
                  <a:t>POTENTIEL</a:t>
                </a:r>
              </a:p>
              <a:p>
                <a:pPr>
                  <a:lnSpc>
                    <a:spcPct val="150000"/>
                  </a:lnSpc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/>
                  <a:t>  </a:t>
                </a:r>
                <a:r>
                  <a:rPr lang="fr-FR" b="1" dirty="0" smtClean="0"/>
                  <a:t>CONCLUSION </a:t>
                </a:r>
                <a:r>
                  <a:rPr lang="fr-FR" b="1" dirty="0"/>
                  <a:t>&amp;</a:t>
                </a:r>
                <a:r>
                  <a:rPr lang="fr-FR" b="1" dirty="0" smtClean="0"/>
                  <a:t> BIBLIOGRAPHIE</a:t>
                </a:r>
                <a:endParaRPr lang="fr-FR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2072"/>
                <a:ext cx="12192000" cy="6165928"/>
              </a:xfrm>
              <a:blipFill>
                <a:blip r:embed="rId2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3/23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0022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93964"/>
            <a:ext cx="12192000" cy="1005840"/>
          </a:xfrm>
        </p:spPr>
        <p:txBody>
          <a:bodyPr>
            <a:normAutofit/>
          </a:bodyPr>
          <a:lstStyle/>
          <a:p>
            <a:pPr algn="ctr"/>
            <a:r>
              <a:rPr lang="fr-FR" b="1" u="sng" dirty="0" smtClean="0">
                <a:latin typeface="Monotype Corsiva" panose="03010101010201010101" pitchFamily="66" charset="0"/>
              </a:rPr>
              <a:t>Enoncé de l’exercice A4 : « Sphère chargée en surface puis en volume »</a:t>
            </a:r>
            <a:endParaRPr lang="fr-FR" b="1" u="sng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1199805"/>
                <a:ext cx="12192000" cy="56581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800" dirty="0"/>
                  <a:t>	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On considère une sphère de centre O et de rayon R, chargée en surface avec une densité surfacique de charge </a:t>
                </a:r>
                <a:r>
                  <a:rPr lang="el-GR" sz="2400" dirty="0" smtClean="0">
                    <a:latin typeface="Monotype Corsiva" panose="03010101010201010101" pitchFamily="66" charset="0"/>
                  </a:rPr>
                  <a:t>σ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 positive.</a:t>
                </a:r>
              </a:p>
              <a:p>
                <a:pPr marL="0" indent="0">
                  <a:buNone/>
                </a:pPr>
                <a:r>
                  <a:rPr lang="fr-FR" sz="24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4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1)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Déterminer en utilisant les symétries et invariances, la direction du champ électrique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FR" sz="2400" b="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4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4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2)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Exprimer le champ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en un point de l’espace situé à la distance r du centre O.</a:t>
                </a:r>
              </a:p>
              <a:p>
                <a:pPr marL="0" indent="0">
                  <a:buNone/>
                </a:pPr>
                <a:r>
                  <a:rPr lang="fr-FR" sz="24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4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3)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	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En déduire le potentiel V.</a:t>
                </a:r>
              </a:p>
              <a:p>
                <a:pPr marL="0" indent="0">
                  <a:buNone/>
                </a:pPr>
                <a:r>
                  <a:rPr lang="fr-FR" sz="24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4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4)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Représenter les courbes du champ et du potentiel.</a:t>
                </a:r>
              </a:p>
              <a:p>
                <a:pPr marL="0" indent="0">
                  <a:buNone/>
                </a:pPr>
                <a:r>
                  <a:rPr lang="fr-FR" sz="24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4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5)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Reprendre les mêmes questions, pour une sphère chargée en volume avec une densité volumique de charge </a:t>
                </a:r>
                <a:r>
                  <a:rPr lang="el-GR" sz="2400" dirty="0" smtClean="0">
                    <a:latin typeface="Monotype Corsiva" panose="03010101010201010101" pitchFamily="66" charset="0"/>
                  </a:rPr>
                  <a:t>ρ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 négative.</a:t>
                </a:r>
                <a:endParaRPr lang="fr-FR" sz="24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99805"/>
                <a:ext cx="12192000" cy="5658196"/>
              </a:xfrm>
              <a:blipFill>
                <a:blip r:embed="rId3"/>
                <a:stretch>
                  <a:fillRect l="-750" r="-7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4/23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60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ous-titre 3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" y="676342"/>
                <a:ext cx="12191999" cy="6181658"/>
              </a:xfrm>
            </p:spPr>
            <p:txBody>
              <a:bodyPr>
                <a:normAutofit fontScale="92500" lnSpcReduction="20000"/>
              </a:bodyPr>
              <a:lstStyle/>
              <a:p>
                <a:pPr marL="285750" indent="-285750"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400" dirty="0" smtClean="0">
                    <a:latin typeface="Monotype Corsiva" panose="03010101010201010101" pitchFamily="66" charset="0"/>
                  </a:rPr>
                  <a:t>Dans la suite, On travaillera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dans le vide de permittivité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et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en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coordonnées sphériques </a:t>
                </a:r>
                <a:r>
                  <a:rPr lang="fr-FR" sz="24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(r,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fr-FR" sz="2400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sz="2400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FR" sz="2400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fr-FR" sz="24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.</a:t>
                </a:r>
                <a:endParaRPr lang="fr-FR" sz="2400" dirty="0" smtClean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285750" indent="-285750"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Le Champ Electrostatique :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est toute région de l’espace où toute charge s’y trouvant, est soumise à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une(des) force(s) électrostatique(s). </a:t>
                </a:r>
              </a:p>
              <a:p>
                <a:pPr marL="285750" indent="-285750"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Le Potentiel Electrostatique :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>
                    <a:latin typeface="Monotype Corsiva" panose="03010101010201010101" pitchFamily="66" charset="0"/>
                  </a:rPr>
                  <a:t>créé par une charge q placée en 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O en un point M ≠ O, est le champ scalaire V (M) défini par </a:t>
                </a:r>
                <a:r>
                  <a:rPr lang="fr-FR" sz="2400" dirty="0">
                    <a:latin typeface="Monotype Corsiva" panose="03010101010201010101" pitchFamily="66" charset="0"/>
                  </a:rPr>
                  <a:t>: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V(M)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40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sz="2400" b="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𝑂𝑀</m:t>
                        </m:r>
                      </m:den>
                    </m:f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. Il est lié  au champ électrique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créé par O en M,  par  la relation 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fr-FR" sz="2400" b="0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400" b="0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acc>
                      <m:accPr>
                        <m:chr m:val="⃗"/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.</a:t>
                </a:r>
              </a:p>
              <a:p>
                <a:pPr marL="285750" indent="-285750"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Principe de Curie :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Lorsque certaines causes produisent certains effets, les éléments de symétrie des causes doivent se retrouver dans les effets produits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. De cela découlent les notions de  :</a:t>
                </a:r>
              </a:p>
              <a:p>
                <a:pPr>
                  <a:buClr>
                    <a:srgbClr val="DE2A00"/>
                  </a:buClr>
                </a:pPr>
                <a:r>
                  <a:rPr lang="fr-FR" sz="2400" dirty="0">
                    <a:latin typeface="Monotype Corsiva" panose="03010101010201010101" pitchFamily="66" charset="0"/>
                  </a:rPr>
                  <a:t>	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</a:t>
                </a: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Plan de symétrie :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Si une distribution de charge admet un plan de symétrie paire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, alors en tout point de ce plan, le champ électrostatique est contenu dans ce plan.</a:t>
                </a:r>
                <a:endParaRPr lang="fr-FR" sz="2400" u="sng" dirty="0" smtClean="0">
                  <a:latin typeface="Monotype Corsiva" panose="03010101010201010101" pitchFamily="66" charset="0"/>
                </a:endParaRPr>
              </a:p>
              <a:p>
                <a:r>
                  <a:rPr lang="fr-FR" sz="24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</a:t>
                </a: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Symétrie sphérique :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>
                    <a:latin typeface="Monotype Corsiva" panose="03010101010201010101" pitchFamily="66" charset="0"/>
                  </a:rPr>
                  <a:t>S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i</a:t>
                </a:r>
                <a:r>
                  <a:rPr lang="el-GR" sz="2400" dirty="0">
                    <a:ea typeface="Cambria Math" panose="02040503050406030204" pitchFamily="18" charset="0"/>
                  </a:rPr>
                  <a:t> 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une distribution de charge est invariante par toute rotation autour d’un point fixe O, alors ses effets exprimés en coordonnées sphériques (r,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) ne dépendent que de la distance au centre r.</a:t>
                </a:r>
              </a:p>
              <a:p>
                <a:pPr marL="342900" indent="-342900"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Flux sortant à travers une surface :</a:t>
                </a:r>
                <a:r>
                  <a:rPr lang="fr-FR" sz="24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Le flux sortant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d’un champ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à travers une surface S est défini par</a:t>
                </a:r>
                <a:r>
                  <a:rPr lang="fr-FR" sz="24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       </m:t>
                    </m:r>
                    <m:r>
                      <a:rPr lang="el-GR" sz="2400" b="0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4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∬"/>
                            <m:limLoc m:val="undOvr"/>
                            <m:subHide m:val="on"/>
                            <m:supHide m:val="on"/>
                            <m:ctrlPr>
                              <a:rPr lang="fr-FR" sz="240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sz="2400" b="0" i="1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  <m:sub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fr-FR" sz="2400" b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acc>
                      <m:accPr>
                        <m:chr m:val="⃗"/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endParaRPr lang="fr-FR" sz="2400" dirty="0" smtClean="0">
                  <a:latin typeface="Monotype Corsiva" panose="03010101010201010101" pitchFamily="66" charset="0"/>
                </a:endParaRPr>
              </a:p>
              <a:p>
                <a:pPr marL="285750" indent="-285750"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400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Théorème de Gauss :</a:t>
                </a:r>
                <a:r>
                  <a:rPr lang="fr-FR" sz="24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Le flux sortant d’un champ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à travers une surface fermée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est égal à la somme des charges intérieures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 dans la surface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fr-FR" sz="2400" dirty="0" smtClean="0">
                    <a:latin typeface="Monotype Corsiva" panose="03010101010201010101" pitchFamily="66" charset="0"/>
                  </a:rPr>
                  <a:t>, le tout divisé par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fr-FR" sz="2400" b="0" dirty="0" smtClean="0">
                    <a:latin typeface="Monotype Corsiva" panose="03010101010201010101" pitchFamily="66" charset="0"/>
                  </a:rPr>
                  <a:t> </a:t>
                </a:r>
              </a:p>
              <a:p>
                <a:r>
                  <a:rPr lang="fr-FR" sz="2400" dirty="0">
                    <a:latin typeface="Monotype Corsiva" panose="03010101010201010101" pitchFamily="66" charset="0"/>
                  </a:rPr>
                  <a:t>E</a:t>
                </a:r>
                <a:r>
                  <a:rPr lang="fr-FR" sz="2400" dirty="0" smtClean="0">
                    <a:latin typeface="Monotype Corsiva" panose="03010101010201010101" pitchFamily="66" charset="0"/>
                  </a:rPr>
                  <a:t>n d’autres termes</a:t>
                </a:r>
                <a:r>
                  <a:rPr lang="fr-FR" sz="2400" b="1" dirty="0" smtClean="0">
                    <a:latin typeface="Monotype Corsiva" panose="03010101010201010101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l-GR" sz="2400" b="0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lang="fr-FR" sz="2400" b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∯"/>
                            <m:limLoc m:val="undOvr"/>
                            <m:subHide m:val="on"/>
                            <m:supHide m:val="on"/>
                            <m:ctrlPr>
                              <a:rPr lang="fr-FR" sz="240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sz="2400" b="0" i="1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  <m:sub>
                        <m:r>
                          <a:rPr lang="el-GR" sz="24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24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fr-FR" sz="2400" b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fr-FR" sz="2400" b="0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fr-FR" sz="24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fr-FR" sz="2400" b="0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400" i="1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40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sz="2400" b="0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fr-FR" sz="2400" dirty="0" smtClean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4" name="Sous-titr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" y="676342"/>
                <a:ext cx="12191999" cy="6181658"/>
              </a:xfrm>
              <a:blipFill>
                <a:blip r:embed="rId2"/>
                <a:stretch>
                  <a:fillRect l="-650" t="-1479" r="-4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re 1"/>
          <p:cNvSpPr txBox="1">
            <a:spLocks/>
          </p:cNvSpPr>
          <p:nvPr/>
        </p:nvSpPr>
        <p:spPr>
          <a:xfrm>
            <a:off x="1" y="0"/>
            <a:ext cx="12192000" cy="6248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200" b="1" u="sng" dirty="0" smtClean="0">
                <a:latin typeface="Monotype Corsiva" panose="03010101010201010101" pitchFamily="66" charset="0"/>
              </a:rPr>
              <a:t>Considérations &amp; Prérequis </a:t>
            </a:r>
            <a:endParaRPr lang="fr-FR" sz="3200" b="1" u="sng" dirty="0">
              <a:latin typeface="Monotype Corsiva" panose="03010101010201010101" pitchFamily="66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5/23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3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657922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fr-FR" b="1" dirty="0" smtClean="0">
                    <a:solidFill>
                      <a:schemeClr val="accent2">
                        <a:lumMod val="75000"/>
                      </a:schemeClr>
                    </a:solidFill>
                    <a:latin typeface="Monotype Corsiva" panose="03010101010201010101" pitchFamily="66" charset="0"/>
                  </a:rPr>
                  <a:t>1) </a:t>
                </a:r>
                <a:r>
                  <a:rPr lang="fr-FR" b="1" u="sng" dirty="0" smtClean="0">
                    <a:solidFill>
                      <a:schemeClr val="accent2">
                        <a:lumMod val="75000"/>
                      </a:schemeClr>
                    </a:solidFill>
                    <a:latin typeface="Monotype Corsiva" panose="03010101010201010101" pitchFamily="66" charset="0"/>
                  </a:rPr>
                  <a:t>Détermination de la Direction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 u="sng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 u="sng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b="1" u="sng" dirty="0" smtClean="0">
                    <a:solidFill>
                      <a:schemeClr val="accent2">
                        <a:lumMod val="75000"/>
                      </a:schemeClr>
                    </a:solidFill>
                    <a:latin typeface="Monotype Corsiva" panose="03010101010201010101" pitchFamily="66" charset="0"/>
                  </a:rPr>
                  <a:t> en utilisant les </a:t>
                </a:r>
                <a:r>
                  <a:rPr lang="fr-FR" b="1" u="sng" dirty="0">
                    <a:latin typeface="Monotype Corsiva" panose="03010101010201010101" pitchFamily="66" charset="0"/>
                  </a:rPr>
                  <a:t>S</a:t>
                </a:r>
                <a:r>
                  <a:rPr lang="fr-FR" b="1" u="sng" dirty="0" smtClean="0">
                    <a:solidFill>
                      <a:schemeClr val="accent2">
                        <a:lumMod val="75000"/>
                      </a:schemeClr>
                    </a:solidFill>
                    <a:latin typeface="Monotype Corsiva" panose="03010101010201010101" pitchFamily="66" charset="0"/>
                  </a:rPr>
                  <a:t>ymétries </a:t>
                </a:r>
                <a:r>
                  <a:rPr lang="fr-FR" b="1" u="sng" dirty="0" smtClean="0">
                    <a:latin typeface="Monotype Corsiva" panose="03010101010201010101" pitchFamily="66" charset="0"/>
                  </a:rPr>
                  <a:t>&amp; I</a:t>
                </a:r>
                <a:r>
                  <a:rPr lang="fr-FR" b="1" u="sng" dirty="0" smtClean="0">
                    <a:solidFill>
                      <a:schemeClr val="accent2">
                        <a:lumMod val="75000"/>
                      </a:schemeClr>
                    </a:solidFill>
                    <a:latin typeface="Monotype Corsiva" panose="03010101010201010101" pitchFamily="66" charset="0"/>
                  </a:rPr>
                  <a:t>nvariances</a:t>
                </a:r>
                <a:r>
                  <a:rPr lang="fr-FR" b="1" dirty="0">
                    <a:latin typeface="Monotype Corsiva" panose="03010101010201010101" pitchFamily="66" charset="0"/>
                  </a:rPr>
                  <a:t/>
                </a:r>
                <a:br>
                  <a:rPr lang="fr-FR" b="1" dirty="0">
                    <a:latin typeface="Monotype Corsiva" panose="03010101010201010101" pitchFamily="66" charset="0"/>
                  </a:rPr>
                </a:br>
                <a:endParaRPr lang="fr-FR" b="1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2" name="Titr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657922"/>
              </a:xfrm>
              <a:blipFill>
                <a:blip r:embed="rId2"/>
                <a:stretch>
                  <a:fillRect t="-1852" b="-28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735980"/>
                <a:ext cx="5820937" cy="58097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dirty="0" smtClean="0"/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La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distribution étant uniforme de densité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surfacique de charge </a:t>
                </a:r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0,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Tous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les plans contenant (OM) sont des plans de symétrie paire de celle-ci. 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 b="0" i="0" dirty="0" smtClean="0">
                        <a:latin typeface="Cambria Math" panose="02040503050406030204" pitchFamily="18" charset="0"/>
                      </a:rPr>
                      <m:t>insi</m:t>
                    </m:r>
                    <m:r>
                      <a:rPr lang="fr-FR" sz="2000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(M) est dirigé suivant</a:t>
                </a:r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0" i="0" smtClean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.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>
                    <a:latin typeface="Monotype Corsiva" panose="03010101010201010101" pitchFamily="66" charset="0"/>
                  </a:rPr>
                  <a:t>De plus, cette distribution est invariante par toute rotation d’angle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quelconque. Ainsi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(M) </a:t>
                </a:r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ne dépend que de  r = OM.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Donc,  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v"/>
                </a:pPr>
                <a:r>
                  <a:rPr lang="fr-FR" sz="2000" dirty="0">
                    <a:latin typeface="Monotype Corsiva" panose="03010101010201010101" pitchFamily="66" charset="0"/>
                  </a:rPr>
                  <a:t>P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our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tout M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O,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avec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𝑂𝑀</m:t>
                            </m:r>
                          </m:e>
                        </m:acc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; Par conséquent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20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i="1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) 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est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dirig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é 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suivant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fr-FR" sz="2000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fr-FR" sz="200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fr-FR" sz="2000" baseline="-2500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r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.</m:t>
                            </m:r>
                            <m:r>
                              <m:rPr>
                                <m:nor/>
                              </m:rPr>
                              <a:rPr lang="fr-FR" sz="2000" i="0" dirty="0" smtClean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sz="2000" i="0" dirty="0" smtClean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si</m:t>
                            </m:r>
                            <m:r>
                              <m:rPr>
                                <m:nor/>
                              </m:rPr>
                              <a:rPr lang="fr-FR" sz="2000" i="0" dirty="0" smtClean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fr-FR" sz="200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fr-FR" sz="2000" b="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r-FR" sz="200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fr-FR" sz="2000" b="0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m:rPr>
                                <m:nor/>
                              </m:rPr>
                              <a:rPr lang="fr-FR" sz="2000" i="0" dirty="0" smtClean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.</m:t>
                            </m:r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)</m:t>
                            </m:r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p>
                              <m:sSupPr>
                                <m:ctrlPr>
                                  <a:rPr lang="fr-FR" sz="2000" b="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b="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fr-FR" sz="2000" b="0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𝑝𝑎𝑠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𝑑𝑖𝑟𝑒𝑐𝑡𝑖𝑜𝑛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𝑙𝑒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𝑐𝑎𝑠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é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𝑐h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𝑎𝑛𝑡</m:t>
                            </m:r>
                            <m:r>
                              <a:rPr lang="fr-FR" sz="2000" b="0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v"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Pour M = O, d’après ce qui précède,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est dirigé </a:t>
                </a:r>
                <a:r>
                  <a:rPr lang="fr-FR" sz="20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suivant </a:t>
                </a:r>
                <a14:m>
                  <m:oMath xmlns:m="http://schemas.openxmlformats.org/officeDocument/2006/math">
                    <m:r>
                      <a:rPr lang="fr-FR" sz="2000" b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i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OO</m:t>
                        </m:r>
                      </m:e>
                    </m:acc>
                    <m:r>
                      <a:rPr lang="fr-FR" sz="2000" b="0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fr-FR" sz="200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et n’a donc pas de direction</a:t>
                </a:r>
                <a:r>
                  <a:rPr lang="fr-FR" dirty="0" smtClean="0">
                    <a:solidFill>
                      <a:srgbClr val="DE2A00"/>
                    </a:solidFill>
                  </a:rPr>
                  <a:t>.</a:t>
                </a:r>
                <a:endParaRPr lang="fr-FR" dirty="0">
                  <a:solidFill>
                    <a:srgbClr val="DE2A00"/>
                  </a:solidFill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35980"/>
                <a:ext cx="5820937" cy="5809785"/>
              </a:xfrm>
              <a:blipFill>
                <a:blip r:embed="rId3"/>
                <a:stretch>
                  <a:fillRect l="-1047" t="-630" r="-13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8589892" y="4075288"/>
            <a:ext cx="3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937" y="1199353"/>
            <a:ext cx="6371063" cy="4883037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8629879" y="4374825"/>
            <a:ext cx="30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9132711" y="4044040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9403644" y="3542118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(</a:t>
            </a:r>
            <a:r>
              <a:rPr lang="fr-FR" b="1" dirty="0" smtClean="0">
                <a:solidFill>
                  <a:srgbClr val="0070C0"/>
                </a:solidFill>
              </a:rPr>
              <a:t>S)</a:t>
            </a:r>
            <a:endParaRPr lang="fr-FR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11235474" y="3935958"/>
                <a:ext cx="40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5474" y="3935958"/>
                <a:ext cx="4064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11582385" y="3891538"/>
                <a:ext cx="669073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d>
                        <m:dPr>
                          <m:ctrlP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fr-FR" b="1" dirty="0"/>
              </a:p>
              <a:p>
                <a:endParaRPr lang="fr-FR" b="1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385" y="3891538"/>
                <a:ext cx="669073" cy="6799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ZoneTexte 16"/>
          <p:cNvSpPr txBox="1"/>
          <p:nvPr/>
        </p:nvSpPr>
        <p:spPr>
          <a:xfrm>
            <a:off x="10765557" y="4352187"/>
            <a:ext cx="33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</a:t>
            </a:r>
            <a:endParaRPr lang="fr-FR" b="1" dirty="0"/>
          </a:p>
        </p:txBody>
      </p:sp>
      <p:sp>
        <p:nvSpPr>
          <p:cNvPr id="18" name="ZoneTexte 17"/>
          <p:cNvSpPr txBox="1"/>
          <p:nvPr/>
        </p:nvSpPr>
        <p:spPr>
          <a:xfrm>
            <a:off x="9804544" y="4336798"/>
            <a:ext cx="30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8553648" y="5285588"/>
                <a:ext cx="8499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fr-FR" sz="2000" b="1" dirty="0" smtClean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FR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648" y="5285588"/>
                <a:ext cx="84999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6/23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67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64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734427"/>
              </a:xfrm>
            </p:spPr>
            <p:txBody>
              <a:bodyPr/>
              <a:lstStyle/>
              <a:p>
                <a:pPr algn="ctr"/>
                <a:r>
                  <a:rPr lang="fr-FR" b="1" dirty="0" smtClean="0">
                    <a:latin typeface="Monotype Corsiva" panose="03010101010201010101" pitchFamily="66" charset="0"/>
                  </a:rPr>
                  <a:t>2) </a:t>
                </a:r>
                <a:r>
                  <a:rPr lang="fr-FR" b="1" u="sng" dirty="0" smtClean="0">
                    <a:latin typeface="Monotype Corsiva" panose="03010101010201010101" pitchFamily="66" charset="0"/>
                  </a:rPr>
                  <a:t>Expression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 u="sng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 u="sng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b="1" u="sng" dirty="0" smtClean="0">
                    <a:latin typeface="Monotype Corsiva" panose="03010101010201010101" pitchFamily="66" charset="0"/>
                  </a:rPr>
                  <a:t> </a:t>
                </a:r>
                <a:endParaRPr lang="fr-FR" b="1" u="sng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2" name="Titr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734427"/>
              </a:xfrm>
              <a:blipFill>
                <a:blip r:embed="rId2"/>
                <a:stretch>
                  <a:fillRect t="-1667" b="-3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" y="734427"/>
                <a:ext cx="8396868" cy="6123573"/>
              </a:xfrm>
            </p:spPr>
            <p:txBody>
              <a:bodyPr>
                <a:noAutofit/>
              </a:bodyPr>
              <a:lstStyle/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dirty="0" smtClean="0">
                    <a:latin typeface="Monotype Corsiva" panose="03010101010201010101" pitchFamily="66" charset="0"/>
                  </a:rPr>
                  <a:t>Si M = O,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</a:t>
                </a:r>
                <a:r>
                  <a:rPr lang="fr-FR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M = O )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fr-FR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car les </a:t>
                </a:r>
                <a:r>
                  <a:rPr lang="fr-FR" dirty="0">
                    <a:latin typeface="Monotype Corsiva" panose="03010101010201010101" pitchFamily="66" charset="0"/>
                  </a:rPr>
                  <a:t>champs élémentaires en O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créés par des points symétriques de la sphère par rapport à O, s’annulent 2 à 2, cela étant dû au </a:t>
                </a:r>
                <a:r>
                  <a:rPr lang="fr-FR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principe de symétrie.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dirty="0" smtClean="0">
                    <a:latin typeface="Monotype Corsiva" panose="03010101010201010101" pitchFamily="66" charset="0"/>
                  </a:rPr>
                  <a:t>Si M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O, d’après 1),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dirty="0">
                    <a:latin typeface="Monotype Corsiva" panose="03010101010201010101" pitchFamily="66" charset="0"/>
                  </a:rPr>
                  <a:t>(M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) = E</a:t>
                </a:r>
                <a:r>
                  <a:rPr lang="fr-FR" baseline="-25000" dirty="0" smtClean="0">
                    <a:latin typeface="Monotype Corsiva" panose="03010101010201010101" pitchFamily="66" charset="0"/>
                  </a:rPr>
                  <a:t>r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(r</a:t>
                </a:r>
                <a:r>
                  <a:rPr lang="fr-FR" dirty="0">
                    <a:latin typeface="Monotype Corsiva" panose="03010101010201010101" pitchFamily="66" charset="0"/>
                  </a:rPr>
                  <a:t>)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dirty="0">
                    <a:latin typeface="Monotype Corsiva" panose="03010101010201010101" pitchFamily="66" charset="0"/>
                  </a:rPr>
                  <a:t> avec E</a:t>
                </a:r>
                <a:r>
                  <a:rPr lang="fr-FR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dirty="0">
                    <a:latin typeface="Monotype Corsiva" panose="03010101010201010101" pitchFamily="66" charset="0"/>
                  </a:rPr>
                  <a:t>(r)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car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dirty="0">
                    <a:latin typeface="Monotype Corsiva" panose="03010101010201010101" pitchFamily="66" charset="0"/>
                  </a:rPr>
                  <a:t>(M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)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sont colinéaires de même sens.</a:t>
                </a:r>
              </a:p>
              <a:p>
                <a:pPr marL="0" indent="0">
                  <a:buNone/>
                </a:pPr>
                <a:r>
                  <a:rPr lang="fr-FR" dirty="0" smtClean="0">
                    <a:latin typeface="Monotype Corsiva" panose="03010101010201010101" pitchFamily="66" charset="0"/>
                  </a:rPr>
                  <a:t> 	Ainsi, la surface de Gauss adaptée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est simplement </a:t>
                </a:r>
                <a:r>
                  <a:rPr lang="fr-FR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une sphère de rayon r et de centre O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; 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	</a:t>
                </a:r>
                <a:r>
                  <a:rPr lang="fr-FR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</a:t>
                </a:r>
                <a:r>
                  <a:rPr lang="fr-FR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Déterminons </a:t>
                </a:r>
                <a:r>
                  <a:rPr lang="fr-FR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le flux </a:t>
                </a:r>
                <a14:m>
                  <m:oMath xmlns:m="http://schemas.openxmlformats.org/officeDocument/2006/math">
                    <m:r>
                      <a:rPr lang="fr-FR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l-G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sortant à travers cette  surface de </a:t>
                </a:r>
                <a:r>
                  <a:rPr lang="fr-FR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Gauss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endParaRPr lang="fr-FR" b="1" dirty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On a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∯</m:t>
                        </m:r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fr-FR" i="1">
                        <a:latin typeface="Monotype Corsiva" panose="03010101010201010101" pitchFamily="66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m:rPr>
                        <m:nor/>
                      </m:rPr>
                      <a:rPr lang="fr-FR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>
                        <a:latin typeface="Monotype Corsiva" panose="03010101010201010101" pitchFamily="66" charset="0"/>
                      </a:rPr>
                      <m:t>M</m:t>
                    </m:r>
                    <m:r>
                      <m:rPr>
                        <m:nor/>
                      </m:rPr>
                      <a:rPr lang="fr-FR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acc>
                  </m:oMath>
                </a14:m>
                <a:endParaRPr lang="fr-FR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∯</m:t>
                        </m:r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baseline="-25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)</a:t>
                </a:r>
                <a14:m>
                  <m:oMath xmlns:m="http://schemas.openxmlformats.org/officeDocument/2006/math">
                    <m:r>
                      <a:rPr lang="fr-F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)</a:t>
                </a:r>
                <a:r>
                  <a:rPr lang="fr-FR" dirty="0">
                    <a:latin typeface="Monotype Corsiva" panose="03010101010201010101" pitchFamily="66" charset="0"/>
                  </a:rPr>
                  <a:t>		</a:t>
                </a:r>
                <a:endParaRPr lang="fr-FR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                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∯"/>
                            <m:subHide m:val="on"/>
                            <m:sup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nary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fr-FR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nary>
                          <m:naryPr>
                            <m:chr m:val="∯"/>
                            <m:subHide m:val="on"/>
                            <m:sup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nary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car r est constant d’où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</a:t>
                </a:r>
                <a:r>
                  <a:rPr lang="fr-FR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est  aussi constant;</a:t>
                </a:r>
                <a:endParaRPr lang="fr-FR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fr-FR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fr-FR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 Donc 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𝚽</m:t>
                    </m:r>
                    <m:r>
                      <a:rPr lang="fr-FR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4</a:t>
                </a:r>
                <a:r>
                  <a:rPr lang="el-G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π</a:t>
                </a:r>
                <a:r>
                  <a:rPr lang="fr-FR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fr-FR" i="0" dirty="0" smtClean="0">
                  <a:latin typeface="Monotype Corsiva" panose="03010101010201010101" pitchFamily="66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Or d’après </a:t>
                </a:r>
                <a:r>
                  <a:rPr lang="fr-F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le </a:t>
                </a:r>
                <a:r>
                  <a:rPr lang="fr-FR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Théorème </a:t>
                </a:r>
                <a:r>
                  <a:rPr lang="fr-F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de Gauss,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𝚽</m:t>
                    </m:r>
                    <m:r>
                      <a:rPr lang="fr-FR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b="1" i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avec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>
                        <a:latin typeface="Monotype Corsiva" panose="030101010102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fr-FR" baseline="-25000">
                        <a:latin typeface="Monotype Corsiva" panose="03010101010201010101" pitchFamily="66" charset="0"/>
                      </a:rPr>
                      <m:t>int</m:t>
                    </m:r>
                    <m:r>
                      <m:rPr>
                        <m:nor/>
                      </m:rPr>
                      <a:rPr lang="fr-FR" baseline="-25000">
                        <a:latin typeface="Monotype Corsiva" panose="03010101010201010101" pitchFamily="66" charset="0"/>
                      </a:rPr>
                      <m:t>,</m:t>
                    </m:r>
                  </m:oMath>
                </a14:m>
                <a:r>
                  <a:rPr lang="fr-FR" dirty="0">
                    <a:latin typeface="Monotype Corsiva" panose="03010101010201010101" pitchFamily="66" charset="0"/>
                  </a:rPr>
                  <a:t> la charge totale à l’intérieur de cette 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sphère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.</a:t>
                </a:r>
                <a:endParaRPr lang="fr-FR" i="0" dirty="0" smtClean="0">
                  <a:latin typeface="Monotype Corsiva" panose="03010101010201010101" pitchFamily="66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	</a:t>
                </a:r>
                <a:endParaRPr lang="fr-FR" dirty="0" smtClean="0">
                  <a:latin typeface="Monotype Corsiva" panose="03010101010201010101" pitchFamily="66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734427"/>
                <a:ext cx="8396868" cy="6123573"/>
              </a:xfrm>
              <a:blipFill>
                <a:blip r:embed="rId3"/>
                <a:stretch>
                  <a:fillRect l="-581" b="-12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733" y="0"/>
            <a:ext cx="3977268" cy="4530627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9824224" y="2185639"/>
            <a:ext cx="33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O</a:t>
            </a:r>
            <a:endParaRPr lang="fr-FR" sz="2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1619571" y="1233641"/>
            <a:ext cx="356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P</a:t>
            </a:r>
            <a:endParaRPr lang="fr-FR" sz="20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8396869" y="3568390"/>
            <a:ext cx="401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P’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9781478" y="2676635"/>
                <a:ext cx="769434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𝑬𝒑</m:t>
                          </m:r>
                        </m:e>
                      </m:acc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478" y="2676635"/>
                <a:ext cx="769434" cy="437492"/>
              </a:xfrm>
              <a:prstGeom prst="rect">
                <a:avLst/>
              </a:prstGeom>
              <a:blipFill>
                <a:blip r:embed="rId5"/>
                <a:stretch>
                  <a:fillRect b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10037956" y="1739590"/>
                <a:ext cx="734122" cy="462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𝑬𝒑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956" y="1739590"/>
                <a:ext cx="734122" cy="462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/>
          <p:cNvSpPr txBox="1"/>
          <p:nvPr/>
        </p:nvSpPr>
        <p:spPr>
          <a:xfrm>
            <a:off x="10904447" y="2185639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10904447" y="614702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(</a:t>
            </a:r>
            <a:r>
              <a:rPr lang="fr-FR" b="1" dirty="0" smtClean="0">
                <a:solidFill>
                  <a:srgbClr val="0070C0"/>
                </a:solidFill>
              </a:rPr>
              <a:t>S)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1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7/23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58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76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6300439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.Ainsi,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>
                    <a:latin typeface="Monotype Corsiva" panose="03010101010201010101" pitchFamily="66" charset="0"/>
                  </a:rPr>
                  <a:t>Pour r &gt; R,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𝛷</m:t>
                    </m:r>
                    <m:r>
                      <a:rPr lang="fr-FR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i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nor/>
                      </m:rPr>
                      <a:rPr lang="fr-FR" sz="2000" dirty="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∯"/>
                                <m:limLoc m:val="undOvr"/>
                                <m:subHide m:val="on"/>
                                <m:supHide m:val="on"/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 où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S est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la surface de la sphère de centre O et de rayon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R car c’est sur elle qu’on  trouve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00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fr-FR" sz="2000" baseline="-2500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int</m:t>
                    </m:r>
                    <m:r>
                      <m:rPr>
                        <m:nor/>
                      </m:rPr>
                      <a:rPr lang="fr-FR" sz="2000" b="0" i="0" baseline="-25000" smtClean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.</m:t>
                    </m:r>
                    <m:r>
                      <a:rPr lang="fr-FR" sz="2000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∯"/>
                                <m:limLoc m:val="undOvr"/>
                                <m:subHide m:val="on"/>
                                <m:supHide m:val="on"/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′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car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est constante</a:t>
                </a: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   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sz="2000" dirty="0" smtClean="0"/>
              </a:p>
              <a:p>
                <a:pPr marL="0" indent="0">
                  <a:buNone/>
                </a:pPr>
                <a:r>
                  <a:rPr lang="fr-FR" sz="2000" dirty="0"/>
                  <a:t> </a:t>
                </a:r>
                <a:r>
                  <a:rPr lang="fr-FR" sz="2000" dirty="0" smtClean="0"/>
                  <a:t>             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</a:rPr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fr-FR" sz="2000" b="1" dirty="0">
                        <a:solidFill>
                          <a:srgbClr val="DE2A00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fr-FR" sz="2000" b="1" i="0" dirty="0" smtClean="0">
                        <a:solidFill>
                          <a:srgbClr val="DE2A00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fr-FR" sz="2000" b="1" dirty="0">
                        <a:solidFill>
                          <a:srgbClr val="DE2A0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fr-FR" sz="2000" b="1" dirty="0">
                        <a:solidFill>
                          <a:srgbClr val="DE2A00"/>
                        </a:solidFill>
                      </a:rPr>
                      <m:t>m</m:t>
                    </m:r>
                  </m:oMath>
                </a14:m>
                <a:endParaRPr lang="fr-FR" sz="2000" b="1" dirty="0" smtClean="0">
                  <a:solidFill>
                    <a:srgbClr val="DE2A00"/>
                  </a:solidFill>
                </a:endParaRPr>
              </a:p>
              <a:p>
                <a:pPr marL="0" indent="0">
                  <a:buNone/>
                </a:pPr>
                <a:r>
                  <a:rPr lang="fr-FR" sz="2000" dirty="0"/>
                  <a:t>	</a:t>
                </a:r>
                <a:r>
                  <a:rPr lang="fr-FR" sz="2000" dirty="0" smtClean="0"/>
                  <a:t>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 = E</a:t>
                </a:r>
                <a:r>
                  <a:rPr lang="fr-FR" sz="2000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dirty="0">
                    <a:latin typeface="Monotype Corsiva" panose="03010101010201010101" pitchFamily="66" charset="0"/>
                  </a:rPr>
                  <a:t>(r)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endParaRPr lang="fr-FR" sz="2000" dirty="0"/>
              </a:p>
              <a:p>
                <a:pPr marL="0" indent="0">
                  <a:buNone/>
                </a:pPr>
                <a:r>
                  <a:rPr lang="fr-FR" sz="2000" dirty="0"/>
                  <a:t>	</a:t>
                </a:r>
                <a:r>
                  <a:rPr lang="fr-FR" sz="2000" dirty="0" smtClean="0"/>
                  <a:t>Donc</a:t>
                </a:r>
                <a:endParaRPr lang="fr-FR" sz="2000" b="1" dirty="0" smtClean="0"/>
              </a:p>
              <a:p>
                <a:pPr marL="0" indent="0">
                  <a:buNone/>
                </a:pPr>
                <a:endParaRPr lang="fr-FR" sz="2000" b="1" u="sng" dirty="0" smtClean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 </a:t>
                </a:r>
                <a:r>
                  <a:rPr lang="fr-FR" sz="2000" b="1" u="sng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: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La 1</a:t>
                </a:r>
                <a:r>
                  <a:rPr lang="fr-FR" sz="2000" baseline="30000" dirty="0">
                    <a:latin typeface="Monotype Corsiva" panose="03010101010201010101" pitchFamily="66" charset="0"/>
                  </a:rPr>
                  <a:t>ère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égalité nous montre que ce champ est équivalent au champ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créé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par une charge ponctuelle placée en O de charge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Q </a:t>
                </a: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fr-FR" sz="2000" b="1" i="1" dirty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,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en un point M situé à une distance r de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O.</a:t>
                </a:r>
                <a:endParaRPr lang="fr-FR" sz="2000" b="1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6300439" cy="6858000"/>
              </a:xfrm>
              <a:blipFill>
                <a:blip r:embed="rId2"/>
                <a:stretch>
                  <a:fillRect l="-967" t="-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0764454"/>
                  </p:ext>
                </p:extLst>
              </p:nvPr>
            </p:nvGraphicFramePr>
            <p:xfrm>
              <a:off x="1349298" y="4839631"/>
              <a:ext cx="3479181" cy="606679"/>
            </p:xfrm>
            <a:graphic>
              <a:graphicData uri="http://schemas.openxmlformats.org/drawingml/2006/table">
                <a:tbl>
                  <a:tblPr/>
                  <a:tblGrid>
                    <a:gridCol w="3479181">
                      <a:extLst>
                        <a:ext uri="{9D8B030D-6E8A-4147-A177-3AD203B41FA5}">
                          <a16:colId xmlns:a16="http://schemas.microsoft.com/office/drawing/2014/main" val="2258891322"/>
                        </a:ext>
                      </a:extLst>
                    </a:gridCol>
                  </a:tblGrid>
                  <a:tr h="54641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fr-FR" sz="1800" b="1" i="1" smtClean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1800" b="1" dirty="0" smtClean="0">
                              <a:solidFill>
                                <a:srgbClr val="DE2A00"/>
                              </a:solidFill>
                            </a:rPr>
                            <a:t>(r </a:t>
                          </a:r>
                          <a14:m>
                            <m:oMath xmlns:m="http://schemas.openxmlformats.org/officeDocument/2006/math"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fr-FR" sz="1800" b="1" dirty="0" smtClean="0">
                              <a:solidFill>
                                <a:srgbClr val="DE2A00"/>
                              </a:solidFill>
                            </a:rPr>
                            <a:t>) </a:t>
                          </a:r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fr-FR" sz="1800" b="1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∗(</m:t>
                                  </m:r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  <m:sSup>
                                    <m:sSupPr>
                                      <m:ctrlP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fr-FR" sz="18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  <a:latin typeface="Calibri Light" panose="020F0302020204030204" pitchFamily="34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</a:rPr>
                                    <m:t> </m:t>
                                  </m:r>
                                </m:den>
                              </m:f>
                            </m:oMath>
                          </a14:m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</a:rPr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</a:rPr>
                                    <m:t>r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  <m:sSup>
                                    <m:sSupPr>
                                      <m:ctrlP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  <a:latin typeface="Calibri Light" panose="020F0302020204030204" pitchFamily="34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</a:rPr>
                                    <m:t> </m:t>
                                  </m:r>
                                </m:den>
                              </m:f>
                              <m:acc>
                                <m:accPr>
                                  <m:chr m:val="⃗"/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</a:rPr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</a:rPr>
                                    <m:t>r</m:t>
                                  </m:r>
                                </m:e>
                              </m:acc>
                            </m:oMath>
                          </a14:m>
                          <a:endParaRPr lang="fr-FR" dirty="0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25174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0764454"/>
                  </p:ext>
                </p:extLst>
              </p:nvPr>
            </p:nvGraphicFramePr>
            <p:xfrm>
              <a:off x="1349298" y="4839631"/>
              <a:ext cx="3479181" cy="606679"/>
            </p:xfrm>
            <a:graphic>
              <a:graphicData uri="http://schemas.openxmlformats.org/drawingml/2006/table">
                <a:tbl>
                  <a:tblPr/>
                  <a:tblGrid>
                    <a:gridCol w="3479181">
                      <a:extLst>
                        <a:ext uri="{9D8B030D-6E8A-4147-A177-3AD203B41FA5}">
                          <a16:colId xmlns:a16="http://schemas.microsoft.com/office/drawing/2014/main" val="2258891322"/>
                        </a:ext>
                      </a:extLst>
                    </a:gridCol>
                  </a:tblGrid>
                  <a:tr h="60667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175" t="-990" r="-350" b="-1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251747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777" y="363150"/>
            <a:ext cx="5867062" cy="4887721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250738" y="2807011"/>
            <a:ext cx="30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8840375" y="2437679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9603834" y="2807011"/>
            <a:ext cx="30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10504885" y="2837789"/>
            <a:ext cx="33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11375766" y="2356173"/>
                <a:ext cx="669073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d>
                        <m:dPr>
                          <m:ctrlP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5766" y="2356173"/>
                <a:ext cx="669073" cy="4029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/>
          <p:cNvSpPr txBox="1"/>
          <p:nvPr/>
        </p:nvSpPr>
        <p:spPr>
          <a:xfrm>
            <a:off x="9111308" y="1835308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(</a:t>
            </a:r>
            <a:r>
              <a:rPr lang="fr-FR" b="1" dirty="0" smtClean="0">
                <a:solidFill>
                  <a:srgbClr val="0070C0"/>
                </a:solidFill>
              </a:rPr>
              <a:t>S)</a:t>
            </a:r>
            <a:endParaRPr lang="fr-FR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0236820" y="794039"/>
                <a:ext cx="724829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fr-FR" sz="2000" b="1" dirty="0" smtClean="0"/>
                  <a:t>)</a:t>
                </a:r>
                <a:endParaRPr lang="fr-FR" sz="2000" b="1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6820" y="794039"/>
                <a:ext cx="724829" cy="429220"/>
              </a:xfrm>
              <a:prstGeom prst="rect">
                <a:avLst/>
              </a:prstGeom>
              <a:blipFill>
                <a:blip r:embed="rId6"/>
                <a:stretch>
                  <a:fillRect l="-4202" t="-8451" r="-840" b="-154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10760927" y="2356173"/>
                <a:ext cx="659444" cy="43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0927" y="2356173"/>
                <a:ext cx="659444" cy="437427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8/23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89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84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6050844" cy="6355644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 smtClean="0">
                    <a:latin typeface="Monotype Corsiva" panose="03010101010201010101" pitchFamily="66" charset="0"/>
                  </a:rPr>
                  <a:t>Pour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r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&lt; R,</a:t>
                </a:r>
                <a:endParaRPr lang="fr-FR" sz="2000" b="1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𝛷</m:t>
                    </m:r>
                    <m:r>
                      <a:rPr lang="fr-F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i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solidFill>
                          <a:schemeClr val="tx1"/>
                        </a:solidFill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, car aucune charge ne se trouve dans le volume délimité par Sg.</a:t>
                </a:r>
                <a:r>
                  <a:rPr lang="fr-FR" sz="2000" dirty="0">
                    <a:latin typeface="Monotype Corsiva" panose="03010101010201010101" pitchFamily="66" charset="0"/>
                  </a:rPr>
                  <a:t>		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fr-FR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</m:t>
                    </m:r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v/m</a:t>
                </a: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Donc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b="1" u="sng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 </a:t>
                </a: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: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Le cas r = R n’a pas été traité. En effet dans ce cas, on a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une discontinuité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à cause de la distribution surfacique;           car 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b="1" i="0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²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=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fr-FR" sz="2000" b="1" i="1" dirty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=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 i="0" smtClean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On ne peut qu’exprimer </a:t>
                </a:r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la discontinuité :</a:t>
                </a:r>
                <a:endParaRPr lang="fr-FR" sz="2000" dirty="0"/>
              </a:p>
              <a:p>
                <a:pPr marL="0" indent="0">
                  <a:buNone/>
                </a:pPr>
                <a:endParaRPr lang="fr-FR" sz="2000" dirty="0"/>
              </a:p>
              <a:p>
                <a:pPr marL="0" indent="0">
                  <a:buNone/>
                </a:pPr>
                <a:endParaRPr lang="fr-FR" sz="2000" b="1" dirty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6050844" cy="6355644"/>
              </a:xfrm>
              <a:blipFill>
                <a:blip r:embed="rId2"/>
                <a:stretch>
                  <a:fillRect l="-1007" r="-13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434916"/>
                  </p:ext>
                </p:extLst>
              </p:nvPr>
            </p:nvGraphicFramePr>
            <p:xfrm>
              <a:off x="1137975" y="2203947"/>
              <a:ext cx="2263698" cy="512954"/>
            </p:xfrm>
            <a:graphic>
              <a:graphicData uri="http://schemas.openxmlformats.org/drawingml/2006/table">
                <a:tbl>
                  <a:tblPr/>
                  <a:tblGrid>
                    <a:gridCol w="2263698">
                      <a:extLst>
                        <a:ext uri="{9D8B030D-6E8A-4147-A177-3AD203B41FA5}">
                          <a16:colId xmlns:a16="http://schemas.microsoft.com/office/drawing/2014/main" val="2275829471"/>
                        </a:ext>
                      </a:extLst>
                    </a:gridCol>
                  </a:tblGrid>
                  <a:tr h="5129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fr-FR" sz="1800" b="1" i="1" smtClean="0">
                                        <a:solidFill>
                                          <a:srgbClr val="DE2A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1800" b="1" i="1">
                                        <a:solidFill>
                                          <a:srgbClr val="DE2A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fr-FR" sz="1800" b="1" dirty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i="0" dirty="0" smtClean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i="0" dirty="0" smtClean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r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0" i="0" dirty="0" smtClean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i="0" dirty="0" smtClean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dirty="0" smtClean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&lt;</m:t>
                                </m:r>
                                <m:r>
                                  <a:rPr lang="fr-FR" sz="1800" b="1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fr-FR" sz="1800" b="1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dirty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i="0" dirty="0" smtClean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dirty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= </m:t>
                                </m:r>
                                <m:r>
                                  <a:rPr lang="fr-FR" sz="1800" b="1" i="1" dirty="0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sz="1800" b="1" i="1" smtClean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1" dirty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sz="1800" b="1" i="1">
                                        <a:solidFill>
                                          <a:srgbClr val="DE2A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800" b="1">
                                        <a:solidFill>
                                          <a:srgbClr val="DE2A00"/>
                                        </a:solidFill>
                                        <a:latin typeface="Monotype Corsiva" panose="03010101010201010101" pitchFamily="66" charset="0"/>
                                      </a:rPr>
                                      <m:t>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1800" b="1" baseline="-25000">
                                        <a:solidFill>
                                          <a:srgbClr val="DE2A00"/>
                                        </a:solidFill>
                                        <a:latin typeface="Monotype Corsiva" panose="03010101010201010101" pitchFamily="66" charset="0"/>
                                      </a:rPr>
                                      <m:t>r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fr-FR" sz="1800" b="1" dirty="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</a:rPr>
                                  <m:t> = 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sz="1800" b="1" i="1">
                                        <a:solidFill>
                                          <a:srgbClr val="DE2A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800" b="1" i="0" smtClean="0">
                                        <a:solidFill>
                                          <a:srgbClr val="DE2A00"/>
                                        </a:solidFill>
                                        <a:latin typeface="Monotype Corsiva" panose="03010101010201010101" pitchFamily="66" charset="0"/>
                                      </a:rPr>
                                      <m:t>0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747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434916"/>
                  </p:ext>
                </p:extLst>
              </p:nvPr>
            </p:nvGraphicFramePr>
            <p:xfrm>
              <a:off x="1137975" y="2203947"/>
              <a:ext cx="2263698" cy="512954"/>
            </p:xfrm>
            <a:graphic>
              <a:graphicData uri="http://schemas.openxmlformats.org/drawingml/2006/table">
                <a:tbl>
                  <a:tblPr/>
                  <a:tblGrid>
                    <a:gridCol w="2263698">
                      <a:extLst>
                        <a:ext uri="{9D8B030D-6E8A-4147-A177-3AD203B41FA5}">
                          <a16:colId xmlns:a16="http://schemas.microsoft.com/office/drawing/2014/main" val="2275829471"/>
                        </a:ext>
                      </a:extLst>
                    </a:gridCol>
                  </a:tblGrid>
                  <a:tr h="51295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268" t="-10588" r="-536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7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au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4459983"/>
                  </p:ext>
                </p:extLst>
              </p:nvPr>
            </p:nvGraphicFramePr>
            <p:xfrm>
              <a:off x="1137975" y="4791526"/>
              <a:ext cx="2884010" cy="636778"/>
            </p:xfrm>
            <a:graphic>
              <a:graphicData uri="http://schemas.openxmlformats.org/drawingml/2006/table">
                <a:tbl>
                  <a:tblPr/>
                  <a:tblGrid>
                    <a:gridCol w="2884010">
                      <a:extLst>
                        <a:ext uri="{9D8B030D-6E8A-4147-A177-3AD203B41FA5}">
                          <a16:colId xmlns:a16="http://schemas.microsoft.com/office/drawing/2014/main" val="442295719"/>
                        </a:ext>
                      </a:extLst>
                    </a:gridCol>
                  </a:tblGrid>
                  <a:tr h="636778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fr-FR" sz="1800" b="1" i="1" smtClean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(r</a:t>
                          </a:r>
                          <a14:m>
                            <m:oMath xmlns:m="http://schemas.openxmlformats.org/officeDocument/2006/math">
                              <m:r>
                                <a:rPr lang="fr-FR" sz="1800" b="1" i="0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800" b="1" i="1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800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) 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(r</a:t>
                          </a:r>
                          <a14:m>
                            <m:oMath xmlns:m="http://schemas.openxmlformats.org/officeDocument/2006/math">
                              <m:r>
                                <a:rPr lang="fr-FR" sz="1800" b="1" i="0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800" b="1" i="1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)  </a:t>
                          </a:r>
                          <a:r>
                            <a:rPr lang="fr-FR" sz="1800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num>
                                <m:den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 </m:t>
                                  </m:r>
                                </m:den>
                              </m:f>
                              <m:acc>
                                <m:accPr>
                                  <m:chr m:val="⃗"/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r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1800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.</a:t>
                          </a:r>
                          <a:endParaRPr lang="fr-FR" dirty="0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6597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au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4459983"/>
                  </p:ext>
                </p:extLst>
              </p:nvPr>
            </p:nvGraphicFramePr>
            <p:xfrm>
              <a:off x="1137975" y="4791526"/>
              <a:ext cx="2884010" cy="636778"/>
            </p:xfrm>
            <a:graphic>
              <a:graphicData uri="http://schemas.openxmlformats.org/drawingml/2006/table">
                <a:tbl>
                  <a:tblPr/>
                  <a:tblGrid>
                    <a:gridCol w="2884010">
                      <a:extLst>
                        <a:ext uri="{9D8B030D-6E8A-4147-A177-3AD203B41FA5}">
                          <a16:colId xmlns:a16="http://schemas.microsoft.com/office/drawing/2014/main" val="442295719"/>
                        </a:ext>
                      </a:extLst>
                    </a:gridCol>
                  </a:tblGrid>
                  <a:tr h="636778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211" t="-1905" r="-422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65971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2" name="Imag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902" y="0"/>
            <a:ext cx="5942098" cy="5897837"/>
          </a:xfrm>
          <a:prstGeom prst="rect">
            <a:avLst/>
          </a:prstGeom>
        </p:spPr>
      </p:pic>
      <p:sp>
        <p:nvSpPr>
          <p:cNvPr id="33" name="ZoneTexte 32"/>
          <p:cNvSpPr txBox="1"/>
          <p:nvPr/>
        </p:nvSpPr>
        <p:spPr>
          <a:xfrm>
            <a:off x="8921191" y="2980078"/>
            <a:ext cx="30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sp>
        <p:nvSpPr>
          <p:cNvPr id="34" name="ZoneTexte 33"/>
          <p:cNvSpPr txBox="1"/>
          <p:nvPr/>
        </p:nvSpPr>
        <p:spPr>
          <a:xfrm>
            <a:off x="10340680" y="2980078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35" name="ZoneTexte 34"/>
          <p:cNvSpPr txBox="1"/>
          <p:nvPr/>
        </p:nvSpPr>
        <p:spPr>
          <a:xfrm>
            <a:off x="9503150" y="2579968"/>
            <a:ext cx="30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36" name="ZoneTexte 35"/>
          <p:cNvSpPr txBox="1"/>
          <p:nvPr/>
        </p:nvSpPr>
        <p:spPr>
          <a:xfrm>
            <a:off x="9762519" y="2980078"/>
            <a:ext cx="33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10661957" y="2515436"/>
                <a:ext cx="669073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d>
                        <m:dPr>
                          <m:ctrlP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1957" y="2515436"/>
                <a:ext cx="669073" cy="4029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9400104" y="1832128"/>
                <a:ext cx="724829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fr-FR" sz="2000" b="1" dirty="0" smtClean="0"/>
                  <a:t>)</a:t>
                </a:r>
                <a:endParaRPr lang="fr-FR" sz="2000" b="1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104" y="1832128"/>
                <a:ext cx="724829" cy="429220"/>
              </a:xfrm>
              <a:prstGeom prst="rect">
                <a:avLst/>
              </a:prstGeom>
              <a:blipFill>
                <a:blip r:embed="rId7"/>
                <a:stretch>
                  <a:fillRect l="-4202" t="-10000" r="-840" b="-1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10010958" y="2498189"/>
                <a:ext cx="659444" cy="43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958" y="2498189"/>
                <a:ext cx="659444" cy="437427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9/23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1455208" y="1059155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(</a:t>
            </a:r>
            <a:r>
              <a:rPr lang="fr-FR" b="1" dirty="0" smtClean="0">
                <a:solidFill>
                  <a:srgbClr val="0070C0"/>
                </a:solidFill>
              </a:rPr>
              <a:t>S)</a:t>
            </a:r>
            <a:endParaRPr lang="fr-F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16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10114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Monotype Corsiva" panose="03010101010201010101" pitchFamily="66" charset="0"/>
              </a:rPr>
              <a:t>3) </a:t>
            </a:r>
            <a:r>
              <a:rPr lang="fr-FR" b="1" u="sng" dirty="0" smtClean="0">
                <a:latin typeface="Monotype Corsiva" panose="03010101010201010101" pitchFamily="66" charset="0"/>
              </a:rPr>
              <a:t>Déduction du </a:t>
            </a:r>
            <a:r>
              <a:rPr lang="fr-FR" b="1" u="sng" dirty="0">
                <a:latin typeface="Monotype Corsiva" panose="03010101010201010101" pitchFamily="66" charset="0"/>
              </a:rPr>
              <a:t>P</a:t>
            </a:r>
            <a:r>
              <a:rPr lang="fr-FR" b="1" u="sng" dirty="0" smtClean="0">
                <a:latin typeface="Monotype Corsiva" panose="03010101010201010101" pitchFamily="66" charset="0"/>
              </a:rPr>
              <a:t>otentiel V</a:t>
            </a:r>
            <a:endParaRPr lang="fr-FR" b="1" u="sng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710114"/>
                <a:ext cx="12191999" cy="61478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On a 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) = 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car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) n’est dirigé que suivant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  <m:r>
                      <a:rPr lang="fr-FR" sz="2000" b="0" i="0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; ainsi les autres composantes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sont 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𝑑𝑉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                                            nécessairement nulles.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			  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) 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𝒅𝒓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e>
                    </m:nary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 smtClean="0">
                    <a:latin typeface="Monotype Corsiva" panose="03010101010201010101" pitchFamily="66" charset="0"/>
                  </a:rPr>
                  <a:t>Pour r &gt; R,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sSup>
                          <m:sSupPr>
                            <m:ctrlP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²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, d’où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  <m:sSup>
                              <m:sSupPr>
                                <m:ctrlP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fr-FR" sz="2000" baseline="-25000"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latin typeface="Monotype Corsiva" panose="03010101010201010101" pitchFamily="66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latin typeface="Monotype Corsiva" panose="03010101010201010101" pitchFamily="66" charset="0"/>
                              </a:rPr>
                              <m:t>² </m:t>
                            </m:r>
                          </m:den>
                        </m:f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𝑑𝑟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c-à-d 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sSup>
                          <m:sSupPr>
                            <m:ctrlP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+ cste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La distribution étant repartie dans un espace fini (sphère S), on peut considérer que pour un point suffisamment éloigné, le potentiel est nul, c-à-d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0=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+∞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sSup>
                          <m:sSupPr>
                            <m:ctrlP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0" i="0" dirty="0" smtClean="0">
                            <a:latin typeface="Monotype Corsiva" panose="03010101010201010101" pitchFamily="66" charset="0"/>
                          </a:rPr>
                          <m:t>(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+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cste = 0 +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cste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d’où 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cste = 0.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Donc</a:t>
                </a:r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 :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On a encore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∗(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, ce qui correspond au potentiel créé en M par une charge ponctuelle de charge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             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Q = </a:t>
                </a:r>
                <a14:m>
                  <m:oMath xmlns:m="http://schemas.openxmlformats.org/officeDocument/2006/math"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fr-F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placée en O.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>
                    <a:latin typeface="Monotype Corsiva" panose="03010101010201010101" pitchFamily="66" charset="0"/>
                  </a:rPr>
                  <a:t>Pour r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&lt; R,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, d’où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𝑑𝑟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e>
                    </m:nary>
                    <m:r>
                      <a:rPr lang="fr-FR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c-</a:t>
                </a:r>
                <a:r>
                  <a:rPr lang="fr-FR" sz="2000" dirty="0">
                    <a:latin typeface="Monotype Corsiva" panose="03010101010201010101" pitchFamily="66" charset="0"/>
                  </a:rPr>
                  <a:t>à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-d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 =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cste</a:t>
                </a:r>
                <a:endParaRPr lang="fr-FR" sz="2000" b="1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    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Pour r = 0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, par définition, le potentiel élémentaire créé par un point P de la sphère S  en O est donné par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dV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𝒅𝒒</m:t>
                        </m:r>
                      </m:num>
                      <m:den>
                        <m:sSup>
                          <m:sSupPr>
                            <m:ctrlP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  <m:sSub>
                              <m:sSubPr>
                                <m:ctrlPr>
                                  <a:rPr lang="fr-FR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fr-FR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  <m:sup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fr-FR" dirty="0" smtClean="0"/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où </a:t>
                </a:r>
                <a14:m>
                  <m:oMath xmlns:m="http://schemas.openxmlformats.org/officeDocument/2006/math">
                    <m:r>
                      <a:rPr lang="fr-FR" sz="2000" b="0" i="1">
                        <a:latin typeface="Cambria Math" panose="02040503050406030204" pitchFamily="18" charset="0"/>
                      </a:rPr>
                      <m:t>𝑑𝑞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est la charge élémentaire en P.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10114"/>
                <a:ext cx="12191999" cy="6147886"/>
              </a:xfrm>
              <a:blipFill>
                <a:blip r:embed="rId2"/>
                <a:stretch>
                  <a:fillRect l="-500" r="-8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8907730"/>
                  </p:ext>
                </p:extLst>
              </p:nvPr>
            </p:nvGraphicFramePr>
            <p:xfrm>
              <a:off x="771237" y="3629892"/>
              <a:ext cx="1999672" cy="623454"/>
            </p:xfrm>
            <a:graphic>
              <a:graphicData uri="http://schemas.openxmlformats.org/drawingml/2006/table">
                <a:tbl>
                  <a:tblPr/>
                  <a:tblGrid>
                    <a:gridCol w="1999672">
                      <a:extLst>
                        <a:ext uri="{9D8B030D-6E8A-4147-A177-3AD203B41FA5}">
                          <a16:colId xmlns:a16="http://schemas.microsoft.com/office/drawing/2014/main" val="2541383365"/>
                        </a:ext>
                      </a:extLst>
                    </a:gridCol>
                  </a:tblGrid>
                  <a:tr h="623454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fr-FR" sz="1800" b="1" dirty="0">
                                  <a:solidFill>
                                    <a:srgbClr val="DE2A00"/>
                                  </a:solidFill>
                                  <a:latin typeface="Monotype Corsiva" panose="03010101010201010101" pitchFamily="66" charset="0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fr-FR" sz="1800" b="1" dirty="0">
                                  <a:solidFill>
                                    <a:srgbClr val="DE2A00"/>
                                  </a:solidFill>
                                  <a:latin typeface="Monotype Corsiva" panose="03010101010201010101" pitchFamily="66" charset="0"/>
                                </a:rPr>
                                <m:t> &gt; </m:t>
                              </m:r>
                              <m:r>
                                <a:rPr lang="fr-FR" sz="1800" b="1" i="1" dirty="0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fr-FR" sz="1800" b="1" dirty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  <m:sSup>
                                    <m:sSupPr>
                                      <m:ctrlP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fr-FR" sz="18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dirty="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8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oMath>
                          </a14:m>
                          <a:endParaRPr lang="fr-FR" dirty="0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37749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8907730"/>
                  </p:ext>
                </p:extLst>
              </p:nvPr>
            </p:nvGraphicFramePr>
            <p:xfrm>
              <a:off x="771237" y="3629892"/>
              <a:ext cx="1999672" cy="623454"/>
            </p:xfrm>
            <a:graphic>
              <a:graphicData uri="http://schemas.openxmlformats.org/drawingml/2006/table">
                <a:tbl>
                  <a:tblPr/>
                  <a:tblGrid>
                    <a:gridCol w="1999672">
                      <a:extLst>
                        <a:ext uri="{9D8B030D-6E8A-4147-A177-3AD203B41FA5}">
                          <a16:colId xmlns:a16="http://schemas.microsoft.com/office/drawing/2014/main" val="2541383365"/>
                        </a:ext>
                      </a:extLst>
                    </a:gridCol>
                  </a:tblGrid>
                  <a:tr h="62345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304" t="-971" r="-608" b="-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37749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10/23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13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79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" y="78058"/>
                <a:ext cx="6266984" cy="67799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  Ainsi V(O)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∯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f>
                      <m:f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∯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𝑑𝑆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car  le facteur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est constant,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		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 Donc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V(O)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sSub>
                          <m:sSubPr>
                            <m:ctrlP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or V(0) = cste, </a:t>
                </a:r>
                <a:r>
                  <a:rPr lang="fr-FR" sz="200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d’où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cste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sSub>
                          <m:sSub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lang="fr-FR" sz="2000" b="1" dirty="0" smtClean="0">
                  <a:latin typeface="Monotype Corsiva" panose="03010101010201010101" pitchFamily="66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  Par conséquent </a:t>
                </a:r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Remarques :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V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=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V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. Ainsi le potentiel est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continu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 pour r = R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et on peut alors écrire :</a:t>
                </a: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	</a:t>
                </a: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     </a:t>
                </a:r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Le potentiel est bien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continu pour r = R,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contrairement au champ qui ne l’est pas!</a:t>
                </a:r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78058"/>
                <a:ext cx="6266984" cy="6779941"/>
              </a:xfrm>
              <a:blipFill>
                <a:blip r:embed="rId2"/>
                <a:stretch>
                  <a:fillRect l="-9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960103"/>
                  </p:ext>
                </p:extLst>
              </p:nvPr>
            </p:nvGraphicFramePr>
            <p:xfrm>
              <a:off x="2094402" y="2996244"/>
              <a:ext cx="2078182" cy="554182"/>
            </p:xfrm>
            <a:graphic>
              <a:graphicData uri="http://schemas.openxmlformats.org/drawingml/2006/table">
                <a:tbl>
                  <a:tblPr/>
                  <a:tblGrid>
                    <a:gridCol w="2078182">
                      <a:extLst>
                        <a:ext uri="{9D8B030D-6E8A-4147-A177-3AD203B41FA5}">
                          <a16:colId xmlns:a16="http://schemas.microsoft.com/office/drawing/2014/main" val="3504414717"/>
                        </a:ext>
                      </a:extLst>
                    </a:gridCol>
                  </a:tblGrid>
                  <a:tr h="554182">
                    <a:tc>
                      <a:txBody>
                        <a:bodyPr/>
                        <a:lstStyle/>
                        <a:p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</a:rPr>
                            <a:t>V(r </a:t>
                          </a:r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&lt; R</a:t>
                          </a:r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</a:rPr>
                            <a:t>) </a:t>
                          </a:r>
                          <a:r>
                            <a:rPr lang="fr-FR" b="1" dirty="0">
                              <a:solidFill>
                                <a:srgbClr val="DE2A00"/>
                              </a:solidFill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  <m: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 smtClean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𝝐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fr-FR" b="1" dirty="0">
                              <a:solidFill>
                                <a:srgbClr val="DE2A00"/>
                              </a:solidFill>
                            </a:rPr>
                            <a:t> </a:t>
                          </a:r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</a:rPr>
                            <a:t>v </a:t>
                          </a:r>
                          <a:endParaRPr lang="fr-FR" dirty="0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3246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960103"/>
                  </p:ext>
                </p:extLst>
              </p:nvPr>
            </p:nvGraphicFramePr>
            <p:xfrm>
              <a:off x="2094402" y="2996244"/>
              <a:ext cx="2078182" cy="554182"/>
            </p:xfrm>
            <a:graphic>
              <a:graphicData uri="http://schemas.openxmlformats.org/drawingml/2006/table">
                <a:tbl>
                  <a:tblPr/>
                  <a:tblGrid>
                    <a:gridCol w="2078182">
                      <a:extLst>
                        <a:ext uri="{9D8B030D-6E8A-4147-A177-3AD203B41FA5}">
                          <a16:colId xmlns:a16="http://schemas.microsoft.com/office/drawing/2014/main" val="3504414717"/>
                        </a:ext>
                      </a:extLst>
                    </a:gridCol>
                  </a:tblGrid>
                  <a:tr h="554182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292" t="-1087" r="-585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3246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au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6665362"/>
                  </p:ext>
                </p:extLst>
              </p:nvPr>
            </p:nvGraphicFramePr>
            <p:xfrm>
              <a:off x="375085" y="4462752"/>
              <a:ext cx="2381395" cy="760730"/>
            </p:xfrm>
            <a:graphic>
              <a:graphicData uri="http://schemas.openxmlformats.org/drawingml/2006/table">
                <a:tbl>
                  <a:tblPr/>
                  <a:tblGrid>
                    <a:gridCol w="2381395">
                      <a:extLst>
                        <a:ext uri="{9D8B030D-6E8A-4147-A177-3AD203B41FA5}">
                          <a16:colId xmlns:a16="http://schemas.microsoft.com/office/drawing/2014/main" val="2370635051"/>
                        </a:ext>
                      </a:extLst>
                    </a:gridCol>
                  </a:tblGrid>
                  <a:tr h="554182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</a:rPr>
                            <a:t>V</a:t>
                          </a:r>
                          <a14:m>
                            <m:oMath xmlns:m="http://schemas.openxmlformats.org/officeDocument/2006/math">
                              <m:r>
                                <a:rPr lang="fr-FR" b="1" i="1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fr-FR" b="1" dirty="0">
                              <a:solidFill>
                                <a:srgbClr val="DE2A00"/>
                              </a:solidFill>
                            </a:rPr>
                            <a:t>(</a:t>
                          </a:r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</a:rPr>
                            <a:t>r</a:t>
                          </a:r>
                          <a14:m>
                            <m:oMath xmlns:m="http://schemas.openxmlformats.org/officeDocument/2006/math">
                              <m:r>
                                <a:rPr lang="fr-FR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fr-FR" b="1" dirty="0">
                              <a:solidFill>
                                <a:srgbClr val="DE2A00"/>
                              </a:solidFill>
                            </a:rPr>
                            <a:t>) </a:t>
                          </a:r>
                          <a:r>
                            <a:rPr lang="fr-FR" b="1" dirty="0" smtClean="0">
                              <a:solidFill>
                                <a:srgbClr val="DE2A00"/>
                              </a:solidFill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  <m: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</m:num>
                                <m:den>
                                  <m:r>
                                    <a:rPr lang="fr-FR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b="1" baseline="-25000">
                                      <a:solidFill>
                                        <a:srgbClr val="DE2A00"/>
                                      </a:solidFill>
                                      <a:latin typeface="Calibri Light" panose="020F0302020204030204" pitchFamily="34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b="1">
                                      <a:solidFill>
                                        <a:srgbClr val="DE2A00"/>
                                      </a:solidFill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fr-FR" b="1" i="0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0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oMath>
                          </a14:m>
                          <a:endParaRPr lang="fr-FR" b="1" dirty="0" smtClean="0">
                            <a:solidFill>
                              <a:srgbClr val="DE2A00"/>
                            </a:solidFill>
                          </a:endParaRPr>
                        </a:p>
                        <a:p>
                          <a:endParaRPr lang="fr-FR" dirty="0"/>
                        </a:p>
                      </a:txBody>
                      <a:tcPr anchor="ctr"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8873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au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6665362"/>
                  </p:ext>
                </p:extLst>
              </p:nvPr>
            </p:nvGraphicFramePr>
            <p:xfrm>
              <a:off x="375085" y="4462752"/>
              <a:ext cx="2381395" cy="760730"/>
            </p:xfrm>
            <a:graphic>
              <a:graphicData uri="http://schemas.openxmlformats.org/drawingml/2006/table">
                <a:tbl>
                  <a:tblPr/>
                  <a:tblGrid>
                    <a:gridCol w="2381395">
                      <a:extLst>
                        <a:ext uri="{9D8B030D-6E8A-4147-A177-3AD203B41FA5}">
                          <a16:colId xmlns:a16="http://schemas.microsoft.com/office/drawing/2014/main" val="2370635051"/>
                        </a:ext>
                      </a:extLst>
                    </a:gridCol>
                  </a:tblGrid>
                  <a:tr h="76073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255" t="-800" r="-510" b="-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887386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85" y="189571"/>
            <a:ext cx="5318757" cy="5258884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8591826" y="2819013"/>
            <a:ext cx="33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O</a:t>
            </a:r>
            <a:endParaRPr lang="fr-FR" sz="2000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11062010" y="1066373"/>
            <a:ext cx="356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P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8361386" y="2300309"/>
                <a:ext cx="734122" cy="427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386" y="2300309"/>
                <a:ext cx="734122" cy="427618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10542721" y="450096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(</a:t>
            </a:r>
            <a:r>
              <a:rPr lang="fr-FR" b="1" dirty="0" smtClean="0">
                <a:solidFill>
                  <a:srgbClr val="0070C0"/>
                </a:solidFill>
              </a:rPr>
              <a:t>S)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10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11/23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68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6161"/>
          </a:xfrm>
        </p:spPr>
        <p:txBody>
          <a:bodyPr/>
          <a:lstStyle/>
          <a:p>
            <a:pPr algn="ctr"/>
            <a:r>
              <a:rPr lang="fr-FR" b="1" dirty="0" smtClean="0">
                <a:latin typeface="Monotype Corsiva" panose="03010101010201010101" pitchFamily="66" charset="0"/>
              </a:rPr>
              <a:t>4) </a:t>
            </a:r>
            <a:r>
              <a:rPr lang="fr-FR" b="1" u="sng" dirty="0" smtClean="0">
                <a:latin typeface="Monotype Corsiva" panose="03010101010201010101" pitchFamily="66" charset="0"/>
              </a:rPr>
              <a:t>Représentations </a:t>
            </a:r>
            <a:r>
              <a:rPr lang="fr-FR" b="1" u="sng" dirty="0">
                <a:latin typeface="Monotype Corsiva" panose="03010101010201010101" pitchFamily="66" charset="0"/>
              </a:rPr>
              <a:t>d</a:t>
            </a:r>
            <a:r>
              <a:rPr lang="fr-FR" b="1" u="sng" dirty="0" smtClean="0">
                <a:latin typeface="Monotype Corsiva" panose="03010101010201010101" pitchFamily="66" charset="0"/>
              </a:rPr>
              <a:t>es </a:t>
            </a:r>
            <a:r>
              <a:rPr lang="fr-FR" b="1" u="sng" dirty="0">
                <a:latin typeface="Monotype Corsiva" panose="03010101010201010101" pitchFamily="66" charset="0"/>
              </a:rPr>
              <a:t>C</a:t>
            </a:r>
            <a:r>
              <a:rPr lang="fr-FR" b="1" u="sng" dirty="0" smtClean="0">
                <a:latin typeface="Monotype Corsiva" panose="03010101010201010101" pitchFamily="66" charset="0"/>
              </a:rPr>
              <a:t>ourbes du </a:t>
            </a:r>
            <a:r>
              <a:rPr lang="fr-FR" b="1" u="sng" dirty="0">
                <a:latin typeface="Monotype Corsiva" panose="03010101010201010101" pitchFamily="66" charset="0"/>
              </a:rPr>
              <a:t>C</a:t>
            </a:r>
            <a:r>
              <a:rPr lang="fr-FR" b="1" u="sng" dirty="0" smtClean="0">
                <a:latin typeface="Monotype Corsiva" panose="03010101010201010101" pitchFamily="66" charset="0"/>
              </a:rPr>
              <a:t>hamp et du Potentiel</a:t>
            </a:r>
            <a:endParaRPr lang="fr-FR" b="1" u="sng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874904"/>
                <a:ext cx="12152810" cy="5985713"/>
              </a:xfrm>
            </p:spPr>
            <p:txBody>
              <a:bodyPr numCol="2">
                <a:normAutofit/>
              </a:bodyPr>
              <a:lstStyle/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},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∈[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</m:e>
                          <m:e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  <m:sSup>
                                  <m:sSupPr>
                                    <m:ctrlP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r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²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]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</m:e>
                        </m:eqArr>
                      </m:e>
                    </m:d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 Etudions E sur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E est dérivable sur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comme fonction rationnelle et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]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sSup>
                          <m:sSupPr>
                            <m:ctrlP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</m:den>
                    </m:f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&lt; 0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Donc E est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strictement décroissante sur </a:t>
                </a:r>
                <a14:m>
                  <m:oMath xmlns:m="http://schemas.openxmlformats.org/officeDocument/2006/math"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  <m:r>
                      <a:rPr lang="fr-FR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D’autre part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fr-FR" sz="2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fr-FR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 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𝒍𝒊𝒎</m:t>
                            </m:r>
                          </m:e>
                          <m:lim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fr-FR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p>
                                <m:r>
                                  <a:rPr lang="fr-FR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num>
                      <m:den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chemeClr val="tx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fr-FR" sz="2000" b="1" dirty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 smtClean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	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			 </a:t>
                </a: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				       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num>
                              <m:den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</m:e>
                          <m:e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  <m:sSup>
                                  <m:sSupPr>
                                    <m:ctrlP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r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;+∞[</m:t>
                            </m:r>
                          </m:e>
                        </m:eqArr>
                      </m:e>
                    </m:d>
                  </m:oMath>
                </a14:m>
                <a:endParaRPr lang="fr-FR" sz="2000" b="1" dirty="0" smtClean="0">
                  <a:latin typeface="Monotype Corsiva" panose="03010101010201010101" pitchFamily="66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DE2A00"/>
                  </a:buClr>
                  <a:buNone/>
                </a:pPr>
                <a:r>
                  <a:rPr lang="fr-FR" sz="2000" b="1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 Etudions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V sur </a:t>
                </a:r>
                <a14:m>
                  <m:oMath xmlns:m="http://schemas.openxmlformats.org/officeDocument/2006/math">
                    <m:r>
                      <a:rPr lang="fr-FR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endParaRPr lang="fr-FR" sz="2000" b="1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V est dérivable sur</a:t>
                </a: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comme fonction rationnelle et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∈[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,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V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sSup>
                          <m:sSupPr>
                            <m:ctrlP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</m:den>
                    </m:f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 &lt; 0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Donc V est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strictement décroissante sur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  <m:r>
                      <a:rPr lang="fr-FR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D’autre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part,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𝒍𝒊𝒎</m:t>
                            </m:r>
                          </m:e>
                          <m:lim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											                             </a:t>
                </a:r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74904"/>
                <a:ext cx="12152810" cy="5985713"/>
              </a:xfrm>
              <a:blipFill>
                <a:blip r:embed="rId2"/>
                <a:stretch>
                  <a:fillRect l="-5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5285944"/>
                  </p:ext>
                </p:extLst>
              </p:nvPr>
            </p:nvGraphicFramePr>
            <p:xfrm>
              <a:off x="1454907" y="4409666"/>
              <a:ext cx="2216727" cy="20984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6282">
                      <a:extLst>
                        <a:ext uri="{9D8B030D-6E8A-4147-A177-3AD203B41FA5}">
                          <a16:colId xmlns:a16="http://schemas.microsoft.com/office/drawing/2014/main" val="2007300073"/>
                        </a:ext>
                      </a:extLst>
                    </a:gridCol>
                    <a:gridCol w="1520445">
                      <a:extLst>
                        <a:ext uri="{9D8B030D-6E8A-4147-A177-3AD203B41FA5}">
                          <a16:colId xmlns:a16="http://schemas.microsoft.com/office/drawing/2014/main" val="1388537370"/>
                        </a:ext>
                      </a:extLst>
                    </a:gridCol>
                  </a:tblGrid>
                  <a:tr h="4425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R          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oMath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281441"/>
                      </a:ext>
                    </a:extLst>
                  </a:tr>
                  <a:tr h="502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E’(r)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05637771"/>
                      </a:ext>
                    </a:extLst>
                  </a:tr>
                  <a:tr h="1153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baseline="-25000">
                                        <a:latin typeface="Calibri Light" panose="020F0302020204030204" pitchFamily="34" charset="0"/>
                                        <a:cs typeface="Calibri Light" panose="020F0302020204030204" pitchFamily="34" charset="0"/>
                                      </a:rPr>
                                      <m:t>o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/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dirty="0" smtClean="0"/>
                        </a:p>
                        <a:p>
                          <a:r>
                            <a:rPr lang="fr-FR" dirty="0" smtClean="0"/>
                            <a:t>        </a:t>
                          </a:r>
                          <a:endParaRPr lang="fr-FR" sz="2800" dirty="0" smtClean="0"/>
                        </a:p>
                        <a:p>
                          <a:r>
                            <a:rPr lang="fr-FR" dirty="0" smtClean="0"/>
                            <a:t>                0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56854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5285944"/>
                  </p:ext>
                </p:extLst>
              </p:nvPr>
            </p:nvGraphicFramePr>
            <p:xfrm>
              <a:off x="1454907" y="4409666"/>
              <a:ext cx="2216727" cy="20984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6282">
                      <a:extLst>
                        <a:ext uri="{9D8B030D-6E8A-4147-A177-3AD203B41FA5}">
                          <a16:colId xmlns:a16="http://schemas.microsoft.com/office/drawing/2014/main" val="2007300073"/>
                        </a:ext>
                      </a:extLst>
                    </a:gridCol>
                    <a:gridCol w="1520445">
                      <a:extLst>
                        <a:ext uri="{9D8B030D-6E8A-4147-A177-3AD203B41FA5}">
                          <a16:colId xmlns:a16="http://schemas.microsoft.com/office/drawing/2014/main" val="1388537370"/>
                        </a:ext>
                      </a:extLst>
                    </a:gridCol>
                  </a:tblGrid>
                  <a:tr h="4425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6400" t="-6849" r="-800" b="-3821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2281441"/>
                      </a:ext>
                    </a:extLst>
                  </a:tr>
                  <a:tr h="502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E’(r)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400" t="-95122" r="-800" b="-240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5637771"/>
                      </a:ext>
                    </a:extLst>
                  </a:tr>
                  <a:tr h="1153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6400" t="-84211" r="-800" b="-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568542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Connecteur droit avec flèche 14"/>
          <p:cNvCxnSpPr/>
          <p:nvPr/>
        </p:nvCxnSpPr>
        <p:spPr>
          <a:xfrm>
            <a:off x="2648664" y="5675294"/>
            <a:ext cx="415636" cy="391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au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856913"/>
                  </p:ext>
                </p:extLst>
              </p:nvPr>
            </p:nvGraphicFramePr>
            <p:xfrm>
              <a:off x="7536931" y="4328368"/>
              <a:ext cx="2388722" cy="22609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50868">
                      <a:extLst>
                        <a:ext uri="{9D8B030D-6E8A-4147-A177-3AD203B41FA5}">
                          <a16:colId xmlns:a16="http://schemas.microsoft.com/office/drawing/2014/main" val="3304333113"/>
                        </a:ext>
                      </a:extLst>
                    </a:gridCol>
                    <a:gridCol w="1537854">
                      <a:extLst>
                        <a:ext uri="{9D8B030D-6E8A-4147-A177-3AD203B41FA5}">
                          <a16:colId xmlns:a16="http://schemas.microsoft.com/office/drawing/2014/main" val="4205062522"/>
                        </a:ext>
                      </a:extLst>
                    </a:gridCol>
                  </a:tblGrid>
                  <a:tr h="4788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 smtClean="0"/>
                            <a:t>R            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oMath>
                          </a14:m>
                          <a:r>
                            <a:rPr lang="fr-FR" dirty="0" smtClean="0"/>
                            <a:t>      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307430"/>
                      </a:ext>
                    </a:extLst>
                  </a:tr>
                  <a:tr h="4597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V’(r)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4054135"/>
                      </a:ext>
                    </a:extLst>
                  </a:tr>
                  <a:tr h="13224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1800" baseline="-25000">
                                        <a:latin typeface="Monotype Corsiva" panose="03010101010201010101" pitchFamily="66" charset="0"/>
                                        <a:cs typeface="Calibri Light" panose="020F0302020204030204" pitchFamily="34" charset="0"/>
                                      </a:rPr>
                                      <m:t>o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1800">
                                        <a:latin typeface="Monotype Corsiva" panose="03010101010201010101" pitchFamily="66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dirty="0" smtClean="0"/>
                        </a:p>
                        <a:p>
                          <a:pPr algn="l"/>
                          <a:endParaRPr lang="fr-FR" dirty="0" smtClean="0"/>
                        </a:p>
                        <a:p>
                          <a:pPr algn="l"/>
                          <a:r>
                            <a:rPr lang="fr-FR" dirty="0" smtClean="0"/>
                            <a:t>                 0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423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au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856913"/>
                  </p:ext>
                </p:extLst>
              </p:nvPr>
            </p:nvGraphicFramePr>
            <p:xfrm>
              <a:off x="7536931" y="4328368"/>
              <a:ext cx="2388722" cy="22609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50868">
                      <a:extLst>
                        <a:ext uri="{9D8B030D-6E8A-4147-A177-3AD203B41FA5}">
                          <a16:colId xmlns:a16="http://schemas.microsoft.com/office/drawing/2014/main" val="3304333113"/>
                        </a:ext>
                      </a:extLst>
                    </a:gridCol>
                    <a:gridCol w="1537854">
                      <a:extLst>
                        <a:ext uri="{9D8B030D-6E8A-4147-A177-3AD203B41FA5}">
                          <a16:colId xmlns:a16="http://schemas.microsoft.com/office/drawing/2014/main" val="4205062522"/>
                        </a:ext>
                      </a:extLst>
                    </a:gridCol>
                  </a:tblGrid>
                  <a:tr h="4788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l="-55731" t="-6329" r="-791" b="-373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307430"/>
                      </a:ext>
                    </a:extLst>
                  </a:tr>
                  <a:tr h="4597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V’(r)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l="-55731" t="-112000" r="-791" b="-2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054135"/>
                      </a:ext>
                    </a:extLst>
                  </a:tr>
                  <a:tr h="13224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l="-55731" t="-73272" r="-791" b="-1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4239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7" name="Connecteur droit avec flèche 16"/>
          <p:cNvCxnSpPr/>
          <p:nvPr/>
        </p:nvCxnSpPr>
        <p:spPr>
          <a:xfrm>
            <a:off x="8974814" y="5587833"/>
            <a:ext cx="415636" cy="391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5910514" y="846161"/>
            <a:ext cx="69273" cy="5873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2185639" y="4828478"/>
            <a:ext cx="0" cy="1679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12/23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26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89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257" y="920204"/>
            <a:ext cx="6376108" cy="469911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43354"/>
            <a:ext cx="6185923" cy="4422950"/>
          </a:xfrm>
          <a:prstGeom prst="rect">
            <a:avLst/>
          </a:prstGeom>
        </p:spPr>
      </p:pic>
      <p:sp>
        <p:nvSpPr>
          <p:cNvPr id="11" name="Titre 1"/>
          <p:cNvSpPr txBox="1">
            <a:spLocks/>
          </p:cNvSpPr>
          <p:nvPr/>
        </p:nvSpPr>
        <p:spPr>
          <a:xfrm>
            <a:off x="736623" y="5314729"/>
            <a:ext cx="4712677" cy="4561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u="sng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Représentation de la Courbe du Champ</a:t>
            </a:r>
            <a:endParaRPr lang="fr-FR" b="1" u="sng" dirty="0">
              <a:solidFill>
                <a:srgbClr val="DE2A0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427457" y="5314728"/>
            <a:ext cx="4920481" cy="4561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u="sng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Représentation de la Courbe du Potentiel</a:t>
            </a:r>
            <a:endParaRPr lang="fr-FR" b="1" u="sng" dirty="0">
              <a:solidFill>
                <a:srgbClr val="DE2A0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6080671" y="1218438"/>
            <a:ext cx="1219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dirty="0" smtClean="0"/>
              <a:t> (v)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126896" y="3662082"/>
                <a:ext cx="457712" cy="617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  <m:r>
                            <m:rPr>
                              <m:nor/>
                            </m:rPr>
                            <a:rPr lang="fr-FR" sz="2000" b="1" baseline="-2500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fr-FR" sz="2000" b="1"/>
                            <m:t> 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96" y="3662082"/>
                <a:ext cx="457712" cy="617605"/>
              </a:xfrm>
              <a:prstGeom prst="rect">
                <a:avLst/>
              </a:prstGeom>
              <a:blipFill>
                <a:blip r:embed="rId4"/>
                <a:stretch>
                  <a:fillRect b="-19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5"/>
          <p:cNvSpPr txBox="1"/>
          <p:nvPr/>
        </p:nvSpPr>
        <p:spPr>
          <a:xfrm>
            <a:off x="5527398" y="4665785"/>
            <a:ext cx="772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 (m)</a:t>
            </a:r>
            <a:endParaRPr lang="fr-FR" sz="2000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11419046" y="4665785"/>
            <a:ext cx="772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 (m)</a:t>
            </a:r>
            <a:endParaRPr lang="fr-FR" sz="2000" b="1" dirty="0"/>
          </a:p>
        </p:txBody>
      </p:sp>
      <p:sp>
        <p:nvSpPr>
          <p:cNvPr id="18" name="ZoneTexte 17"/>
          <p:cNvSpPr txBox="1"/>
          <p:nvPr/>
        </p:nvSpPr>
        <p:spPr>
          <a:xfrm>
            <a:off x="3283230" y="4079632"/>
            <a:ext cx="983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0070C0"/>
                </a:solidFill>
              </a:rPr>
              <a:t>E = f(r)</a:t>
            </a:r>
            <a:endParaRPr lang="fr-FR" sz="2000" b="1" dirty="0">
              <a:solidFill>
                <a:srgbClr val="0070C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79422" y="1218438"/>
            <a:ext cx="1219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E (v/m)</a:t>
            </a:r>
            <a:endParaRPr lang="fr-FR" sz="2000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1779978" y="4914618"/>
            <a:ext cx="34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7564094" y="4930486"/>
            <a:ext cx="346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5957068" y="2361747"/>
                <a:ext cx="457712" cy="668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  <m:r>
                            <m:rPr>
                              <m:nor/>
                            </m:rPr>
                            <a:rPr lang="fr-FR" sz="2000" b="1" baseline="-25000">
                              <a:latin typeface="Monotype Corsiva" panose="03010101010201010101" pitchFamily="66" charset="0"/>
                              <a:cs typeface="Calibri Light" panose="020F0302020204030204" pitchFamily="34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fr-FR" sz="2000" b="1">
                              <a:latin typeface="Monotype Corsiva" panose="03010101010201010101" pitchFamily="66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068" y="2361747"/>
                <a:ext cx="457712" cy="668966"/>
              </a:xfrm>
              <a:prstGeom prst="rect">
                <a:avLst/>
              </a:prstGeom>
              <a:blipFill>
                <a:blip r:embed="rId5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/>
          <p:cNvSpPr txBox="1"/>
          <p:nvPr/>
        </p:nvSpPr>
        <p:spPr>
          <a:xfrm>
            <a:off x="8964311" y="3294310"/>
            <a:ext cx="110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70C0"/>
                </a:solidFill>
              </a:rPr>
              <a:t>V</a:t>
            </a:r>
            <a:r>
              <a:rPr lang="fr-FR" sz="2000" b="1" dirty="0" smtClean="0">
                <a:solidFill>
                  <a:srgbClr val="0070C0"/>
                </a:solidFill>
              </a:rPr>
              <a:t> = g(r)</a:t>
            </a:r>
            <a:endParaRPr lang="fr-FR" sz="2000" b="1" dirty="0">
              <a:solidFill>
                <a:srgbClr val="0070C0"/>
              </a:solidFill>
            </a:endParaRPr>
          </a:p>
        </p:txBody>
      </p:sp>
      <p:sp>
        <p:nvSpPr>
          <p:cNvPr id="24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13/23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6191919" y="4865840"/>
            <a:ext cx="37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0</a:t>
            </a:r>
            <a:endParaRPr lang="fr-FR" sz="2000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258059" y="4865840"/>
            <a:ext cx="37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0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99474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97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/>
              <p:cNvSpPr>
                <a:spLocks noGrp="1"/>
              </p:cNvSpPr>
              <p:nvPr>
                <p:ph type="title"/>
              </p:nvPr>
            </p:nvSpPr>
            <p:spPr>
              <a:xfrm>
                <a:off x="132521" y="776343"/>
                <a:ext cx="12404035" cy="477078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fr-FR" sz="2800" b="1" dirty="0">
                    <a:latin typeface="Monotype Corsiva" panose="03010101010201010101" pitchFamily="66" charset="0"/>
                  </a:rPr>
                  <a:t>a</a:t>
                </a:r>
                <a:r>
                  <a:rPr lang="fr-FR" sz="2800" b="1" dirty="0" smtClean="0">
                    <a:latin typeface="Monotype Corsiva" panose="03010101010201010101" pitchFamily="66" charset="0"/>
                  </a:rPr>
                  <a:t>) </a:t>
                </a:r>
                <a:r>
                  <a:rPr lang="fr-FR" sz="2800" b="1" u="sng" dirty="0" smtClean="0">
                    <a:latin typeface="Monotype Corsiva" panose="03010101010201010101" pitchFamily="66" charset="0"/>
                  </a:rPr>
                  <a:t>Détermination de la direction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800" b="1" i="1" u="sng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800" b="1" i="1" u="sng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800" b="1" u="sng" dirty="0" smtClean="0">
                    <a:latin typeface="Monotype Corsiva" panose="03010101010201010101" pitchFamily="66" charset="0"/>
                  </a:rPr>
                  <a:t> en utilisant les symétries et invariances</a:t>
                </a:r>
                <a:r>
                  <a:rPr lang="fr-FR" sz="2800" dirty="0">
                    <a:latin typeface="Monotype Corsiva" panose="03010101010201010101" pitchFamily="66" charset="0"/>
                  </a:rPr>
                  <a:t/>
                </a:r>
                <a:br>
                  <a:rPr lang="fr-FR" sz="2800" dirty="0">
                    <a:latin typeface="Monotype Corsiva" panose="03010101010201010101" pitchFamily="66" charset="0"/>
                  </a:rPr>
                </a:br>
                <a:endParaRPr lang="fr-FR" sz="28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2" name="Titr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2521" y="776343"/>
                <a:ext cx="12404035" cy="477078"/>
              </a:xfrm>
              <a:blipFill>
                <a:blip r:embed="rId2"/>
                <a:stretch>
                  <a:fillRect b="-56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-1" y="1563757"/>
                <a:ext cx="6440557" cy="529424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dirty="0" smtClean="0"/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La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distribution étant uniforme de densité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volumique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0,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Tous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les plans contenant (OM) sont des plans de symétrie paire de celle-ci. A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insi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 est dirigé suivant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0" i="0" smtClean="0">
                            <a:latin typeface="Monotype Corsiva" panose="03010101010201010101" pitchFamily="66" charset="0"/>
                          </a:rPr>
                          <m:t>OM</m:t>
                        </m:r>
                      </m:e>
                    </m:acc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>
                    <a:latin typeface="Monotype Corsiva" panose="03010101010201010101" pitchFamily="66" charset="0"/>
                  </a:rPr>
                  <a:t>De plus, cette distribution est invariante par toute rotation d’angle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quelconque. Ainsi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ne dépend que de             r = OM.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Donc , 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v"/>
                </a:pPr>
                <a:r>
                  <a:rPr lang="fr-FR" sz="2000" dirty="0">
                    <a:latin typeface="Monotype Corsiva" panose="03010101010201010101" pitchFamily="66" charset="0"/>
                  </a:rPr>
                  <a:t>P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our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tout M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O,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avec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𝑂𝑀</m:t>
                            </m:r>
                          </m:e>
                        </m:acc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;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Par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conséquent,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) 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est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dirig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é 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suivant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fr-FR" sz="2000" b="1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solidFill>
                                      <a:srgbClr val="DE2A00"/>
                                    </a:solidFill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r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. 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si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 </m:t>
                            </m:r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fr-FR" sz="2000" b="1" dirty="0">
                                <a:solidFill>
                                  <a:srgbClr val="DE2A00"/>
                                </a:solidFill>
                                <a:latin typeface="Monotype Corsiva" panose="03010101010201010101" pitchFamily="66" charset="0"/>
                              </a:rPr>
                              <m:t>)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p>
                              <m:sSupPr>
                                <m:ctrlP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p>
                                <m:r>
                                  <a:rPr lang="fr-FR" sz="2000" b="1" i="1" dirty="0">
                                    <a:solidFill>
                                      <a:srgbClr val="DE2A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𝒑𝒂𝒔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𝒅𝒊𝒓𝒆𝒄𝒕𝒊𝒐𝒏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𝒍𝒆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𝒄𝒂𝒔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 é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</a:rPr>
                              <m:t>𝒂𝒏𝒕</m:t>
                            </m:r>
                          </m:e>
                        </m:eqArr>
                      </m:e>
                    </m:d>
                  </m:oMath>
                </a14:m>
                <a:endParaRPr lang="fr-FR" sz="2000" b="1" dirty="0">
                  <a:latin typeface="Monotype Corsiva" panose="03010101010201010101" pitchFamily="66" charset="0"/>
                  <a:cs typeface="Calibri Light" panose="020F0302020204030204" pitchFamily="34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v"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Pour M = O, d’après ce qui précède,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d>
                      <m:d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</m:d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est dirigé </a:t>
                </a: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suivant 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 i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OO</m:t>
                        </m:r>
                      </m:e>
                    </m:acc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et n’a donc pas de direction.</a:t>
                </a:r>
                <a:endParaRPr lang="fr-FR" sz="2000" b="1" dirty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5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563757"/>
                <a:ext cx="6440557" cy="5294242"/>
              </a:xfrm>
              <a:blipFill>
                <a:blip r:embed="rId3"/>
                <a:stretch>
                  <a:fillRect l="-851" t="-576" r="-2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re 1"/>
          <p:cNvSpPr txBox="1">
            <a:spLocks/>
          </p:cNvSpPr>
          <p:nvPr/>
        </p:nvSpPr>
        <p:spPr>
          <a:xfrm>
            <a:off x="-143972" y="-31951"/>
            <a:ext cx="12239972" cy="9409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000" b="1" dirty="0" smtClean="0">
                <a:latin typeface="Monotype Corsiva" panose="03010101010201010101" pitchFamily="66" charset="0"/>
              </a:rPr>
              <a:t>5) </a:t>
            </a:r>
            <a:r>
              <a:rPr lang="fr-FR" sz="3000" b="1" u="sng" dirty="0" smtClean="0">
                <a:latin typeface="Monotype Corsiva" panose="03010101010201010101" pitchFamily="66" charset="0"/>
              </a:rPr>
              <a:t>Reprises des questions précédentes pour une Sphère chargée en Volume de Densité volumique de charge </a:t>
            </a:r>
            <a:r>
              <a:rPr lang="el-GR" sz="3000" b="1" u="sng" dirty="0" smtClean="0">
                <a:latin typeface="Monotype Corsiva" panose="03010101010201010101" pitchFamily="66" charset="0"/>
              </a:rPr>
              <a:t>ρ</a:t>
            </a:r>
            <a:r>
              <a:rPr lang="fr-FR" sz="3000" b="1" u="sng" dirty="0" smtClean="0">
                <a:latin typeface="Monotype Corsiva" panose="03010101010201010101" pitchFamily="66" charset="0"/>
              </a:rPr>
              <a:t> négative</a:t>
            </a:r>
            <a:endParaRPr lang="fr-FR" sz="3000" b="1" u="sng" dirty="0">
              <a:latin typeface="Monotype Corsiva" panose="03010101010201010101" pitchFamily="66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" r="8653"/>
          <a:stretch/>
        </p:blipFill>
        <p:spPr>
          <a:xfrm>
            <a:off x="6347187" y="1546005"/>
            <a:ext cx="5760000" cy="4996069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9642348" y="3299636"/>
            <a:ext cx="624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DE2A00"/>
                </a:solidFill>
              </a:rPr>
              <a:t>(S)</a:t>
            </a:r>
            <a:r>
              <a:rPr lang="fr-FR" dirty="0" smtClean="0">
                <a:solidFill>
                  <a:srgbClr val="DE2A00"/>
                </a:solidFill>
              </a:rPr>
              <a:t> </a:t>
            </a:r>
            <a:endParaRPr lang="fr-FR" dirty="0">
              <a:solidFill>
                <a:srgbClr val="DE2A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8887002" y="5032694"/>
                <a:ext cx="8499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>
                  <a:solidFill>
                    <a:srgbClr val="DE2A00"/>
                  </a:solidFill>
                </a:endParaRPr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02" y="5032694"/>
                <a:ext cx="849996" cy="400110"/>
              </a:xfrm>
              <a:prstGeom prst="rect">
                <a:avLst/>
              </a:prstGeom>
              <a:blipFill>
                <a:blip r:embed="rId5"/>
                <a:stretch>
                  <a:fillRect l="-719" b="-123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8865776" y="4266769"/>
            <a:ext cx="30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9484360" y="4305290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11405188" y="3875650"/>
                <a:ext cx="40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5188" y="3875650"/>
                <a:ext cx="4064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10590397" y="3849845"/>
                <a:ext cx="669073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1" i="1" smtClean="0">
                              <a:solidFill>
                                <a:srgbClr val="DE2A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>
                              <a:solidFill>
                                <a:srgbClr val="DE2A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d>
                        <m:dPr>
                          <m:ctrlPr>
                            <a:rPr lang="fr-FR" b="1" i="1">
                              <a:solidFill>
                                <a:srgbClr val="DE2A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rgbClr val="DE2A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fr-FR" b="1" dirty="0"/>
              </a:p>
              <a:p>
                <a:endParaRPr lang="fr-FR" b="1" dirty="0"/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0397" y="3849845"/>
                <a:ext cx="669073" cy="6799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/>
          <p:cNvSpPr txBox="1"/>
          <p:nvPr/>
        </p:nvSpPr>
        <p:spPr>
          <a:xfrm>
            <a:off x="11146763" y="4305290"/>
            <a:ext cx="33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</a:t>
            </a:r>
            <a:endParaRPr lang="fr-FR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10238981" y="4244982"/>
            <a:ext cx="30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14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14/23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20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78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-54549"/>
                <a:ext cx="12472416" cy="927099"/>
              </a:xfrm>
            </p:spPr>
            <p:txBody>
              <a:bodyPr/>
              <a:lstStyle/>
              <a:p>
                <a:pPr algn="ctr"/>
                <a:r>
                  <a:rPr lang="fr-FR" b="1" dirty="0">
                    <a:latin typeface="Monotype Corsiva" panose="03010101010201010101" pitchFamily="66" charset="0"/>
                  </a:rPr>
                  <a:t>b</a:t>
                </a:r>
                <a:r>
                  <a:rPr lang="fr-FR" b="1" dirty="0" smtClean="0">
                    <a:latin typeface="Monotype Corsiva" panose="03010101010201010101" pitchFamily="66" charset="0"/>
                  </a:rPr>
                  <a:t>) </a:t>
                </a:r>
                <a:r>
                  <a:rPr lang="fr-FR" b="1" u="sng" dirty="0" smtClean="0">
                    <a:latin typeface="Monotype Corsiva" panose="03010101010201010101" pitchFamily="66" charset="0"/>
                  </a:rPr>
                  <a:t>Expression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1" i="1" u="sng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1" i="1" u="sng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endParaRPr lang="fr-FR" b="1" u="sng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2" name="Titr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-54549"/>
                <a:ext cx="12472416" cy="927099"/>
              </a:xfrm>
              <a:blipFill>
                <a:blip r:embed="rId2"/>
                <a:stretch>
                  <a:fillRect t="-1316" b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" y="472440"/>
                <a:ext cx="6934199" cy="638555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Si M = O,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(M = O )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fr-FR" sz="2000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car les champs élémentaires en O créés par des points symétriques de la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boule 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par rapport à O, s’annulent 2 à 2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.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Si M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O, d’après a),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(M)= E</a:t>
                </a:r>
                <a:r>
                  <a:rPr lang="fr-FR" sz="2000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dirty="0">
                    <a:latin typeface="Monotype Corsiva" panose="03010101010201010101" pitchFamily="66" charset="0"/>
                  </a:rPr>
                  <a:t>(r)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avec E</a:t>
                </a:r>
                <a:r>
                  <a:rPr lang="fr-FR" sz="2000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dirty="0">
                    <a:latin typeface="Monotype Corsiva" panose="03010101010201010101" pitchFamily="66" charset="0"/>
                  </a:rPr>
                  <a:t>(r)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car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sont colinéaires de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sens contraires.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Ainsi, la surface de Gauss adaptée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est simplement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une sphère de rayon r et de centre O.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 Déterminons le flux sortant à travers cette  surface de Gauss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On a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Φ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∯</m:t>
                        </m:r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fr-FR" sz="2000" i="1">
                        <a:latin typeface="Monotype Corsiva" panose="03010101010201010101" pitchFamily="66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M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acc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∯</m:t>
                        </m:r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fr-FR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)	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  	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∯"/>
                            <m:subHide m:val="on"/>
                            <m:supHide m:val="on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nary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*d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nary>
                          <m:naryPr>
                            <m:chr m:val="∯"/>
                            <m:subHide m:val="on"/>
                            <m:supHide m:val="on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nary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car r est constant d’où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est aussi  constant,</a:t>
                </a: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Donc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l-G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𝜱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4</a:t>
                </a:r>
                <a:r>
                  <a:rPr lang="el-G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π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472440"/>
                <a:ext cx="6934199" cy="6385559"/>
              </a:xfrm>
              <a:blipFill>
                <a:blip r:embed="rId3"/>
                <a:stretch>
                  <a:fillRect l="-879" r="-9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0" t="3328" r="19984" b="21425"/>
          <a:stretch/>
        </p:blipFill>
        <p:spPr>
          <a:xfrm>
            <a:off x="6940599" y="672495"/>
            <a:ext cx="5251401" cy="46482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9559899" y="2796540"/>
            <a:ext cx="33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O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1302347" y="1295435"/>
            <a:ext cx="356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P</a:t>
            </a:r>
            <a:endParaRPr lang="fr-FR" sz="2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7666591" y="3787139"/>
            <a:ext cx="401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P’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9509719" y="1921745"/>
                <a:ext cx="769434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𝑬𝒑</m:t>
                          </m:r>
                        </m:e>
                      </m:acc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19" y="1921745"/>
                <a:ext cx="769434" cy="437492"/>
              </a:xfrm>
              <a:prstGeom prst="rect">
                <a:avLst/>
              </a:prstGeom>
              <a:blipFill>
                <a:blip r:embed="rId5"/>
                <a:stretch>
                  <a:fillRect b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8819378" y="2402202"/>
                <a:ext cx="734122" cy="462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𝑬𝒑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378" y="2402202"/>
                <a:ext cx="734122" cy="462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10436573" y="2174571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10783058" y="749782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DE2A00"/>
                </a:solidFill>
              </a:rPr>
              <a:t>(</a:t>
            </a:r>
            <a:r>
              <a:rPr lang="fr-FR" b="1" dirty="0" smtClean="0">
                <a:solidFill>
                  <a:srgbClr val="DE2A00"/>
                </a:solidFill>
              </a:rPr>
              <a:t>S)</a:t>
            </a:r>
            <a:endParaRPr lang="fr-FR" dirty="0">
              <a:solidFill>
                <a:srgbClr val="DE2A00"/>
              </a:solidFill>
            </a:endParaRPr>
          </a:p>
        </p:txBody>
      </p:sp>
      <p:sp>
        <p:nvSpPr>
          <p:cNvPr id="13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15/23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783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93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5577839" cy="6858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fr-FR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dirty="0">
                    <a:latin typeface="Monotype Corsiva" panose="03010101010201010101" pitchFamily="66" charset="0"/>
                  </a:rPr>
                  <a:t>Or d’après </a:t>
                </a:r>
                <a:r>
                  <a:rPr lang="fr-F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le Théorème de Gauss</a:t>
                </a:r>
                <a:r>
                  <a:rPr lang="fr-FR" b="1" dirty="0">
                    <a:latin typeface="Monotype Corsiva" panose="03010101010201010101" pitchFamily="66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l-GR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𝚽</m:t>
                    </m:r>
                    <m:r>
                      <a:rPr lang="fr-FR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b="1" i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 </a:t>
                </a:r>
                <a:r>
                  <a:rPr lang="fr-FR" dirty="0">
                    <a:latin typeface="Monotype Corsiva" panose="03010101010201010101" pitchFamily="66" charset="0"/>
                  </a:rPr>
                  <a:t>avec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>
                        <a:latin typeface="Monotype Corsiva" panose="030101010102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fr-FR" baseline="-25000">
                        <a:latin typeface="Monotype Corsiva" panose="03010101010201010101" pitchFamily="66" charset="0"/>
                      </a:rPr>
                      <m:t>int</m:t>
                    </m:r>
                    <m:r>
                      <m:rPr>
                        <m:nor/>
                      </m:rPr>
                      <a:rPr lang="fr-FR" baseline="-25000">
                        <a:latin typeface="Monotype Corsiva" panose="03010101010201010101" pitchFamily="66" charset="0"/>
                      </a:rPr>
                      <m:t>,</m:t>
                    </m:r>
                  </m:oMath>
                </a14:m>
                <a:r>
                  <a:rPr lang="fr-FR" dirty="0">
                    <a:latin typeface="Monotype Corsiva" panose="03010101010201010101" pitchFamily="66" charset="0"/>
                  </a:rPr>
                  <a:t> la charge totale à l’intérieur de cette sphère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dirty="0">
                    <a:latin typeface="Monotype Corsiva" panose="03010101010201010101" pitchFamily="66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            </a:t>
                </a:r>
                <a:r>
                  <a:rPr lang="fr-FR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Ainsi</a:t>
                </a:r>
                <a:r>
                  <a:rPr lang="fr-FR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,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b="1" dirty="0">
                    <a:latin typeface="Monotype Corsiva" panose="03010101010201010101" pitchFamily="66" charset="0"/>
                  </a:rPr>
                  <a:t>Pour </a:t>
                </a:r>
                <a:r>
                  <a:rPr lang="fr-FR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r </a:t>
                </a:r>
                <a:r>
                  <a:rPr lang="fr-FR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&gt; </a:t>
                </a:r>
                <a:r>
                  <a:rPr lang="fr-FR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R</a:t>
                </a:r>
                <a:r>
                  <a:rPr lang="fr-FR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𝛷</m:t>
                    </m:r>
                    <m:r>
                      <a:rPr lang="fr-F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i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	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 smtClean="0">
                    <a:latin typeface="Monotype Corsiva" panose="03010101010201010101" pitchFamily="66" charset="0"/>
                  </a:rPr>
                  <a:t>	        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∰"/>
                                <m:limLoc m:val="undOvr"/>
                                <m:subHide m:val="on"/>
                                <m:supHide m:val="on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nary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où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est le volume de la boule de rayon R, et  de centre O, car c’est là qu’on  trouve les charges intérieures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,			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	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car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fr-FR" dirty="0" smtClean="0">
                    <a:latin typeface="Monotype Corsiva" panose="03010101010201010101" pitchFamily="66" charset="0"/>
                  </a:rPr>
                  <a:t> est constante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	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p>
                          <m:sSup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Monotype Corsiva" panose="03010101010201010101" pitchFamily="66" charset="0"/>
                  </a:rPr>
                  <a:t>	</a:t>
                </a:r>
                <a:r>
                  <a:rPr lang="fr-FR" dirty="0" smtClean="0">
                    <a:latin typeface="Monotype Corsiva" panose="03010101010201010101" pitchFamily="66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f>
                      <m:fPr>
                        <m:ctrlP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fr-FR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fr-FR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² </m:t>
                        </m:r>
                      </m:den>
                    </m:f>
                    <m:r>
                      <m:rPr>
                        <m:nor/>
                      </m:rPr>
                      <a:rPr lang="fr-FR" b="1" dirty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0" dirty="0" smtClean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v</m:t>
                    </m:r>
                    <m:r>
                      <m:rPr>
                        <m:nor/>
                      </m:rPr>
                      <a:rPr lang="fr-FR" b="1" dirty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/</m:t>
                    </m:r>
                    <m:r>
                      <m:rPr>
                        <m:nor/>
                      </m:rPr>
                      <a:rPr lang="fr-FR" b="1" dirty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m</m:t>
                    </m:r>
                  </m:oMath>
                </a14:m>
                <a:endParaRPr lang="fr-FR" b="1" dirty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dirty="0" smtClean="0">
                    <a:latin typeface="Monotype Corsiva" panose="03010101010201010101" pitchFamily="66" charset="0"/>
                  </a:rPr>
                  <a:t>	</a:t>
                </a:r>
                <a:endParaRPr lang="fr-FR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5577839" cy="6858000"/>
              </a:xfrm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6" r="8534"/>
          <a:stretch/>
        </p:blipFill>
        <p:spPr>
          <a:xfrm>
            <a:off x="5338270" y="541020"/>
            <a:ext cx="6853730" cy="577596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8397899" y="3477571"/>
            <a:ext cx="30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8987536" y="3108239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9750995" y="3477571"/>
            <a:ext cx="30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0910283" y="3508349"/>
            <a:ext cx="33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10323393" y="3043980"/>
                <a:ext cx="669073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d>
                        <m:dPr>
                          <m:ctrlP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393" y="3043980"/>
                <a:ext cx="669073" cy="4029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9258469" y="2505868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b="1" dirty="0" smtClean="0">
                <a:solidFill>
                  <a:srgbClr val="FF0000"/>
                </a:solidFill>
              </a:rPr>
              <a:t>S)</a:t>
            </a:r>
            <a:endParaRPr lang="fr-F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0414461" y="1328459"/>
                <a:ext cx="724829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fr-FR" sz="2000" b="1" dirty="0" smtClean="0"/>
                  <a:t>)</a:t>
                </a:r>
                <a:endParaRPr lang="fr-FR" sz="20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461" y="1328459"/>
                <a:ext cx="724829" cy="429220"/>
              </a:xfrm>
              <a:prstGeom prst="rect">
                <a:avLst/>
              </a:prstGeom>
              <a:blipFill>
                <a:blip r:embed="rId5"/>
                <a:stretch>
                  <a:fillRect l="-4202" t="-10000" r="-840" b="-1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11262511" y="2991573"/>
                <a:ext cx="659444" cy="43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511" y="2991573"/>
                <a:ext cx="659444" cy="437427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16/26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420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94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6547103" cy="68453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Or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(M)= E</a:t>
                </a:r>
                <a:r>
                  <a:rPr lang="fr-FR" sz="2000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dirty="0">
                    <a:latin typeface="Monotype Corsiva" panose="03010101010201010101" pitchFamily="66" charset="0"/>
                  </a:rPr>
                  <a:t>(r)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Donc                                                                              avec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&lt; 0</a:t>
                </a:r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b="1" u="sng" dirty="0" smtClean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 :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La 1</a:t>
                </a:r>
                <a:r>
                  <a:rPr lang="fr-FR" sz="2000" baseline="30000" dirty="0" smtClean="0">
                    <a:latin typeface="Monotype Corsiva" panose="03010101010201010101" pitchFamily="66" charset="0"/>
                  </a:rPr>
                  <a:t>ère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égalité nous montre que ce champ est équivalent au champ créé par une charge ponctuelle placée en O de charge                     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Q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en un point M situé à une distance r de O.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>
                    <a:latin typeface="Monotype Corsiva" panose="03010101010201010101" pitchFamily="66" charset="0"/>
                  </a:rPr>
                  <a:t>Pour r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&lt;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R,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𝛷</m:t>
                    </m:r>
                    <m:r>
                      <a:rPr lang="fr-F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i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int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∰"/>
                                <m:limLoc m:val="undOvr"/>
                                <m:subHide m:val="on"/>
                                <m:supHide m:val="on"/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où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est le volume de la 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boule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de rayon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r et de centre O,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car c’est là qu’on  trouve les charges intérieures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,</a:t>
                </a:r>
                <a:r>
                  <a:rPr lang="fr-FR" sz="2000" dirty="0">
                    <a:latin typeface="Monotype Corsiva" panose="03010101010201010101" pitchFamily="66" charset="0"/>
                  </a:rPr>
                  <a:t>		</a:t>
                </a: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∰"/>
                                <m:limLoc m:val="undOvr"/>
                                <m:subHide m:val="on"/>
                                <m:supHide m:val="on"/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car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est constant 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l-GR" sz="2000" dirty="0">
                        <a:latin typeface="Monotype Corsiva" panose="03010101010201010101" pitchFamily="66" charset="0"/>
                      </a:rPr>
                      <m:t>π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 dirty="0">
                        <a:latin typeface="Monotype Corsiva" panose="03010101010201010101" pitchFamily="66" charset="0"/>
                      </a:rPr>
                      <m:t>²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p>
                          <m:sSupPr>
                            <m:ctrlP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fr-FR" sz="2000" b="1" dirty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  </m:t>
                    </m:r>
                    <m:r>
                      <m:rPr>
                        <m:nor/>
                      </m:rPr>
                      <a:rPr lang="fr-FR" sz="2000" b="1" i="0" dirty="0" smtClean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v</m:t>
                    </m:r>
                    <m:r>
                      <m:rPr>
                        <m:nor/>
                      </m:rPr>
                      <a:rPr lang="fr-FR" sz="2000" b="1" dirty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/</m:t>
                    </m:r>
                    <m:r>
                      <m:rPr>
                        <m:nor/>
                      </m:rPr>
                      <a:rPr lang="fr-FR" sz="2000" b="1" dirty="0">
                        <a:solidFill>
                          <a:srgbClr val="DE2A00"/>
                        </a:solidFill>
                        <a:latin typeface="Monotype Corsiva" panose="03010101010201010101" pitchFamily="66" charset="0"/>
                      </a:rPr>
                      <m:t>m</m:t>
                    </m:r>
                  </m:oMath>
                </a14:m>
                <a:endParaRPr lang="fr-FR" sz="2000" b="1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6547103" cy="6845300"/>
              </a:xfrm>
              <a:blipFill>
                <a:blip r:embed="rId2"/>
                <a:stretch>
                  <a:fillRect l="-931" t="-2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9335374"/>
                  </p:ext>
                </p:extLst>
              </p:nvPr>
            </p:nvGraphicFramePr>
            <p:xfrm>
              <a:off x="978943" y="386591"/>
              <a:ext cx="3588327" cy="732247"/>
            </p:xfrm>
            <a:graphic>
              <a:graphicData uri="http://schemas.openxmlformats.org/drawingml/2006/table">
                <a:tbl>
                  <a:tblPr/>
                  <a:tblGrid>
                    <a:gridCol w="3588327">
                      <a:extLst>
                        <a:ext uri="{9D8B030D-6E8A-4147-A177-3AD203B41FA5}">
                          <a16:colId xmlns:a16="http://schemas.microsoft.com/office/drawing/2014/main" val="3862704718"/>
                        </a:ext>
                      </a:extLst>
                    </a:gridCol>
                  </a:tblGrid>
                  <a:tr h="73224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fr-FR" sz="2000" b="1" i="1" smtClean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2000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(r </a:t>
                          </a:r>
                          <a14:m>
                            <m:oMath xmlns:m="http://schemas.openxmlformats.org/officeDocument/2006/math">
                              <m:r>
                                <a:rPr lang="fr-FR" sz="20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fr-FR" sz="2000" b="1" i="1" smtClean="0">
                                  <a:solidFill>
                                    <a:srgbClr val="DE2A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fr-FR" sz="2000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) 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fr-FR" sz="20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  <m:sSup>
                                    <m:sSupPr>
                                      <m:ctrlPr>
                                        <a:rPr lang="fr-FR" sz="20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fr-FR" sz="20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</m:num>
                                <m:den>
                                  <m:r>
                                    <a:rPr lang="fr-FR" sz="20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fr-FR" sz="2000" b="1" i="1" dirty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dirty="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dirty="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² </m:t>
                                  </m:r>
                                </m:den>
                              </m:f>
                              <m:acc>
                                <m:accPr>
                                  <m:chr m:val="⃗"/>
                                  <m:ctrlP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fr-FR" sz="2000" b="1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r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2000" b="1" dirty="0" smtClean="0">
                              <a:solidFill>
                                <a:srgbClr val="DE2A00"/>
                              </a:solidFill>
                              <a:latin typeface="Monotype Corsiva" panose="03010101010201010101" pitchFamily="66" charset="0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  <m:sSup>
                                    <m:sSupPr>
                                      <m:ctrlPr>
                                        <a:rPr lang="fr-FR" sz="20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1" i="1" dirty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fr-FR" sz="2000" b="1" i="1" dirty="0" smtClean="0">
                                          <a:solidFill>
                                            <a:srgbClr val="DE2A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2000" b="1" i="1" dirty="0" smtClean="0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dirty="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dirty="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² </m:t>
                                  </m:r>
                                </m:den>
                              </m:f>
                              <m:acc>
                                <m:accPr>
                                  <m:chr m:val="⃗"/>
                                  <m:ctrlPr>
                                    <a:rPr lang="fr-FR" sz="2000" b="1" i="1">
                                      <a:solidFill>
                                        <a:srgbClr val="DE2A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fr-FR" sz="2000" b="1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000" b="1" baseline="-25000">
                                      <a:solidFill>
                                        <a:srgbClr val="DE2A00"/>
                                      </a:solidFill>
                                      <a:latin typeface="Monotype Corsiva" panose="03010101010201010101" pitchFamily="66" charset="0"/>
                                    </a:rPr>
                                    <m:t>r</m:t>
                                  </m:r>
                                </m:e>
                              </m:acc>
                            </m:oMath>
                          </a14:m>
                          <a:endParaRPr lang="fr-FR" sz="2000" dirty="0">
                            <a:latin typeface="Monotype Corsiva" panose="03010101010201010101" pitchFamily="66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40442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9335374"/>
                  </p:ext>
                </p:extLst>
              </p:nvPr>
            </p:nvGraphicFramePr>
            <p:xfrm>
              <a:off x="978943" y="386591"/>
              <a:ext cx="3588327" cy="732247"/>
            </p:xfrm>
            <a:graphic>
              <a:graphicData uri="http://schemas.openxmlformats.org/drawingml/2006/table">
                <a:tbl>
                  <a:tblPr/>
                  <a:tblGrid>
                    <a:gridCol w="3588327">
                      <a:extLst>
                        <a:ext uri="{9D8B030D-6E8A-4147-A177-3AD203B41FA5}">
                          <a16:colId xmlns:a16="http://schemas.microsoft.com/office/drawing/2014/main" val="3862704718"/>
                        </a:ext>
                      </a:extLst>
                    </a:gridCol>
                  </a:tblGrid>
                  <a:tr h="73224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solidFill>
                            <a:srgbClr val="DE2A00"/>
                          </a:solidFill>
                          <a:prstDash val="solid"/>
                        </a:lnL>
                        <a:lnR w="12700" cmpd="sng">
                          <a:solidFill>
                            <a:srgbClr val="DE2A00"/>
                          </a:solidFill>
                          <a:prstDash val="solid"/>
                        </a:lnR>
                        <a:lnT w="12700" cmpd="sng">
                          <a:solidFill>
                            <a:srgbClr val="DE2A00"/>
                          </a:solidFill>
                          <a:prstDash val="solid"/>
                        </a:lnT>
                        <a:lnB w="12700" cmpd="sng">
                          <a:solidFill>
                            <a:srgbClr val="DE2A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169" t="-826" r="-339" b="-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04420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9"/>
          <a:stretch/>
        </p:blipFill>
        <p:spPr>
          <a:xfrm>
            <a:off x="6086475" y="292100"/>
            <a:ext cx="6105525" cy="61200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8890711" y="3376318"/>
            <a:ext cx="30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O</a:t>
            </a:r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0323926" y="3560984"/>
            <a:ext cx="27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9875606" y="2976208"/>
            <a:ext cx="30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10639922" y="3422650"/>
            <a:ext cx="33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0187630" y="2927748"/>
                <a:ext cx="669073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d>
                        <m:dPr>
                          <m:ctrlP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630" y="2927748"/>
                <a:ext cx="669073" cy="4029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11455542" y="1300673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DE2A00"/>
                </a:solidFill>
              </a:rPr>
              <a:t>(</a:t>
            </a:r>
            <a:r>
              <a:rPr lang="fr-FR" b="1" dirty="0" smtClean="0">
                <a:solidFill>
                  <a:srgbClr val="DE2A00"/>
                </a:solidFill>
              </a:rPr>
              <a:t>S)</a:t>
            </a:r>
            <a:endParaRPr lang="fr-FR" dirty="0">
              <a:solidFill>
                <a:srgbClr val="DE2A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9915093" y="1455395"/>
                <a:ext cx="724829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fr-FR" sz="2000" b="1" dirty="0" smtClean="0"/>
                  <a:t>)</a:t>
                </a:r>
                <a:endParaRPr lang="fr-FR" sz="2000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093" y="1455395"/>
                <a:ext cx="724829" cy="429220"/>
              </a:xfrm>
              <a:prstGeom prst="rect">
                <a:avLst/>
              </a:prstGeom>
              <a:blipFill>
                <a:blip r:embed="rId6"/>
                <a:stretch>
                  <a:fillRect l="-4202" t="-10000" r="-840" b="-1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10847335" y="2893252"/>
                <a:ext cx="659444" cy="43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7335" y="2893252"/>
                <a:ext cx="659444" cy="437427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17/23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7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316992"/>
                <a:ext cx="12192000" cy="67569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Or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(M)= E</a:t>
                </a:r>
                <a:r>
                  <a:rPr lang="fr-FR" sz="2000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dirty="0">
                    <a:latin typeface="Monotype Corsiva" panose="03010101010201010101" pitchFamily="66" charset="0"/>
                  </a:rPr>
                  <a:t>(r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r</m:t>
                        </m:r>
                      </m:e>
                    </m:acc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Donc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 r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num>
                      <m:den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Remarques: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</a:t>
                </a:r>
                <a:r>
                  <a:rPr lang="fr-FR" sz="2000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Comme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=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,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ainsi le champ est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continu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à la traversée de la surface de la sphère, 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et on peut conclure que pour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	   * </a:t>
                </a:r>
                <a:r>
                  <a:rPr lang="fr-FR" sz="2000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Contrairement à une distribution  surfacique </a:t>
                </a:r>
                <a:r>
                  <a:rPr lang="fr-FR" sz="2000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de charge </a:t>
                </a:r>
                <a:r>
                  <a:rPr lang="fr-FR" sz="2000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 où le champ électrostatique est discontinu à la traversée de la surface de la sphère chargée, il  est cependant continu dans le cas d’une distribution volumique de charge.</a:t>
                </a:r>
                <a:endParaRPr lang="fr-FR" sz="2000" dirty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316992"/>
                <a:ext cx="12192000" cy="6756908"/>
              </a:xfrm>
              <a:blipFill>
                <a:blip r:embed="rId2"/>
                <a:stretch>
                  <a:fillRect l="-500" r="-8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093864"/>
              </p:ext>
            </p:extLst>
          </p:nvPr>
        </p:nvGraphicFramePr>
        <p:xfrm>
          <a:off x="714719" y="773915"/>
          <a:ext cx="1805821" cy="540327"/>
        </p:xfrm>
        <a:graphic>
          <a:graphicData uri="http://schemas.openxmlformats.org/drawingml/2006/table">
            <a:tbl>
              <a:tblPr/>
              <a:tblGrid>
                <a:gridCol w="1805821">
                  <a:extLst>
                    <a:ext uri="{9D8B030D-6E8A-4147-A177-3AD203B41FA5}">
                      <a16:colId xmlns:a16="http://schemas.microsoft.com/office/drawing/2014/main" val="2959807607"/>
                    </a:ext>
                  </a:extLst>
                </a:gridCol>
              </a:tblGrid>
              <a:tr h="540327">
                <a:tc>
                  <a:txBody>
                    <a:bodyPr/>
                    <a:lstStyle/>
                    <a:p>
                      <a:r>
                        <a:rPr lang="fr-FR" dirty="0" smtClean="0"/>
                        <a:t> </a:t>
                      </a:r>
                      <a:endParaRPr lang="fr-FR" dirty="0"/>
                    </a:p>
                  </a:txBody>
                  <a:tcPr>
                    <a:lnL w="12700" cmpd="sng">
                      <a:solidFill>
                        <a:srgbClr val="DE2A00"/>
                      </a:solidFill>
                      <a:prstDash val="solid"/>
                    </a:lnL>
                    <a:lnR w="12700" cmpd="sng">
                      <a:solidFill>
                        <a:srgbClr val="DE2A00"/>
                      </a:solidFill>
                      <a:prstDash val="solid"/>
                    </a:lnR>
                    <a:lnT w="12700" cmpd="sng">
                      <a:solidFill>
                        <a:srgbClr val="DE2A00"/>
                      </a:solidFill>
                      <a:prstDash val="solid"/>
                    </a:lnT>
                    <a:lnB w="12700" cmpd="sng">
                      <a:solidFill>
                        <a:srgbClr val="DE2A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24747"/>
                  </a:ext>
                </a:extLst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371026"/>
              </p:ext>
            </p:extLst>
          </p:nvPr>
        </p:nvGraphicFramePr>
        <p:xfrm>
          <a:off x="2651956" y="1966638"/>
          <a:ext cx="1801091" cy="581891"/>
        </p:xfrm>
        <a:graphic>
          <a:graphicData uri="http://schemas.openxmlformats.org/drawingml/2006/table">
            <a:tbl>
              <a:tblPr/>
              <a:tblGrid>
                <a:gridCol w="1801091">
                  <a:extLst>
                    <a:ext uri="{9D8B030D-6E8A-4147-A177-3AD203B41FA5}">
                      <a16:colId xmlns:a16="http://schemas.microsoft.com/office/drawing/2014/main" val="187488870"/>
                    </a:ext>
                  </a:extLst>
                </a:gridCol>
              </a:tblGrid>
              <a:tr h="5818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rgbClr val="DE2A00"/>
                      </a:solidFill>
                      <a:prstDash val="solid"/>
                    </a:lnL>
                    <a:lnR w="12700" cmpd="sng">
                      <a:solidFill>
                        <a:srgbClr val="DE2A00"/>
                      </a:solidFill>
                      <a:prstDash val="solid"/>
                    </a:lnR>
                    <a:lnT w="12700" cmpd="sng">
                      <a:solidFill>
                        <a:srgbClr val="DE2A00"/>
                      </a:solidFill>
                      <a:prstDash val="solid"/>
                    </a:lnT>
                    <a:lnB w="12700" cmpd="sng">
                      <a:solidFill>
                        <a:srgbClr val="DE2A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162008"/>
                  </a:ext>
                </a:extLst>
              </a:tr>
            </a:tbl>
          </a:graphicData>
        </a:graphic>
      </p:graphicFrame>
      <p:sp>
        <p:nvSpPr>
          <p:cNvPr id="6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18/23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2193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" y="1"/>
            <a:ext cx="12191998" cy="710114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 smtClean="0">
                <a:latin typeface="Monotype Corsiva" panose="03010101010201010101" pitchFamily="66" charset="0"/>
              </a:rPr>
              <a:t>c) </a:t>
            </a:r>
            <a:r>
              <a:rPr lang="fr-FR" sz="3200" b="1" u="sng" dirty="0" smtClean="0">
                <a:latin typeface="Monotype Corsiva" panose="03010101010201010101" pitchFamily="66" charset="0"/>
              </a:rPr>
              <a:t>Déduisons le potentiel V</a:t>
            </a:r>
            <a:endParaRPr lang="fr-FR" sz="3200" b="1" u="sng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2" y="602436"/>
                <a:ext cx="12191998" cy="62555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On 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) = 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⟹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 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car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(M) n’est dirigé que suivant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</a:rPr>
                          <m:t>r</m:t>
                        </m:r>
                      </m:e>
                    </m:acc>
                    <m:r>
                      <a:rPr lang="fr-FR" sz="2000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; ainsi les autres composantes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sont 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                                          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𝑑𝑉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𝑑𝑟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                                            nécessairement nulles.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			   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) 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𝒅𝒓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e>
                    </m:nary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 smtClean="0">
                    <a:latin typeface="Monotype Corsiva" panose="03010101010201010101" pitchFamily="66" charset="0"/>
                  </a:rPr>
                  <a:t>Pour r &gt; R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,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sSup>
                          <m:sSupPr>
                            <m:ctrlP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²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, d’où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ρ</m:t>
                            </m:r>
                            <m:sSup>
                              <m:sSupPr>
                                <m:ctrlP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fr-FR" sz="2000" baseline="-25000"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latin typeface="Monotype Corsiva" panose="03010101010201010101" pitchFamily="66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fr-FR" sz="2000" dirty="0">
                                <a:latin typeface="Monotype Corsiva" panose="03010101010201010101" pitchFamily="66" charset="0"/>
                              </a:rPr>
                              <m:t>² </m:t>
                            </m:r>
                          </m:den>
                        </m:f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𝑑𝑟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e>
                    </m:nary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				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c-à-d 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+ cste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   La distribution étant repartie dans un espace fini (boule), on peut considérer que pour un point suffisamment éloigné, le potentiel est nul, c-à-d 0 =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+∞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sSup>
                          <m:sSupPr>
                            <m:ctrlP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fr-F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+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cste = 0 + cste d’où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cste = 0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;</a:t>
                </a: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Donc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&gt;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v</a:t>
                </a:r>
              </a:p>
              <a:p>
                <a:pPr marL="0" indent="0">
                  <a:buNone/>
                </a:pPr>
                <a:r>
                  <a:rPr lang="fr-FR" sz="2000" b="1" u="sng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Remarque :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On a encore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 smtClean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, ce qui correspond au potentiel créé en M par une charge ponctuelle de charge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Q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fr-F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placée en O.</a:t>
                </a: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b="1" dirty="0">
                    <a:latin typeface="Monotype Corsiva" panose="03010101010201010101" pitchFamily="66" charset="0"/>
                  </a:rPr>
                  <a:t>Pour r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&lt;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dirty="0">
                    <a:latin typeface="Monotype Corsiva" panose="03010101010201010101" pitchFamily="66" charset="0"/>
                  </a:rPr>
                  <a:t>,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E</m:t>
                    </m:r>
                    <m:r>
                      <m:rPr>
                        <m:nor/>
                      </m:rPr>
                      <a:rPr lang="fr-FR" sz="2000" baseline="-25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fr-FR" sz="2000">
                        <a:latin typeface="Monotype Corsiva" panose="03010101010201010101" pitchFamily="66" charset="0"/>
                      </a:rPr>
                      <m:t>)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fr-F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sz="2000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,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d’où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200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ρ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fr-FR" sz="2000" baseline="-25000">
                                <a:latin typeface="Monotype Corsiva" panose="03010101010201010101" pitchFamily="66" charset="0"/>
                                <a:cs typeface="Calibri Light" panose="020F0302020204030204" pitchFamily="34" charset="0"/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fr-FR" sz="2000">
                                <a:latin typeface="Monotype Corsiva" panose="03010101010201010101" pitchFamily="66" charset="0"/>
                              </a:rPr>
                              <m:t> </m:t>
                            </m:r>
                          </m:den>
                        </m:f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𝑑𝑟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e>
                    </m:nary>
                  </m:oMath>
                </a14:m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					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c-à-d 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 =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+ cste</a:t>
                </a:r>
                <a:endParaRPr lang="fr-FR" sz="2000" b="1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Pour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=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0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, par définition,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le potentiel élémentaire créé par un point P de la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Boule en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O est donné par dV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fr-FR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où r’ = OP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" y="602436"/>
                <a:ext cx="12191998" cy="6255564"/>
              </a:xfrm>
              <a:blipFill>
                <a:blip r:embed="rId2"/>
                <a:stretch>
                  <a:fillRect l="-500" b="-6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314478"/>
              </p:ext>
            </p:extLst>
          </p:nvPr>
        </p:nvGraphicFramePr>
        <p:xfrm>
          <a:off x="7350707" y="3618912"/>
          <a:ext cx="2078182" cy="595745"/>
        </p:xfrm>
        <a:graphic>
          <a:graphicData uri="http://schemas.openxmlformats.org/drawingml/2006/table">
            <a:tbl>
              <a:tblPr/>
              <a:tblGrid>
                <a:gridCol w="2078182">
                  <a:extLst>
                    <a:ext uri="{9D8B030D-6E8A-4147-A177-3AD203B41FA5}">
                      <a16:colId xmlns:a16="http://schemas.microsoft.com/office/drawing/2014/main" val="3997722095"/>
                    </a:ext>
                  </a:extLst>
                </a:gridCol>
              </a:tblGrid>
              <a:tr h="59574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rgbClr val="DE2A00"/>
                      </a:solidFill>
                      <a:prstDash val="solid"/>
                    </a:lnL>
                    <a:lnR w="12700" cmpd="sng">
                      <a:solidFill>
                        <a:srgbClr val="DE2A00"/>
                      </a:solidFill>
                      <a:prstDash val="solid"/>
                    </a:lnR>
                    <a:lnT w="12700" cmpd="sng">
                      <a:solidFill>
                        <a:srgbClr val="DE2A00"/>
                      </a:solidFill>
                      <a:prstDash val="solid"/>
                    </a:lnT>
                    <a:lnB w="12700" cmpd="sng">
                      <a:solidFill>
                        <a:srgbClr val="DE2A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195789"/>
                  </a:ext>
                </a:extLst>
              </a:tr>
            </a:tbl>
          </a:graphicData>
        </a:graphic>
      </p:graphicFrame>
      <p:sp>
        <p:nvSpPr>
          <p:cNvPr id="5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19/23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472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97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6309360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 Ainsi V(O)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∭"/>
                            <m:limLoc m:val="undOvr"/>
                            <m:subHide m:val="on"/>
                            <m:supHide m:val="on"/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  <m:f>
                      <m:f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b="0" i="0" smtClean="0">
                            <a:latin typeface="Monotype Corsiva" panose="03010101010201010101" pitchFamily="66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fr-FR" sz="2000" b="0" i="0" smtClean="0">
                            <a:latin typeface="Monotype Corsiva" panose="03010101010201010101" pitchFamily="66" charset="0"/>
                            <a:ea typeface="Cambria Math" panose="02040503050406030204" pitchFamily="18" charset="0"/>
                          </a:rPr>
                          <m:t>′ </m:t>
                        </m:r>
                      </m:den>
                    </m:f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où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est le volume délimité par la sphère S.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	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nary>
                          <m:naryPr>
                            <m:ctrl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sup>
                          <m:e>
                            <m:nary>
                              <m:naryPr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′=0</m:t>
                                </m:r>
                              </m:sub>
                              <m:sup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sup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𝑠𝑖𝑛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num>
                                  <m:den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den>
                                </m:f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nary>
                          <m:nary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sup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nary>
                              <m:nary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𝑑𝑟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dirty="0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fr-FR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sSubSup>
                      <m:sSubSup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sSubSup>
                      <m:sSubSup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fr-FR" sz="2000" b="0" i="1" dirty="0" smtClean="0">
                                    <a:latin typeface="Cambria Math" panose="02040503050406030204" pitchFamily="18" charset="0"/>
                                  </a:rPr>
                                  <m:t>′²</m:t>
                                </m:r>
                              </m:num>
                              <m:den>
                                <m:r>
                                  <a:rPr lang="fr-FR" sz="2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</m:oMath>
                </a14:m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 Donc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V(O)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v</a:t>
                </a:r>
                <a:endParaRPr lang="fr-FR" sz="2000" b="1" dirty="0" smtClean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 Or V(O) = 0 + cste d’où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cste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chemeClr val="tx1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 </a:t>
                </a:r>
                <a:endParaRPr lang="fr-FR" sz="2000" b="1" dirty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Par conséquent,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V(r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fr-FR" sz="2000" b="1" i="1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r-FR" sz="2000" b="1" dirty="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v</a:t>
                </a:r>
              </a:p>
              <a:p>
                <a:pPr marL="0" indent="0">
                  <a:buNone/>
                </a:pPr>
                <a:r>
                  <a:rPr lang="fr-FR" sz="2000" b="1" u="sng" dirty="0" smtClean="0">
                    <a:latin typeface="Monotype Corsiva" panose="03010101010201010101" pitchFamily="66" charset="0"/>
                  </a:rPr>
                  <a:t>Remarque :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V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>
                                <a:solidFill>
                                  <a:srgbClr val="DE2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sz="2000" b="1" i="1" dirty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 dirty="0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 smtClean="0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sz="2000" b="1" i="1" dirty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V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. Ainsi le potentiel est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continu pour r = R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et on peut alors écrire :</a:t>
                </a:r>
              </a:p>
              <a:p>
                <a:pPr marL="0" indent="0">
                  <a:buNone/>
                </a:pPr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      V</a:t>
                </a:r>
                <a14:m>
                  <m:oMath xmlns:m="http://schemas.openxmlformats.org/officeDocument/2006/math">
                    <m:r>
                      <a:rPr lang="fr-FR" sz="2000" b="1" i="1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(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r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fr-FR" sz="2000" b="1" dirty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) 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fr-FR" sz="2000" b="1" i="1">
                            <a:solidFill>
                              <a:srgbClr val="DE2A0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solidFill>
                              <a:srgbClr val="DE2A00"/>
                            </a:solidFill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sz="2000" b="1" i="1" smtClean="0">
                        <a:solidFill>
                          <a:srgbClr val="DE2A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fr-FR" sz="2000" b="1" dirty="0" smtClean="0">
                  <a:solidFill>
                    <a:srgbClr val="DE2A00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</a:t>
                </a:r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6309360" cy="6858000"/>
              </a:xfrm>
              <a:blipFill>
                <a:blip r:embed="rId2"/>
                <a:stretch>
                  <a:fillRect l="-9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444923"/>
              </p:ext>
            </p:extLst>
          </p:nvPr>
        </p:nvGraphicFramePr>
        <p:xfrm>
          <a:off x="1568112" y="4108417"/>
          <a:ext cx="2618509" cy="651164"/>
        </p:xfrm>
        <a:graphic>
          <a:graphicData uri="http://schemas.openxmlformats.org/drawingml/2006/table">
            <a:tbl>
              <a:tblPr/>
              <a:tblGrid>
                <a:gridCol w="2618509">
                  <a:extLst>
                    <a:ext uri="{9D8B030D-6E8A-4147-A177-3AD203B41FA5}">
                      <a16:colId xmlns:a16="http://schemas.microsoft.com/office/drawing/2014/main" val="864817454"/>
                    </a:ext>
                  </a:extLst>
                </a:gridCol>
              </a:tblGrid>
              <a:tr h="65116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rgbClr val="DE2A00"/>
                      </a:solidFill>
                      <a:prstDash val="solid"/>
                    </a:lnL>
                    <a:lnR w="12700" cmpd="sng">
                      <a:solidFill>
                        <a:srgbClr val="DE2A00"/>
                      </a:solidFill>
                      <a:prstDash val="solid"/>
                    </a:lnR>
                    <a:lnT w="12700" cmpd="sng">
                      <a:solidFill>
                        <a:srgbClr val="DE2A00"/>
                      </a:solidFill>
                      <a:prstDash val="solid"/>
                    </a:lnT>
                    <a:lnB w="12700" cmpd="sng">
                      <a:solidFill>
                        <a:srgbClr val="DE2A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14456"/>
                  </a:ext>
                </a:extLst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405394"/>
              </p:ext>
            </p:extLst>
          </p:nvPr>
        </p:nvGraphicFramePr>
        <p:xfrm>
          <a:off x="491327" y="5692697"/>
          <a:ext cx="1642946" cy="540329"/>
        </p:xfrm>
        <a:graphic>
          <a:graphicData uri="http://schemas.openxmlformats.org/drawingml/2006/table">
            <a:tbl>
              <a:tblPr/>
              <a:tblGrid>
                <a:gridCol w="1642946">
                  <a:extLst>
                    <a:ext uri="{9D8B030D-6E8A-4147-A177-3AD203B41FA5}">
                      <a16:colId xmlns:a16="http://schemas.microsoft.com/office/drawing/2014/main" val="1569514763"/>
                    </a:ext>
                  </a:extLst>
                </a:gridCol>
              </a:tblGrid>
              <a:tr h="54032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rgbClr val="DE2A00"/>
                      </a:solidFill>
                      <a:prstDash val="solid"/>
                    </a:lnL>
                    <a:lnR w="12700" cmpd="sng">
                      <a:solidFill>
                        <a:srgbClr val="DE2A00"/>
                      </a:solidFill>
                      <a:prstDash val="solid"/>
                    </a:lnR>
                    <a:lnT w="12700" cmpd="sng">
                      <a:solidFill>
                        <a:srgbClr val="DE2A00"/>
                      </a:solidFill>
                      <a:prstDash val="solid"/>
                    </a:lnT>
                    <a:lnB w="12700" cmpd="sng">
                      <a:solidFill>
                        <a:srgbClr val="DE2A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89511"/>
                  </a:ext>
                </a:extLst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475" y="9696"/>
            <a:ext cx="6105525" cy="6553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850906" y="3169533"/>
            <a:ext cx="33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O</a:t>
            </a:r>
            <a:endParaRPr lang="fr-FR" sz="20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11641130" y="944453"/>
            <a:ext cx="356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P</a:t>
            </a:r>
            <a:endParaRPr lang="fr-F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8620466" y="2650829"/>
                <a:ext cx="734122" cy="427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466" y="2650829"/>
                <a:ext cx="734122" cy="427618"/>
              </a:xfrm>
              <a:prstGeom prst="rect">
                <a:avLst/>
              </a:prstGeom>
              <a:blipFill>
                <a:blip r:embed="rId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11180571" y="464683"/>
            <a:ext cx="51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DE2A00"/>
                </a:solidFill>
              </a:rPr>
              <a:t>(</a:t>
            </a:r>
            <a:r>
              <a:rPr lang="fr-FR" b="1" dirty="0" smtClean="0">
                <a:solidFill>
                  <a:srgbClr val="DE2A00"/>
                </a:solidFill>
              </a:rPr>
              <a:t>S)</a:t>
            </a:r>
            <a:endParaRPr lang="fr-FR" dirty="0">
              <a:solidFill>
                <a:srgbClr val="DE2A00"/>
              </a:solidFill>
            </a:endParaRPr>
          </a:p>
        </p:txBody>
      </p:sp>
      <p:sp>
        <p:nvSpPr>
          <p:cNvPr id="12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20/23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63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6787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Monotype Corsiva" panose="03010101010201010101" pitchFamily="66" charset="0"/>
              </a:rPr>
              <a:t>d) </a:t>
            </a:r>
            <a:r>
              <a:rPr lang="fr-FR" b="1" u="sng" dirty="0" smtClean="0">
                <a:latin typeface="Monotype Corsiva" panose="03010101010201010101" pitchFamily="66" charset="0"/>
              </a:rPr>
              <a:t>Représentons les courbes du champ et du potentiel</a:t>
            </a:r>
            <a:endParaRPr lang="fr-FR" b="1" u="sng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0" y="753292"/>
                <a:ext cx="12192000" cy="6104708"/>
              </a:xfrm>
            </p:spPr>
            <p:txBody>
              <a:bodyPr numCol="2">
                <a:noAutofit/>
              </a:bodyPr>
              <a:lstStyle/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fr-FR" sz="2000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DE2A00"/>
                  </a:buClr>
                  <a:buNone/>
                </a:pP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𝝆</m:t>
                                    </m:r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num>
                                  <m:den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2000" b="1" baseline="-25000">
                                        <a:latin typeface="Monotype Corsiva" panose="03010101010201010101" pitchFamily="66" charset="0"/>
                                        <a:cs typeface="Calibri Light" panose="020F0302020204030204" pitchFamily="34" charset="0"/>
                                      </a:rPr>
                                      <m:t>o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2000" b="1">
                                        <a:latin typeface="Monotype Corsiva" panose="03010101010201010101" pitchFamily="66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𝝆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num>
                              <m:den>
                                <m:r>
                                  <a:rPr lang="fr-FR" sz="20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𝝆</m:t>
                                    </m:r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000" b="1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2000" b="1" baseline="-25000">
                                        <a:latin typeface="Monotype Corsiva" panose="03010101010201010101" pitchFamily="66" charset="0"/>
                                        <a:cs typeface="Calibri Light" panose="020F0302020204030204" pitchFamily="34" charset="0"/>
                                      </a:rPr>
                                      <m:t>o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2000" b="1" dirty="0">
                                        <a:latin typeface="Monotype Corsiva" panose="03010101010201010101" pitchFamily="66" charset="0"/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sz="2000" b="1" dirty="0">
                                        <a:latin typeface="Monotype Corsiva" panose="03010101010201010101" pitchFamily="66" charset="0"/>
                                      </a:rPr>
                                      <m:t>² 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 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𝝆</m:t>
                                </m:r>
                                <m:sSup>
                                  <m:sSupPr>
                                    <m:ctrlP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r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²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</m:e>
                        </m:eqArr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𝒄𝒂𝒓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fr-FR" sz="2000" b="1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Etudions E sur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endParaRPr lang="fr-FR" sz="2000" b="1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_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E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est dérivable sur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 comme fonction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polynôme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fr-F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num>
                      <m:den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  <m:r>
                      <a:rPr lang="fr-FR" sz="2000" b="1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sz="2000" b="1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0 .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Donc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E est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strictement croissant </a:t>
                </a:r>
                <a:r>
                  <a:rPr lang="fr-FR" sz="2000" b="1" dirty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sur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fr-FR" sz="2000" b="1" dirty="0" smtClean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  _E est dérivable sur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 comme fonction rationnelle et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∈]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fr-F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fr-F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m:rPr>
                            <m:nor/>
                          </m:rPr>
                          <a:rPr lang="fr-FR" sz="2000" b="1" baseline="-25000">
                            <a:latin typeface="Monotype Corsiva" panose="03010101010201010101" pitchFamily="66" charset="0"/>
                            <a:cs typeface="Calibri Light" panose="020F03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fr-FR" sz="2000" b="1">
                            <a:latin typeface="Monotype Corsiva" panose="03010101010201010101" pitchFamily="66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000" b="1" dirty="0" smtClean="0">
                    <a:latin typeface="Monotype Corsiva" panose="03010101010201010101" pitchFamily="66" charset="0"/>
                  </a:rPr>
                  <a:t>&lt; 0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Donc E est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strictement décroissant </a:t>
                </a:r>
              </a:p>
              <a:p>
                <a:pPr marL="0" indent="0">
                  <a:buNone/>
                </a:pP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sur </a:t>
                </a:r>
                <a14:m>
                  <m:oMath xmlns:m="http://schemas.openxmlformats.org/officeDocument/2006/math">
                    <m:r>
                      <a:rPr lang="fr-FR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  <m:r>
                      <a:rPr lang="fr-FR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endParaRPr lang="fr-FR" sz="2000" b="1" dirty="0" smtClean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D’autre part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fr-FR" sz="2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fr-FR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 smtClean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							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>
                  <a:buClr>
                    <a:srgbClr val="DE2A00"/>
                  </a:buClr>
                  <a:buFont typeface="Wingdings" panose="05000000000000000000" pitchFamily="2" charset="2"/>
                  <a:buChar char="Ø"/>
                </a:pPr>
                <a:r>
                  <a:rPr lang="fr-FR" sz="20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sz="2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𝝆</m:t>
                                </m:r>
                                <m:sSup>
                                  <m:sSupPr>
                                    <m:ctrlP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fr-FR" sz="2000" b="1" dirty="0">
                                <a:latin typeface="Monotype Corsiva" panose="03010101010201010101" pitchFamily="66" charset="0"/>
                              </a:rPr>
                              <m:t> + </m:t>
                            </m:r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𝝆</m:t>
                                </m:r>
                                <m:sSup>
                                  <m:sSupPr>
                                    <m:ctrlP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sSub>
                                  <m:sSubPr>
                                    <m:ctrlP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fr-FR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</m:e>
                          <m:e>
                            <m:f>
                              <m:fPr>
                                <m:ctrlP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𝝆</m:t>
                                </m:r>
                                <m:sSup>
                                  <m:sSupPr>
                                    <m:ctrlP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fr-FR" sz="20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baseline="-25000">
                                    <a:latin typeface="Monotype Corsiva" panose="03010101010201010101" pitchFamily="66" charset="0"/>
                                    <a:cs typeface="Calibri Light" panose="020F0302020204030204" pitchFamily="34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 dirty="0">
                                    <a:latin typeface="Monotype Corsiva" panose="03010101010201010101" pitchFamily="66" charset="0"/>
                                  </a:rPr>
                                  <m:t>r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1">
                                    <a:latin typeface="Monotype Corsiva" panose="03010101010201010101" pitchFamily="66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;+∞[</m:t>
                            </m:r>
                          </m:e>
                        </m:eqArr>
                      </m:e>
                    </m:d>
                  </m:oMath>
                </a14:m>
                <a:endParaRPr lang="fr-FR" sz="2000" b="1" dirty="0" smtClean="0">
                  <a:latin typeface="Monotype Corsiva" panose="03010101010201010101" pitchFamily="66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DE2A00"/>
                  </a:buClr>
                  <a:buNone/>
                </a:pPr>
                <a:r>
                  <a:rPr lang="fr-FR" sz="2000" b="1" dirty="0" smtClean="0">
                    <a:latin typeface="Monotype Corsiva" panose="03010101010201010101" pitchFamily="66" charset="0"/>
                  </a:rPr>
                  <a:t>	</a:t>
                </a:r>
                <a:r>
                  <a:rPr lang="fr-FR" sz="2000" b="1" dirty="0" smtClean="0">
                    <a:solidFill>
                      <a:srgbClr val="DE2A00"/>
                    </a:solidFill>
                    <a:latin typeface="Monotype Corsiva" panose="03010101010201010101" pitchFamily="66" charset="0"/>
                  </a:rPr>
                  <a:t>*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Etudions 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V  sur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</m:oMath>
                </a14:m>
                <a:endParaRPr lang="fr-FR" sz="2000" b="1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  Comme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V ‘(r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) = - E</a:t>
                </a:r>
                <a:r>
                  <a:rPr lang="fr-FR" sz="2000" b="1" baseline="-25000" dirty="0">
                    <a:latin typeface="Monotype Corsiva" panose="03010101010201010101" pitchFamily="66" charset="0"/>
                  </a:rPr>
                  <a:t>r</a:t>
                </a:r>
                <a:r>
                  <a:rPr lang="fr-FR" sz="2000" b="1" dirty="0">
                    <a:latin typeface="Monotype Corsiva" panose="03010101010201010101" pitchFamily="66" charset="0"/>
                  </a:rPr>
                  <a:t>(r)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 smtClean="0">
                    <a:latin typeface="Monotype Corsiva" panose="03010101010201010101" pitchFamily="66" charset="0"/>
                  </a:rPr>
                  <a:t>d’après </a:t>
                </a:r>
                <a:r>
                  <a:rPr lang="fr-FR" sz="2000" b="1" dirty="0" smtClean="0">
                    <a:latin typeface="Monotype Corsiva" panose="03010101010201010101" pitchFamily="66" charset="0"/>
                  </a:rPr>
                  <a:t>5c) 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Alors </a:t>
                </a:r>
                <a:r>
                  <a:rPr lang="fr-FR" sz="2000" dirty="0">
                    <a:latin typeface="Monotype Corsiva" panose="03010101010201010101" pitchFamily="66" charset="0"/>
                  </a:rPr>
                  <a:t>V est </a:t>
                </a:r>
                <a:r>
                  <a:rPr lang="fr-FR" sz="2000" b="1" dirty="0" smtClean="0">
                    <a:solidFill>
                      <a:schemeClr val="tx1"/>
                    </a:solidFill>
                    <a:latin typeface="Monotype Corsiva" panose="03010101010201010101" pitchFamily="66" charset="0"/>
                  </a:rPr>
                  <a:t>strictement croissant sur </a:t>
                </a:r>
                <a14:m>
                  <m:oMath xmlns:m="http://schemas.openxmlformats.org/officeDocument/2006/math"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;+∞[</m:t>
                    </m:r>
                    <m:r>
                      <a:rPr lang="fr-FR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fr-FR" sz="2000" dirty="0">
                    <a:latin typeface="Monotype Corsiva" panose="03010101010201010101" pitchFamily="66" charset="0"/>
                  </a:rPr>
                  <a:t>D’autre part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𝒍𝒊𝒎</m:t>
                            </m:r>
                          </m:e>
                          <m:lim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>
                  <a:solidFill>
                    <a:schemeClr val="tx1"/>
                  </a:solidFill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				       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		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</a:t>
                </a:r>
                <a:r>
                  <a:rPr lang="fr-FR" sz="2000" dirty="0" smtClean="0">
                    <a:latin typeface="Monotype Corsiva" panose="03010101010201010101" pitchFamily="66" charset="0"/>
                    <a:ea typeface="Cambria Math" panose="02040503050406030204" pitchFamily="18" charset="0"/>
                  </a:rPr>
                  <a:t> 							</a:t>
                </a:r>
                <a:endParaRPr lang="fr-FR" sz="2000" dirty="0" smtClean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>
                    <a:latin typeface="Monotype Corsiva" panose="03010101010201010101" pitchFamily="66" charset="0"/>
                  </a:rPr>
                  <a:t>	</a:t>
                </a:r>
                <a:r>
                  <a:rPr lang="fr-FR" sz="2000" dirty="0" smtClean="0">
                    <a:latin typeface="Monotype Corsiva" panose="03010101010201010101" pitchFamily="66" charset="0"/>
                  </a:rPr>
                  <a:t>													   </a:t>
                </a: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 																			          </a:t>
                </a:r>
                <a:endParaRPr lang="fr-FR" sz="2000" dirty="0">
                  <a:latin typeface="Monotype Corsiva" panose="03010101010201010101" pitchFamily="66" charset="0"/>
                </a:endParaRPr>
              </a:p>
              <a:p>
                <a:pPr marL="0" indent="0">
                  <a:buNone/>
                </a:pPr>
                <a:r>
                  <a:rPr lang="fr-FR" sz="2000" dirty="0" smtClean="0">
                    <a:latin typeface="Monotype Corsiva" panose="03010101010201010101" pitchFamily="66" charset="0"/>
                  </a:rPr>
                  <a:t>											         </a:t>
                </a:r>
                <a:endParaRPr lang="fr-FR" sz="2000" dirty="0">
                  <a:latin typeface="Monotype Corsiva" panose="03010101010201010101" pitchFamily="66" charset="0"/>
                </a:endParaRPr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53292"/>
                <a:ext cx="12192000" cy="6104708"/>
              </a:xfrm>
              <a:blipFill>
                <a:blip r:embed="rId3"/>
                <a:stretch>
                  <a:fillRect l="-500" t="-2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eur droit avec flèche 6"/>
          <p:cNvCxnSpPr/>
          <p:nvPr/>
        </p:nvCxnSpPr>
        <p:spPr>
          <a:xfrm flipV="1">
            <a:off x="5070167" y="6005633"/>
            <a:ext cx="46990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>
            <a:off x="6096000" y="6005633"/>
            <a:ext cx="531242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968593"/>
                  </p:ext>
                </p:extLst>
              </p:nvPr>
            </p:nvGraphicFramePr>
            <p:xfrm>
              <a:off x="3677713" y="4566165"/>
              <a:ext cx="3496714" cy="22245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96096">
                      <a:extLst>
                        <a:ext uri="{9D8B030D-6E8A-4147-A177-3AD203B41FA5}">
                          <a16:colId xmlns:a16="http://schemas.microsoft.com/office/drawing/2014/main" val="2007300073"/>
                        </a:ext>
                      </a:extLst>
                    </a:gridCol>
                    <a:gridCol w="1203866">
                      <a:extLst>
                        <a:ext uri="{9D8B030D-6E8A-4147-A177-3AD203B41FA5}">
                          <a16:colId xmlns:a16="http://schemas.microsoft.com/office/drawing/2014/main" val="1388537370"/>
                        </a:ext>
                      </a:extLst>
                    </a:gridCol>
                    <a:gridCol w="1196752">
                      <a:extLst>
                        <a:ext uri="{9D8B030D-6E8A-4147-A177-3AD203B41FA5}">
                          <a16:colId xmlns:a16="http://schemas.microsoft.com/office/drawing/2014/main" val="2092962369"/>
                        </a:ext>
                      </a:extLst>
                    </a:gridCol>
                  </a:tblGrid>
                  <a:tr h="4322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fr-FR" dirty="0" smtClean="0"/>
                            <a:t>0             R</a:t>
                          </a:r>
                          <a:r>
                            <a:rPr lang="fr-FR" baseline="0" dirty="0" smtClean="0"/>
                            <a:t>          </a:t>
                          </a:r>
                          <a:r>
                            <a:rPr lang="fr-FR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oMath>
                          </a14:m>
                          <a:endParaRPr lang="fr-FR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281441"/>
                      </a:ext>
                    </a:extLst>
                  </a:tr>
                  <a:tr h="410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E’(r)</a:t>
                          </a:r>
                          <a:endParaRPr lang="fr-FR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baseline="0" dirty="0" smtClean="0"/>
                            <a:t> </a:t>
                          </a:r>
                          <a:r>
                            <a:rPr lang="fr-FR" baseline="0" dirty="0" smtClean="0"/>
                            <a:t>   </a:t>
                          </a:r>
                          <a:r>
                            <a:rPr lang="fr-FR" baseline="0" dirty="0" smtClean="0"/>
                            <a:t>+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</m:num>
                                <m:den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fr-FR" sz="18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latin typeface="Monotype Corsiva" panose="03010101010201010101" pitchFamily="66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latin typeface="Monotype Corsiva" panose="03010101010201010101" pitchFamily="66" charset="0"/>
                                    </a:rPr>
                                    <m:t> </m:t>
                                  </m:r>
                                </m:den>
                              </m:f>
                            </m:oMath>
                          </a14:m>
                          <a:r>
                            <a:rPr lang="fr-FR" baseline="0" dirty="0" smtClean="0"/>
                            <a:t>  </a:t>
                          </a:r>
                          <a:endParaRPr lang="fr-FR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 smtClean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fr-FR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</m:num>
                                <m:den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fr-FR" sz="18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 baseline="-25000">
                                      <a:latin typeface="Monotype Corsiva" panose="03010101010201010101" pitchFamily="66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800" b="1">
                                      <a:latin typeface="Monotype Corsiva" panose="03010101010201010101" pitchFamily="66" charset="0"/>
                                    </a:rPr>
                                    <m:t> </m:t>
                                  </m:r>
                                </m:den>
                              </m:f>
                            </m:oMath>
                          </a14:m>
                          <a:r>
                            <a:rPr lang="fr-FR" dirty="0" smtClean="0"/>
                            <a:t>     -</a:t>
                          </a:r>
                          <a:endParaRPr lang="fr-F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5637771"/>
                      </a:ext>
                    </a:extLst>
                  </a:tr>
                  <a:tr h="1195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E(r)</a:t>
                          </a:r>
                          <a:endParaRPr lang="fr-FR" dirty="0"/>
                        </a:p>
                      </a:txBody>
                      <a:tcPr anchor="ctr"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fr-FR" dirty="0" smtClean="0"/>
                            <a:t>          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baseline="-25000">
                                      <a:latin typeface="Calibri Light" panose="020F0302020204030204" pitchFamily="34" charset="0"/>
                                      <a:cs typeface="Calibri Light" panose="020F0302020204030204" pitchFamily="34" charset="0"/>
                                    </a:rPr>
                                    <m:t>o</m:t>
                                  </m:r>
                                  <m:r>
                                    <m:rPr>
                                      <m:nor/>
                                    </m:rPr>
                                    <a:rPr lang="fr-FR"/>
                                    <m:t> </m:t>
                                  </m:r>
                                </m:den>
                              </m:f>
                            </m:oMath>
                          </a14:m>
                          <a:endParaRPr lang="fr-FR" dirty="0" smtClean="0"/>
                        </a:p>
                        <a:p>
                          <a:r>
                            <a:rPr lang="fr-FR" dirty="0" smtClean="0"/>
                            <a:t>        </a:t>
                          </a:r>
                          <a:endParaRPr lang="fr-FR" sz="2800" dirty="0" smtClean="0"/>
                        </a:p>
                        <a:p>
                          <a:r>
                            <a:rPr lang="fr-FR" dirty="0" smtClean="0"/>
                            <a:t>  </a:t>
                          </a:r>
                        </a:p>
                        <a:p>
                          <a:r>
                            <a:rPr lang="fr-FR" dirty="0" smtClean="0"/>
                            <a:t>0                            0</a:t>
                          </a:r>
                          <a:endParaRPr lang="fr-FR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56854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968593"/>
                  </p:ext>
                </p:extLst>
              </p:nvPr>
            </p:nvGraphicFramePr>
            <p:xfrm>
              <a:off x="3677713" y="4566165"/>
              <a:ext cx="3496714" cy="22245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96096">
                      <a:extLst>
                        <a:ext uri="{9D8B030D-6E8A-4147-A177-3AD203B41FA5}">
                          <a16:colId xmlns:a16="http://schemas.microsoft.com/office/drawing/2014/main" val="2007300073"/>
                        </a:ext>
                      </a:extLst>
                    </a:gridCol>
                    <a:gridCol w="1203866">
                      <a:extLst>
                        <a:ext uri="{9D8B030D-6E8A-4147-A177-3AD203B41FA5}">
                          <a16:colId xmlns:a16="http://schemas.microsoft.com/office/drawing/2014/main" val="1388537370"/>
                        </a:ext>
                      </a:extLst>
                    </a:gridCol>
                    <a:gridCol w="1196752">
                      <a:extLst>
                        <a:ext uri="{9D8B030D-6E8A-4147-A177-3AD203B41FA5}">
                          <a16:colId xmlns:a16="http://schemas.microsoft.com/office/drawing/2014/main" val="2092962369"/>
                        </a:ext>
                      </a:extLst>
                    </a:gridCol>
                  </a:tblGrid>
                  <a:tr h="4322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939" t="-7042" r="-508" b="-43662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281441"/>
                      </a:ext>
                    </a:extLst>
                  </a:tr>
                  <a:tr h="4883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E’(r)</a:t>
                          </a:r>
                          <a:endParaRPr lang="fr-FR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414" t="-95000" r="-100000" b="-2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3367" t="-95000" r="-1020" b="-2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5637771"/>
                      </a:ext>
                    </a:extLst>
                  </a:tr>
                  <a:tr h="13039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E(r)</a:t>
                          </a:r>
                          <a:endParaRPr lang="fr-FR" dirty="0"/>
                        </a:p>
                      </a:txBody>
                      <a:tcPr anchor="ctr"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5939" t="-72897" r="-508" b="-747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56854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au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161183"/>
                  </p:ext>
                </p:extLst>
              </p:nvPr>
            </p:nvGraphicFramePr>
            <p:xfrm>
              <a:off x="7849374" y="3518562"/>
              <a:ext cx="3543169" cy="204487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006">
                      <a:extLst>
                        <a:ext uri="{9D8B030D-6E8A-4147-A177-3AD203B41FA5}">
                          <a16:colId xmlns:a16="http://schemas.microsoft.com/office/drawing/2014/main" val="2914038641"/>
                        </a:ext>
                      </a:extLst>
                    </a:gridCol>
                    <a:gridCol w="2175163">
                      <a:extLst>
                        <a:ext uri="{9D8B030D-6E8A-4147-A177-3AD203B41FA5}">
                          <a16:colId xmlns:a16="http://schemas.microsoft.com/office/drawing/2014/main" val="104790705"/>
                        </a:ext>
                      </a:extLst>
                    </a:gridCol>
                  </a:tblGrid>
                  <a:tr h="3778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0           R         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oMath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5821167"/>
                      </a:ext>
                    </a:extLst>
                  </a:tr>
                  <a:tr h="3778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V’(r) = -</a:t>
                          </a:r>
                          <a:r>
                            <a:rPr lang="fr-FR" sz="1800" dirty="0" smtClean="0">
                              <a:latin typeface="Monotype Corsiva" panose="03010101010201010101" pitchFamily="66" charset="0"/>
                            </a:rPr>
                            <a:t>E</a:t>
                          </a:r>
                          <a:r>
                            <a:rPr lang="fr-FR" sz="1800" baseline="-25000" dirty="0" smtClean="0">
                              <a:latin typeface="Monotype Corsiva" panose="03010101010201010101" pitchFamily="66" charset="0"/>
                            </a:rPr>
                            <a:t>r</a:t>
                          </a:r>
                          <a:r>
                            <a:rPr lang="fr-FR" sz="1800" dirty="0" smtClean="0">
                              <a:latin typeface="Monotype Corsiva" panose="03010101010201010101" pitchFamily="66" charset="0"/>
                            </a:rPr>
                            <a:t>(r) </a:t>
                          </a:r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    +                 +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8542"/>
                      </a:ext>
                    </a:extLst>
                  </a:tr>
                  <a:tr h="10043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                           0</a:t>
                          </a:r>
                          <a:endParaRPr lang="fr-FR" b="0" dirty="0" smtClean="0"/>
                        </a:p>
                        <a:p>
                          <a:r>
                            <a:rPr lang="fr-FR" dirty="0" smtClean="0"/>
                            <a:t>          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sSup>
                                    <m:sSupPr>
                                      <m:ctrlP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fr-FR" sz="1800" b="0" dirty="0"/>
                                    <m:t> </m:t>
                                  </m:r>
                                </m:den>
                              </m:f>
                            </m:oMath>
                          </a14:m>
                          <a:endParaRPr lang="fr-FR" b="0" dirty="0" smtClean="0"/>
                        </a:p>
                        <a:p>
                          <a:r>
                            <a:rPr lang="fr-FR" dirty="0" smtClean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sSup>
                                    <m:sSupPr>
                                      <m:ctrlP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fr-F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fr-FR" sz="1800" b="0" dirty="0"/>
                                    <m:t> </m:t>
                                  </m:r>
                                </m:den>
                              </m:f>
                            </m:oMath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970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au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161183"/>
                  </p:ext>
                </p:extLst>
              </p:nvPr>
            </p:nvGraphicFramePr>
            <p:xfrm>
              <a:off x="7849374" y="3518562"/>
              <a:ext cx="3543169" cy="204487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006">
                      <a:extLst>
                        <a:ext uri="{9D8B030D-6E8A-4147-A177-3AD203B41FA5}">
                          <a16:colId xmlns:a16="http://schemas.microsoft.com/office/drawing/2014/main" val="2914038641"/>
                        </a:ext>
                      </a:extLst>
                    </a:gridCol>
                    <a:gridCol w="2175163">
                      <a:extLst>
                        <a:ext uri="{9D8B030D-6E8A-4147-A177-3AD203B41FA5}">
                          <a16:colId xmlns:a16="http://schemas.microsoft.com/office/drawing/2014/main" val="104790705"/>
                        </a:ext>
                      </a:extLst>
                    </a:gridCol>
                  </a:tblGrid>
                  <a:tr h="3778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r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5"/>
                          <a:stretch>
                            <a:fillRect l="-63305" t="-8065" r="-560" b="-44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5821167"/>
                      </a:ext>
                    </a:extLst>
                  </a:tr>
                  <a:tr h="3778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V’(r) = </a:t>
                          </a:r>
                          <a:r>
                            <a:rPr lang="fr-FR" dirty="0" smtClean="0"/>
                            <a:t>-</a:t>
                          </a:r>
                          <a:r>
                            <a:rPr lang="fr-FR" sz="1800" dirty="0" smtClean="0">
                              <a:latin typeface="Monotype Corsiva" panose="03010101010201010101" pitchFamily="66" charset="0"/>
                            </a:rPr>
                            <a:t>E</a:t>
                          </a:r>
                          <a:r>
                            <a:rPr lang="fr-FR" sz="1800" baseline="-25000" dirty="0" smtClean="0">
                              <a:latin typeface="Monotype Corsiva" panose="03010101010201010101" pitchFamily="66" charset="0"/>
                            </a:rPr>
                            <a:t>r</a:t>
                          </a:r>
                          <a:r>
                            <a:rPr lang="fr-FR" sz="1800" dirty="0" smtClean="0">
                              <a:latin typeface="Monotype Corsiva" panose="03010101010201010101" pitchFamily="66" charset="0"/>
                            </a:rPr>
                            <a:t>(r</a:t>
                          </a:r>
                          <a:r>
                            <a:rPr lang="fr-FR" sz="1800" dirty="0" smtClean="0">
                              <a:latin typeface="Monotype Corsiva" panose="03010101010201010101" pitchFamily="66" charset="0"/>
                            </a:rPr>
                            <a:t>) </a:t>
                          </a:r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    +                 </a:t>
                          </a:r>
                          <a:r>
                            <a:rPr lang="fr-FR" dirty="0" smtClean="0"/>
                            <a:t>+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8542"/>
                      </a:ext>
                    </a:extLst>
                  </a:tr>
                  <a:tr h="12891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V(r)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5"/>
                          <a:stretch>
                            <a:fillRect l="-63305" t="-60849" r="-560" b="-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708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4" name="Connecteur droit 23"/>
          <p:cNvCxnSpPr/>
          <p:nvPr/>
        </p:nvCxnSpPr>
        <p:spPr>
          <a:xfrm>
            <a:off x="10252363" y="3906982"/>
            <a:ext cx="0" cy="374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V="1">
            <a:off x="9749493" y="4862945"/>
            <a:ext cx="360219" cy="271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V="1">
            <a:off x="10610234" y="4420693"/>
            <a:ext cx="332509" cy="290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H="1">
            <a:off x="5876544" y="720436"/>
            <a:ext cx="12052" cy="3845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21/23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5888596" y="4998906"/>
            <a:ext cx="17417" cy="428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08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89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" t="14437" r="10380" b="9632"/>
          <a:stretch/>
        </p:blipFill>
        <p:spPr>
          <a:xfrm>
            <a:off x="-34999" y="1029779"/>
            <a:ext cx="6120000" cy="4140000"/>
          </a:xfrm>
          <a:prstGeom prst="rect">
            <a:avLst/>
          </a:prstGeom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774202" y="5456469"/>
            <a:ext cx="4712677" cy="4561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u="sng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Représentation de la Courbe du Champ</a:t>
            </a:r>
            <a:endParaRPr lang="fr-FR" b="1" u="sng" dirty="0">
              <a:solidFill>
                <a:srgbClr val="DE2A0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6487234" y="5456468"/>
            <a:ext cx="4920481" cy="4561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u="sng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Représentation de la Courbe du Potentiel</a:t>
            </a:r>
            <a:endParaRPr lang="fr-FR" b="1" u="sng" dirty="0">
              <a:solidFill>
                <a:srgbClr val="DE2A00"/>
              </a:solidFill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126896" y="3662082"/>
                <a:ext cx="647306" cy="668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fr-FR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  <m:r>
                            <m:rPr>
                              <m:nor/>
                            </m:rPr>
                            <a:rPr lang="fr-FR" sz="2000" b="1" baseline="-2500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fr-FR" sz="2000" b="1"/>
                            <m:t> 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96" y="3662082"/>
                <a:ext cx="647306" cy="668581"/>
              </a:xfrm>
              <a:prstGeom prst="rect">
                <a:avLst/>
              </a:prstGeom>
              <a:blipFill>
                <a:blip r:embed="rId3"/>
                <a:stretch>
                  <a:fillRect b="-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/>
          <p:cNvSpPr txBox="1"/>
          <p:nvPr/>
        </p:nvSpPr>
        <p:spPr>
          <a:xfrm>
            <a:off x="5351257" y="5076581"/>
            <a:ext cx="772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 (m)</a:t>
            </a:r>
            <a:endParaRPr lang="fr-FR" sz="2000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2950320" y="4460194"/>
            <a:ext cx="983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DE2A00"/>
                </a:solidFill>
              </a:rPr>
              <a:t>E = f(r)</a:t>
            </a:r>
            <a:endParaRPr lang="fr-FR" sz="2000" b="1" dirty="0">
              <a:solidFill>
                <a:srgbClr val="DE2A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-70712" y="663195"/>
            <a:ext cx="1219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E (v/m)</a:t>
            </a:r>
            <a:endParaRPr lang="fr-FR" sz="2000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1642818" y="5096804"/>
            <a:ext cx="34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9" t="5860" r="6188" b="15289"/>
          <a:stretch/>
        </p:blipFill>
        <p:spPr>
          <a:xfrm>
            <a:off x="6122122" y="950789"/>
            <a:ext cx="6054498" cy="4146015"/>
          </a:xfrm>
          <a:prstGeom prst="rect">
            <a:avLst/>
          </a:prstGeom>
        </p:spPr>
      </p:pic>
      <p:sp>
        <p:nvSpPr>
          <p:cNvPr id="29" name="ZoneTexte 28"/>
          <p:cNvSpPr txBox="1"/>
          <p:nvPr/>
        </p:nvSpPr>
        <p:spPr>
          <a:xfrm>
            <a:off x="5853037" y="643877"/>
            <a:ext cx="806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dirty="0" smtClean="0"/>
              <a:t> (v)</a:t>
            </a:r>
            <a:endParaRPr lang="fr-FR" sz="2000" b="1" dirty="0"/>
          </a:p>
        </p:txBody>
      </p:sp>
      <p:sp>
        <p:nvSpPr>
          <p:cNvPr id="30" name="ZoneTexte 29"/>
          <p:cNvSpPr txBox="1"/>
          <p:nvPr/>
        </p:nvSpPr>
        <p:spPr>
          <a:xfrm>
            <a:off x="11440083" y="1218438"/>
            <a:ext cx="772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 (m)</a:t>
            </a:r>
            <a:endParaRPr lang="fr-FR" sz="2000" b="1" dirty="0"/>
          </a:p>
        </p:txBody>
      </p:sp>
      <p:sp>
        <p:nvSpPr>
          <p:cNvPr id="32" name="ZoneTexte 31"/>
          <p:cNvSpPr txBox="1"/>
          <p:nvPr/>
        </p:nvSpPr>
        <p:spPr>
          <a:xfrm>
            <a:off x="8741035" y="2699669"/>
            <a:ext cx="110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DE2A00"/>
                </a:solidFill>
              </a:rPr>
              <a:t>V</a:t>
            </a:r>
            <a:r>
              <a:rPr lang="fr-FR" sz="2000" b="1" dirty="0" smtClean="0">
                <a:solidFill>
                  <a:srgbClr val="DE2A00"/>
                </a:solidFill>
              </a:rPr>
              <a:t> = g(r)</a:t>
            </a:r>
            <a:endParaRPr lang="fr-FR" sz="2000" b="1" dirty="0">
              <a:solidFill>
                <a:srgbClr val="DE2A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489234" y="3408581"/>
                <a:ext cx="732315" cy="769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sSup>
                            <m:sSup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r-FR" sz="2000" b="1" dirty="0"/>
                            <m:t> 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234" y="3408581"/>
                <a:ext cx="732315" cy="769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5486879" y="2639011"/>
                <a:ext cx="732315" cy="769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sSup>
                            <m:sSup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r-FR" sz="2000" b="1" dirty="0"/>
                            <m:t> 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879" y="2639011"/>
                <a:ext cx="732315" cy="769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ZoneTexte 34"/>
          <p:cNvSpPr txBox="1"/>
          <p:nvPr/>
        </p:nvSpPr>
        <p:spPr>
          <a:xfrm>
            <a:off x="7642960" y="1218438"/>
            <a:ext cx="34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R</a:t>
            </a:r>
            <a:endParaRPr lang="fr-FR" sz="2000" b="1" dirty="0"/>
          </a:p>
        </p:txBody>
      </p:sp>
      <p:sp>
        <p:nvSpPr>
          <p:cNvPr id="36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10984992" y="6656832"/>
            <a:ext cx="1207008" cy="20116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22/23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-51871" y="5136253"/>
            <a:ext cx="37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0</a:t>
            </a:r>
            <a:endParaRPr lang="fr-FR" sz="2000" b="1" dirty="0"/>
          </a:p>
        </p:txBody>
      </p:sp>
      <p:sp>
        <p:nvSpPr>
          <p:cNvPr id="38" name="ZoneTexte 37"/>
          <p:cNvSpPr txBox="1"/>
          <p:nvPr/>
        </p:nvSpPr>
        <p:spPr>
          <a:xfrm>
            <a:off x="5798839" y="1418493"/>
            <a:ext cx="37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0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4776196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74182"/>
            <a:ext cx="12192000" cy="6383817"/>
          </a:xfrm>
        </p:spPr>
        <p:txBody>
          <a:bodyPr>
            <a:noAutofit/>
          </a:bodyPr>
          <a:lstStyle/>
          <a:p>
            <a:pPr>
              <a:buClr>
                <a:srgbClr val="DE2A00"/>
              </a:buClr>
              <a:buFont typeface="Wingdings" panose="05000000000000000000" pitchFamily="2" charset="2"/>
              <a:buChar char="Ø"/>
            </a:pPr>
            <a:r>
              <a:rPr lang="fr-FR" sz="2000" dirty="0" smtClean="0">
                <a:latin typeface="Monotype Corsiva" panose="03010101010201010101" pitchFamily="66" charset="0"/>
              </a:rPr>
              <a:t>En définitive , suite à la résolution de et exercice, force a été de constater les faits suivants : </a:t>
            </a: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Dans le cas d’une distribution surfacique uniforme de charge positive sur une sphère, le champ électrostatique induit, subit une </a:t>
            </a:r>
            <a:r>
              <a:rPr lang="fr-FR" sz="2000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discontinuité</a:t>
            </a:r>
            <a:r>
              <a:rPr lang="fr-FR" sz="2000" dirty="0" smtClean="0">
                <a:latin typeface="Monotype Corsiva" panose="03010101010201010101" pitchFamily="66" charset="0"/>
              </a:rPr>
              <a:t> à la traversée de la surface de la dite sphère, contrairement au potentiel </a:t>
            </a:r>
            <a:r>
              <a:rPr lang="fr-FR" sz="2000" dirty="0">
                <a:latin typeface="Monotype Corsiva" panose="03010101010201010101" pitchFamily="66" charset="0"/>
              </a:rPr>
              <a:t>électrostatique </a:t>
            </a:r>
            <a:r>
              <a:rPr lang="fr-FR" sz="2000" dirty="0" smtClean="0">
                <a:latin typeface="Monotype Corsiva" panose="03010101010201010101" pitchFamily="66" charset="0"/>
              </a:rPr>
              <a:t>qui demeure </a:t>
            </a:r>
            <a:r>
              <a:rPr lang="fr-FR" sz="2000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continu</a:t>
            </a:r>
            <a:r>
              <a:rPr lang="fr-FR" sz="2000" dirty="0" smtClean="0">
                <a:latin typeface="Monotype Corsiva" panose="03010101010201010101" pitchFamily="66" charset="0"/>
              </a:rPr>
              <a:t>;</a:t>
            </a: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Dans </a:t>
            </a:r>
            <a:r>
              <a:rPr lang="fr-FR" sz="2000" dirty="0">
                <a:latin typeface="Monotype Corsiva" panose="03010101010201010101" pitchFamily="66" charset="0"/>
              </a:rPr>
              <a:t>le cas d’une distribution </a:t>
            </a:r>
            <a:r>
              <a:rPr lang="fr-FR" sz="2000" dirty="0" smtClean="0">
                <a:latin typeface="Monotype Corsiva" panose="03010101010201010101" pitchFamily="66" charset="0"/>
              </a:rPr>
              <a:t>volumique uniforme de charge négative dans une sphère, le champ et le potentiel électrostatiques induits sont </a:t>
            </a:r>
            <a:r>
              <a:rPr lang="fr-FR" sz="2000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continus</a:t>
            </a:r>
            <a:r>
              <a:rPr lang="fr-FR" sz="2000" dirty="0" smtClean="0">
                <a:latin typeface="Monotype Corsiva" panose="03010101010201010101" pitchFamily="66" charset="0"/>
              </a:rPr>
              <a:t> à la traversée de la surface de la dite sphère;</a:t>
            </a:r>
            <a:endParaRPr lang="fr-FR" sz="2000" dirty="0">
              <a:latin typeface="Monotype Corsiva" panose="03010101010201010101" pitchFamily="66" charset="0"/>
            </a:endParaRP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De toutes les fonctions étudiées, ce n’est que celle du potentiel </a:t>
            </a:r>
            <a:r>
              <a:rPr lang="fr-FR" sz="2000" dirty="0">
                <a:latin typeface="Monotype Corsiva" panose="03010101010201010101" pitchFamily="66" charset="0"/>
              </a:rPr>
              <a:t>électrostatique </a:t>
            </a:r>
            <a:r>
              <a:rPr lang="fr-FR" sz="2000" dirty="0" smtClean="0">
                <a:latin typeface="Monotype Corsiva" panose="03010101010201010101" pitchFamily="66" charset="0"/>
              </a:rPr>
              <a:t>dans le cas </a:t>
            </a:r>
            <a:r>
              <a:rPr lang="fr-FR" sz="2000" dirty="0">
                <a:latin typeface="Monotype Corsiva" panose="03010101010201010101" pitchFamily="66" charset="0"/>
              </a:rPr>
              <a:t>d’une distribution volumique uniforme de charge </a:t>
            </a:r>
            <a:r>
              <a:rPr lang="fr-FR" sz="2000" dirty="0" smtClean="0">
                <a:latin typeface="Monotype Corsiva" panose="03010101010201010101" pitchFamily="66" charset="0"/>
              </a:rPr>
              <a:t>négative, qui était </a:t>
            </a:r>
            <a:r>
              <a:rPr lang="fr-FR" sz="2000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dérivable pour r = R. </a:t>
            </a:r>
            <a:r>
              <a:rPr lang="fr-FR" sz="2000" dirty="0" smtClean="0">
                <a:latin typeface="Monotype Corsiva" panose="03010101010201010101" pitchFamily="66" charset="0"/>
              </a:rPr>
              <a:t>Physiquement, cela veut dire qu’en un point sur la surface (r= R), qu’on aille à l’intérieur ou à l’extérieur de la sphère, </a:t>
            </a:r>
            <a:r>
              <a:rPr lang="fr-FR" sz="2000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la variation élémentaire du potentiel est la même en valeur absolue</a:t>
            </a:r>
            <a:r>
              <a:rPr lang="fr-FR" sz="2000" dirty="0">
                <a:latin typeface="Monotype Corsiva" panose="03010101010201010101" pitchFamily="66" charset="0"/>
              </a:rPr>
              <a:t>;</a:t>
            </a:r>
            <a:endParaRPr lang="fr-FR" sz="2000" dirty="0" smtClean="0">
              <a:latin typeface="Monotype Corsiva" panose="03010101010201010101" pitchFamily="66" charset="0"/>
            </a:endParaRP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Enfin le champ et le potentiel électrostatiques créés par une sphère uniformément chargée en surface ou en volume en un point à l’extérieur de celle – ci, sont équivalents à ceux créés par une charge ponctuelle placée en son centre, dont la charge dans les différents cas fut déterminée plus haut;  d’où la justification de cette approximation faite au secondaire.</a:t>
            </a:r>
          </a:p>
          <a:p>
            <a:pPr>
              <a:buClr>
                <a:srgbClr val="DE2A00"/>
              </a:buClr>
              <a:buFont typeface="Wingdings" panose="05000000000000000000" pitchFamily="2" charset="2"/>
              <a:buChar char="Ø"/>
            </a:pPr>
            <a:r>
              <a:rPr lang="fr-FR" sz="2000" dirty="0" smtClean="0">
                <a:latin typeface="Monotype Corsiva" panose="03010101010201010101" pitchFamily="66" charset="0"/>
              </a:rPr>
              <a:t>Pour terminer, pour la résolution de cet exercice, nous nous sommes servis et/ou inspirés:</a:t>
            </a: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Monotype Corsiva" panose="03010101010201010101" pitchFamily="66" charset="0"/>
              </a:rPr>
              <a:t>D</a:t>
            </a:r>
            <a:r>
              <a:rPr lang="fr-FR" sz="2000" dirty="0" smtClean="0">
                <a:latin typeface="Monotype Corsiva" panose="03010101010201010101" pitchFamily="66" charset="0"/>
              </a:rPr>
              <a:t>u </a:t>
            </a:r>
            <a:r>
              <a:rPr lang="fr-FR" sz="2000" b="1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« Cours d’Electromagnétisme I </a:t>
            </a:r>
            <a:r>
              <a:rPr lang="fr-FR" sz="2000" b="1" dirty="0">
                <a:solidFill>
                  <a:srgbClr val="DE2A00"/>
                </a:solidFill>
                <a:latin typeface="Monotype Corsiva" panose="03010101010201010101" pitchFamily="66" charset="0"/>
              </a:rPr>
              <a:t>» </a:t>
            </a:r>
            <a:r>
              <a:rPr lang="fr-FR" sz="2000" dirty="0" smtClean="0">
                <a:solidFill>
                  <a:schemeClr val="tx1"/>
                </a:solidFill>
                <a:latin typeface="Monotype Corsiva" panose="03010101010201010101" pitchFamily="66" charset="0"/>
              </a:rPr>
              <a:t>du</a:t>
            </a:r>
            <a:r>
              <a:rPr lang="fr-FR" sz="2000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 </a:t>
            </a:r>
            <a:r>
              <a:rPr lang="fr-FR" sz="2000" b="1" dirty="0" smtClean="0">
                <a:solidFill>
                  <a:schemeClr val="tx1"/>
                </a:solidFill>
                <a:latin typeface="Monotype Corsiva" panose="03010101010201010101" pitchFamily="66" charset="0"/>
              </a:rPr>
              <a:t>Pr FANDIO Bridinette  </a:t>
            </a:r>
            <a:r>
              <a:rPr lang="fr-FR" sz="2000" dirty="0" smtClean="0">
                <a:solidFill>
                  <a:schemeClr val="tx1"/>
                </a:solidFill>
                <a:latin typeface="Monotype Corsiva" panose="03010101010201010101" pitchFamily="66" charset="0"/>
              </a:rPr>
              <a:t>et des </a:t>
            </a:r>
            <a:r>
              <a:rPr lang="fr-FR" sz="2000" b="1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Séances de TD  sur l’Electromagnétisme I</a:t>
            </a:r>
            <a:r>
              <a:rPr lang="fr-FR" sz="2000" b="1" dirty="0" smtClean="0">
                <a:solidFill>
                  <a:schemeClr val="tx1"/>
                </a:solidFill>
                <a:latin typeface="Monotype Corsiva" panose="03010101010201010101" pitchFamily="66" charset="0"/>
              </a:rPr>
              <a:t> </a:t>
            </a:r>
            <a:r>
              <a:rPr lang="fr-FR" sz="2000" dirty="0" smtClean="0">
                <a:solidFill>
                  <a:schemeClr val="tx1"/>
                </a:solidFill>
                <a:latin typeface="Monotype Corsiva" panose="03010101010201010101" pitchFamily="66" charset="0"/>
              </a:rPr>
              <a:t>avec</a:t>
            </a:r>
            <a:r>
              <a:rPr lang="fr-FR" sz="2000" b="1" dirty="0" smtClean="0">
                <a:solidFill>
                  <a:schemeClr val="tx1"/>
                </a:solidFill>
                <a:latin typeface="Monotype Corsiva" panose="03010101010201010101" pitchFamily="66" charset="0"/>
              </a:rPr>
              <a:t> M. TCHANA;</a:t>
            </a: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Du </a:t>
            </a:r>
            <a:r>
              <a:rPr lang="fr-FR" sz="2000" b="1" dirty="0">
                <a:latin typeface="Monotype Corsiva" panose="03010101010201010101" pitchFamily="66" charset="0"/>
              </a:rPr>
              <a:t>C</a:t>
            </a:r>
            <a:r>
              <a:rPr lang="fr-FR" sz="2000" b="1" dirty="0" smtClean="0">
                <a:latin typeface="Monotype Corsiva" panose="03010101010201010101" pitchFamily="66" charset="0"/>
              </a:rPr>
              <a:t>ours et des Exercices  sur l’Electromagnétisme </a:t>
            </a:r>
            <a:r>
              <a:rPr lang="fr-FR" sz="2000" dirty="0" smtClean="0">
                <a:latin typeface="Monotype Corsiva" panose="03010101010201010101" pitchFamily="66" charset="0"/>
              </a:rPr>
              <a:t>du site </a:t>
            </a:r>
            <a:r>
              <a:rPr lang="fr-FR" sz="2000" b="1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« www.cours-et-exercices </a:t>
            </a:r>
            <a:r>
              <a:rPr lang="fr-FR" sz="2000" b="1" dirty="0">
                <a:solidFill>
                  <a:srgbClr val="DE2A00"/>
                </a:solidFill>
                <a:latin typeface="Monotype Corsiva" panose="03010101010201010101" pitchFamily="66" charset="0"/>
              </a:rPr>
              <a:t>.</a:t>
            </a:r>
            <a:r>
              <a:rPr lang="fr-FR" sz="2000" b="1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com »;</a:t>
            </a: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Du logiciel </a:t>
            </a:r>
            <a:r>
              <a:rPr lang="fr-FR" sz="2000" b="1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« Microsoft Office Powerpoint 2016 » </a:t>
            </a:r>
            <a:r>
              <a:rPr lang="fr-FR" sz="2000" dirty="0" smtClean="0">
                <a:latin typeface="Monotype Corsiva" panose="03010101010201010101" pitchFamily="66" charset="0"/>
              </a:rPr>
              <a:t>pour </a:t>
            </a:r>
            <a:r>
              <a:rPr lang="fr-FR" sz="2000" b="1" dirty="0" smtClean="0">
                <a:latin typeface="Monotype Corsiva" panose="03010101010201010101" pitchFamily="66" charset="0"/>
              </a:rPr>
              <a:t>le fond et la </a:t>
            </a:r>
            <a:r>
              <a:rPr lang="fr-FR" sz="2000" b="1" dirty="0" smtClean="0">
                <a:latin typeface="Monotype Corsiva" panose="03010101010201010101" pitchFamily="66" charset="0"/>
              </a:rPr>
              <a:t>forme de  la présentation </a:t>
            </a:r>
            <a:r>
              <a:rPr lang="fr-FR" sz="2000" b="1" dirty="0" smtClean="0">
                <a:latin typeface="Monotype Corsiva" panose="03010101010201010101" pitchFamily="66" charset="0"/>
              </a:rPr>
              <a:t>;</a:t>
            </a:r>
          </a:p>
          <a:p>
            <a:pPr lvl="1">
              <a:buClr>
                <a:srgbClr val="DE2A00"/>
              </a:buClr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Monotype Corsiva" panose="03010101010201010101" pitchFamily="66" charset="0"/>
              </a:rPr>
              <a:t>Et du très complet logiciel gratuit </a:t>
            </a:r>
            <a:r>
              <a:rPr lang="fr-FR" sz="2000" b="1" dirty="0" smtClean="0">
                <a:solidFill>
                  <a:srgbClr val="DE2A00"/>
                </a:solidFill>
                <a:latin typeface="Monotype Corsiva" panose="03010101010201010101" pitchFamily="66" charset="0"/>
              </a:rPr>
              <a:t>«</a:t>
            </a:r>
            <a:r>
              <a:rPr lang="fr-FR" sz="2000" b="1" dirty="0">
                <a:solidFill>
                  <a:srgbClr val="DE2A00"/>
                </a:solidFill>
                <a:latin typeface="Monotype Corsiva" panose="03010101010201010101" pitchFamily="66" charset="0"/>
              </a:rPr>
              <a:t> Geogebra » </a:t>
            </a:r>
            <a:r>
              <a:rPr lang="fr-FR" sz="2000" dirty="0" smtClean="0">
                <a:latin typeface="Monotype Corsiva" panose="03010101010201010101" pitchFamily="66" charset="0"/>
              </a:rPr>
              <a:t> pour les courbes 2D et les représentations 3D.</a:t>
            </a:r>
            <a:endParaRPr lang="fr-FR" sz="2000" dirty="0">
              <a:latin typeface="Monotype Corsiva" panose="03010101010201010101" pitchFamily="66" charset="0"/>
            </a:endParaRPr>
          </a:p>
        </p:txBody>
      </p:sp>
      <p:sp>
        <p:nvSpPr>
          <p:cNvPr id="5" name="Espace réservé du pied de page 6"/>
          <p:cNvSpPr txBox="1">
            <a:spLocks/>
          </p:cNvSpPr>
          <p:nvPr/>
        </p:nvSpPr>
        <p:spPr>
          <a:xfrm>
            <a:off x="10984992" y="6656832"/>
            <a:ext cx="1207008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 smtClean="0">
                <a:solidFill>
                  <a:srgbClr val="0070C0"/>
                </a:solidFill>
                <a:latin typeface="Monotype Corsiva" panose="03010101010201010101" pitchFamily="66" charset="0"/>
              </a:rPr>
              <a:t>Page 23/23</a:t>
            </a:r>
            <a:endParaRPr lang="fr-FR" sz="2000" b="1" dirty="0">
              <a:solidFill>
                <a:srgbClr val="0070C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874467" y="0"/>
            <a:ext cx="8771762" cy="53557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u="sng" dirty="0" smtClean="0">
                <a:latin typeface="Monotype Corsiva" panose="03010101010201010101" pitchFamily="66" charset="0"/>
              </a:rPr>
              <a:t>Conclusion &amp; Bibliographie</a:t>
            </a:r>
            <a:endParaRPr lang="fr-FR" b="1" u="sng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2794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17823</TotalTime>
  <Words>6296</Words>
  <Application>Microsoft Office PowerPoint</Application>
  <PresentationFormat>Grand écran</PresentationFormat>
  <Paragraphs>385</Paragraphs>
  <Slides>23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Century Gothic</vt:lpstr>
      <vt:lpstr>Monotype Corsiva</vt:lpstr>
      <vt:lpstr>Times New Roman</vt:lpstr>
      <vt:lpstr>Wingdings</vt:lpstr>
      <vt:lpstr>Wingdings 3</vt:lpstr>
      <vt:lpstr>Brin</vt:lpstr>
      <vt:lpstr>UNIVERSITÉ DE YAOUNDÉ I                                      THE UNIVERSITY OF YAOUNDE I  ÉCOLE NATIONALE SUPÉRIEURE                                           NATIONAL ADVANCED SCHOOL POLYTECHNIQUE DE YAOUNDÉ                                            OF ENGINEERING  YAOUNDE   DÉPARTEMENT DE MATHÉMATIQUES                                          MATHEMATICS AND PHYSICAL    ET SCIENCES PHYSIQUES                                                     SCIENCES DEPARTMENT        ELECTROMAGNETISME I – STI1031  EXPOSE DE TD 2021  GROUPE B14 – MSP I  COORDONNATEUR : M. TCHANA</vt:lpstr>
      <vt:lpstr>MEMBRES DU GROUPE </vt:lpstr>
      <vt:lpstr>SOMMAIRE</vt:lpstr>
      <vt:lpstr>Enoncé de l’exercice A4 : « Sphère chargée en surface puis en volume »</vt:lpstr>
      <vt:lpstr>Présentation PowerPoint</vt:lpstr>
      <vt:lpstr>1) Détermination de la Direction de E ⃗ en utilisant les Symétries &amp; Invariances </vt:lpstr>
      <vt:lpstr>2) Expression de E ⃗ </vt:lpstr>
      <vt:lpstr>Présentation PowerPoint</vt:lpstr>
      <vt:lpstr>Présentation PowerPoint</vt:lpstr>
      <vt:lpstr>3) Déduction du Potentiel V</vt:lpstr>
      <vt:lpstr>Présentation PowerPoint</vt:lpstr>
      <vt:lpstr>4) Représentations des Courbes du Champ et du Potentiel</vt:lpstr>
      <vt:lpstr>Présentation PowerPoint</vt:lpstr>
      <vt:lpstr>a) Détermination de la direction de E ⃗ en utilisant les symétries et invariances </vt:lpstr>
      <vt:lpstr>b) Expression de E ⃗</vt:lpstr>
      <vt:lpstr>Présentation PowerPoint</vt:lpstr>
      <vt:lpstr>Présentation PowerPoint</vt:lpstr>
      <vt:lpstr>Présentation PowerPoint</vt:lpstr>
      <vt:lpstr>c) Déduisons le potentiel V</vt:lpstr>
      <vt:lpstr>Présentation PowerPoint</vt:lpstr>
      <vt:lpstr>d) Représentons les courbes du champ et du potentiel</vt:lpstr>
      <vt:lpstr>Présentation PowerPoint</vt:lpstr>
      <vt:lpstr>Conclusion &amp; Bibliographie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IVANN</dc:creator>
  <cp:lastModifiedBy>IVANN</cp:lastModifiedBy>
  <cp:revision>220</cp:revision>
  <cp:lastPrinted>2021-11-14T17:55:32Z</cp:lastPrinted>
  <dcterms:created xsi:type="dcterms:W3CDTF">2021-11-01T20:01:54Z</dcterms:created>
  <dcterms:modified xsi:type="dcterms:W3CDTF">2021-11-15T19:48:32Z</dcterms:modified>
</cp:coreProperties>
</file>