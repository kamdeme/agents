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9" r:id="rId1"/>
  </p:sldMasterIdLst>
  <p:sldIdLst>
    <p:sldId id="256" r:id="rId2"/>
    <p:sldId id="267" r:id="rId3"/>
    <p:sldId id="268" r:id="rId4"/>
    <p:sldId id="258" r:id="rId5"/>
    <p:sldId id="259" r:id="rId6"/>
    <p:sldId id="260" r:id="rId7"/>
    <p:sldId id="261" r:id="rId8"/>
    <p:sldId id="262" r:id="rId9"/>
    <p:sldId id="263" r:id="rId10"/>
    <p:sldId id="264" r:id="rId11"/>
    <p:sldId id="265" r:id="rId12"/>
    <p:sldId id="266"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91" d="100"/>
          <a:sy n="91" d="100"/>
        </p:scale>
        <p:origin x="370"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fr-FR"/>
              <a:t>Modifiez le style du titre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11/6/2022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64726272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fr-FR"/>
              <a:t>Modifiez le style du titre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11/6/2022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04587170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fr-FR"/>
              <a:t>Modifiez le style du titre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Date Placeholder 3"/>
          <p:cNvSpPr>
            <a:spLocks noGrp="1"/>
          </p:cNvSpPr>
          <p:nvPr>
            <p:ph type="dt" sz="half" idx="10"/>
          </p:nvPr>
        </p:nvSpPr>
        <p:spPr/>
        <p:txBody>
          <a:bodyPr/>
          <a:lstStyle/>
          <a:p>
            <a:fld id="{48A87A34-81AB-432B-8DAE-1953F412C126}" type="datetimeFigureOut">
              <a:rPr lang="en-US" smtClean="0"/>
              <a:t>11/6/2022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84157983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fr-FR"/>
              <a:t>Modifiez le style du titre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11/6/2022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75743676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fr-FR"/>
              <a:t>Modifiez le style du titre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12" name="Content Placeholder 3"/>
          <p:cNvSpPr>
            <a:spLocks noGrp="1"/>
          </p:cNvSpPr>
          <p:nvPr>
            <p:ph sz="quarter" idx="13"/>
          </p:nvPr>
        </p:nvSpPr>
        <p:spPr>
          <a:xfrm>
            <a:off x="913774" y="3051012"/>
            <a:ext cx="5106027" cy="2740187"/>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13" name="Content Placeholder 5"/>
          <p:cNvSpPr>
            <a:spLocks noGrp="1"/>
          </p:cNvSpPr>
          <p:nvPr>
            <p:ph sz="quarter" idx="14"/>
          </p:nvPr>
        </p:nvSpPr>
        <p:spPr>
          <a:xfrm>
            <a:off x="6172200" y="3051012"/>
            <a:ext cx="5105401" cy="2740187"/>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11/6/2022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58662178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11/6/2022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97582273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smtClean="0"/>
              <a:t>11/6/2022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9029325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fr-FR"/>
              <a:t>Modifiez le style du titre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Date Placeholder 4"/>
          <p:cNvSpPr>
            <a:spLocks noGrp="1"/>
          </p:cNvSpPr>
          <p:nvPr>
            <p:ph type="dt" sz="half" idx="10"/>
          </p:nvPr>
        </p:nvSpPr>
        <p:spPr/>
        <p:txBody>
          <a:bodyPr/>
          <a:lstStyle/>
          <a:p>
            <a:fld id="{48A87A34-81AB-432B-8DAE-1953F412C126}" type="datetimeFigureOut">
              <a:rPr lang="en-US" smtClean="0"/>
              <a:t>11/6/2022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64006331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dirty="0"/>
              <a:t>Cliquez sur l'icône pour ajouter une image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Date Placeholder 4"/>
          <p:cNvSpPr>
            <a:spLocks noGrp="1"/>
          </p:cNvSpPr>
          <p:nvPr>
            <p:ph type="dt" sz="half" idx="10"/>
          </p:nvPr>
        </p:nvSpPr>
        <p:spPr/>
        <p:txBody>
          <a:bodyPr/>
          <a:lstStyle/>
          <a:p>
            <a:fld id="{48A87A34-81AB-432B-8DAE-1953F412C126}" type="datetimeFigureOut">
              <a:rPr lang="en-US" smtClean="0"/>
              <a:t>11/6/2022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55131919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dirty="0"/>
              <a:t>Cliquez sur l'icône pour ajouter une image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Date Placeholder 4"/>
          <p:cNvSpPr>
            <a:spLocks noGrp="1"/>
          </p:cNvSpPr>
          <p:nvPr>
            <p:ph type="dt" sz="half" idx="10"/>
          </p:nvPr>
        </p:nvSpPr>
        <p:spPr/>
        <p:txBody>
          <a:bodyPr/>
          <a:lstStyle/>
          <a:p>
            <a:fld id="{48A87A34-81AB-432B-8DAE-1953F412C126}" type="datetimeFigureOut">
              <a:rPr lang="en-US" smtClean="0"/>
              <a:t>11/6/2022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49803556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fr-FR"/>
              <a:t>Modifiez le style du titre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Date Placeholder 4"/>
          <p:cNvSpPr>
            <a:spLocks noGrp="1"/>
          </p:cNvSpPr>
          <p:nvPr>
            <p:ph type="dt" sz="half" idx="10"/>
          </p:nvPr>
        </p:nvSpPr>
        <p:spPr/>
        <p:txBody>
          <a:bodyPr/>
          <a:lstStyle/>
          <a:p>
            <a:fld id="{48A87A34-81AB-432B-8DAE-1953F412C126}" type="datetimeFigureOut">
              <a:rPr lang="en-US" smtClean="0"/>
              <a:t>11/6/2022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883965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fr-FR"/>
              <a:t>Modifiez le style du titre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Date Placeholder 4"/>
          <p:cNvSpPr>
            <a:spLocks noGrp="1"/>
          </p:cNvSpPr>
          <p:nvPr>
            <p:ph type="dt" sz="half" idx="10"/>
          </p:nvPr>
        </p:nvSpPr>
        <p:spPr/>
        <p:txBody>
          <a:bodyPr/>
          <a:lstStyle/>
          <a:p>
            <a:fld id="{48A87A34-81AB-432B-8DAE-1953F412C126}" type="datetimeFigureOut">
              <a:rPr lang="en-US" smtClean="0"/>
              <a:t>11/6/2022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33339268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fr-FR"/>
              <a:t>Modifiez le style du titre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Date Placeholder 4"/>
          <p:cNvSpPr>
            <a:spLocks noGrp="1"/>
          </p:cNvSpPr>
          <p:nvPr>
            <p:ph type="dt" sz="half" idx="10"/>
          </p:nvPr>
        </p:nvSpPr>
        <p:spPr/>
        <p:txBody>
          <a:bodyPr/>
          <a:lstStyle/>
          <a:p>
            <a:fld id="{48A87A34-81AB-432B-8DAE-1953F412C126}" type="datetimeFigureOut">
              <a:rPr lang="en-US" smtClean="0"/>
              <a:t>11/6/2022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91959436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s">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fr-FR"/>
              <a:t>Modifiez le style du titre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3" name="Date Placeholder 2"/>
          <p:cNvSpPr>
            <a:spLocks noGrp="1"/>
          </p:cNvSpPr>
          <p:nvPr>
            <p:ph type="dt" sz="half" idx="10"/>
          </p:nvPr>
        </p:nvSpPr>
        <p:spPr/>
        <p:txBody>
          <a:bodyPr/>
          <a:lstStyle/>
          <a:p>
            <a:fld id="{48A87A34-81AB-432B-8DAE-1953F412C126}" type="datetimeFigureOut">
              <a:rPr lang="en-US" smtClean="0"/>
              <a:t>11/6/2022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37328661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s d’image">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fr-FR"/>
              <a:t>Modifiez le style du titre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dirty="0"/>
              <a:t>Cliquez sur l'icône pour ajouter une image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dirty="0"/>
              <a:t>Cliquez sur l'icône pour ajouter une image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dirty="0"/>
              <a:t>Cliquez sur l'icône pour ajouter une image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3" name="Date Placeholder 2"/>
          <p:cNvSpPr>
            <a:spLocks noGrp="1"/>
          </p:cNvSpPr>
          <p:nvPr>
            <p:ph type="dt" sz="half" idx="10"/>
          </p:nvPr>
        </p:nvSpPr>
        <p:spPr/>
        <p:txBody>
          <a:bodyPr/>
          <a:lstStyle/>
          <a:p>
            <a:fld id="{48A87A34-81AB-432B-8DAE-1953F412C126}" type="datetimeFigureOut">
              <a:rPr lang="en-US" smtClean="0"/>
              <a:t>11/6/2022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4725776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fr-FR"/>
              <a:t>Modifiez le style du titre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11/6/2022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66469589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fr-FR"/>
              <a:t>Modifiez le style du titre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11/6/2022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0481230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8A87A34-81AB-432B-8DAE-1953F412C126}" type="datetimeFigureOut">
              <a:rPr lang="en-US" smtClean="0"/>
              <a:pPr/>
              <a:t>11/6/2022</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294481341"/>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Lst>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p:cNvSpPr>
            <a:spLocks noGrp="1"/>
          </p:cNvSpPr>
          <p:nvPr>
            <p:ph type="subTitle" idx="1"/>
          </p:nvPr>
        </p:nvSpPr>
        <p:spPr>
          <a:xfrm>
            <a:off x="8188533" y="779153"/>
            <a:ext cx="2984693" cy="562024"/>
          </a:xfrm>
        </p:spPr>
        <p:txBody>
          <a:bodyPr>
            <a:normAutofit fontScale="85000" lnSpcReduction="10000"/>
          </a:bodyPr>
          <a:lstStyle/>
          <a:p>
            <a:r>
              <a:rPr lang="en-US" dirty="0">
                <a:solidFill>
                  <a:schemeClr val="tx2">
                    <a:lumMod val="50000"/>
                  </a:schemeClr>
                </a:solidFill>
                <a:latin typeface="Monotype Corsiva" panose="03010101010201010101" pitchFamily="66" charset="0"/>
              </a:rPr>
              <a:t>Coordinator  : Dr </a:t>
            </a:r>
            <a:r>
              <a:rPr lang="en-US" dirty="0" err="1">
                <a:solidFill>
                  <a:schemeClr val="tx2">
                    <a:lumMod val="50000"/>
                  </a:schemeClr>
                </a:solidFill>
                <a:latin typeface="Monotype Corsiva" panose="03010101010201010101" pitchFamily="66" charset="0"/>
              </a:rPr>
              <a:t>ambe</a:t>
            </a:r>
            <a:endParaRPr lang="fr-FR" dirty="0">
              <a:solidFill>
                <a:schemeClr val="tx2">
                  <a:lumMod val="50000"/>
                </a:schemeClr>
              </a:solidFill>
              <a:latin typeface="Monotype Corsiva" panose="03010101010201010101" pitchFamily="66" charset="0"/>
            </a:endParaRPr>
          </a:p>
        </p:txBody>
      </p:sp>
      <p:pic>
        <p:nvPicPr>
          <p:cNvPr id="5" name="Imag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68321" y="2057510"/>
            <a:ext cx="7721136" cy="336096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6" name="Rectangle 5"/>
          <p:cNvSpPr/>
          <p:nvPr/>
        </p:nvSpPr>
        <p:spPr>
          <a:xfrm>
            <a:off x="4125750" y="5466807"/>
            <a:ext cx="3940502" cy="923330"/>
          </a:xfrm>
          <a:prstGeom prst="rect">
            <a:avLst/>
          </a:prstGeom>
          <a:noFill/>
          <a:ln w="3175">
            <a:noFill/>
          </a:ln>
        </p:spPr>
        <p:style>
          <a:lnRef idx="1">
            <a:schemeClr val="accent2"/>
          </a:lnRef>
          <a:fillRef idx="2">
            <a:schemeClr val="accent2"/>
          </a:fillRef>
          <a:effectRef idx="1">
            <a:schemeClr val="accent2"/>
          </a:effectRef>
          <a:fontRef idx="minor">
            <a:schemeClr val="dk1"/>
          </a:fontRef>
        </p:style>
        <p:txBody>
          <a:bodyPr wrap="none" lIns="91440" tIns="45720" rIns="91440" bIns="45720">
            <a:spAutoFit/>
          </a:bodyPr>
          <a:lstStyle/>
          <a:p>
            <a:pPr algn="ctr"/>
            <a:r>
              <a:rPr lang="fr-FR" sz="5400" b="1" cap="none" spc="0" dirty="0">
                <a:ln w="0"/>
                <a:solidFill>
                  <a:schemeClr val="tx2">
                    <a:lumMod val="50000"/>
                  </a:schemeClr>
                </a:solidFill>
                <a:effectLst>
                  <a:reflection blurRad="6350" stA="53000" endA="300" endPos="35500" dir="5400000" sy="-90000" algn="bl" rotWithShape="0"/>
                </a:effectLst>
                <a:latin typeface="Monotype Corsiva" panose="03010101010201010101" pitchFamily="66" charset="0"/>
              </a:rPr>
              <a:t>COMPUTERS</a:t>
            </a:r>
          </a:p>
        </p:txBody>
      </p:sp>
      <p:pic>
        <p:nvPicPr>
          <p:cNvPr id="2" name="Picture 1">
            <a:extLst>
              <a:ext uri="{FF2B5EF4-FFF2-40B4-BE49-F238E27FC236}">
                <a16:creationId xmlns:a16="http://schemas.microsoft.com/office/drawing/2014/main" id="{A71FB9F6-D198-0C08-7A5F-C961F34437F2}"/>
              </a:ext>
            </a:extLst>
          </p:cNvPr>
          <p:cNvPicPr>
            <a:picLocks noChangeAspect="1"/>
          </p:cNvPicPr>
          <p:nvPr/>
        </p:nvPicPr>
        <p:blipFill>
          <a:blip r:embed="rId3"/>
          <a:stretch>
            <a:fillRect/>
          </a:stretch>
        </p:blipFill>
        <p:spPr>
          <a:xfrm>
            <a:off x="5046109" y="10412"/>
            <a:ext cx="2099781" cy="2103627"/>
          </a:xfrm>
          <a:prstGeom prst="rect">
            <a:avLst/>
          </a:prstGeom>
        </p:spPr>
      </p:pic>
      <p:sp>
        <p:nvSpPr>
          <p:cNvPr id="4" name="Sous-titre 2">
            <a:extLst>
              <a:ext uri="{FF2B5EF4-FFF2-40B4-BE49-F238E27FC236}">
                <a16:creationId xmlns:a16="http://schemas.microsoft.com/office/drawing/2014/main" id="{FAFFB947-B629-D8C4-24B6-890764ACFBF1}"/>
              </a:ext>
            </a:extLst>
          </p:cNvPr>
          <p:cNvSpPr txBox="1">
            <a:spLocks/>
          </p:cNvSpPr>
          <p:nvPr/>
        </p:nvSpPr>
        <p:spPr>
          <a:xfrm>
            <a:off x="1241572" y="781213"/>
            <a:ext cx="2761894" cy="562024"/>
          </a:xfrm>
          <a:prstGeom prst="rect">
            <a:avLst/>
          </a:prstGeom>
        </p:spPr>
        <p:txBody>
          <a:bodyPr vert="horz" lIns="91440" tIns="45720" rIns="91440" bIns="45720" rtlCol="0">
            <a:normAutofit/>
          </a:bodyPr>
          <a:lstStyle>
            <a:lvl1pPr marL="0" indent="0" algn="ctr" defTabSz="914400" rtl="0" eaLnBrk="1" latinLnBrk="0" hangingPunct="1">
              <a:lnSpc>
                <a:spcPct val="120000"/>
              </a:lnSpc>
              <a:spcBef>
                <a:spcPts val="1000"/>
              </a:spcBef>
              <a:buClr>
                <a:schemeClr val="tx1"/>
              </a:buClr>
              <a:buFont typeface="Arial" panose="020B0604020202020204" pitchFamily="34" charset="0"/>
              <a:buNone/>
              <a:defRPr sz="2200" kern="1200" cap="all" baseline="0">
                <a:solidFill>
                  <a:schemeClr val="bg1">
                    <a:lumMod val="50000"/>
                  </a:schemeClr>
                </a:solidFill>
                <a:effectLst/>
                <a:latin typeface="+mn-lt"/>
                <a:ea typeface="+mn-ea"/>
                <a:cs typeface="+mn-cs"/>
              </a:defRPr>
            </a:lvl1pPr>
            <a:lvl2pPr marL="457200" indent="0" algn="ctr" defTabSz="914400" rtl="0" eaLnBrk="1" latinLnBrk="0" hangingPunct="1">
              <a:lnSpc>
                <a:spcPct val="120000"/>
              </a:lnSpc>
              <a:spcBef>
                <a:spcPts val="500"/>
              </a:spcBef>
              <a:buClr>
                <a:schemeClr val="tx1"/>
              </a:buClr>
              <a:buFont typeface="Arial" panose="020B0604020202020204" pitchFamily="34" charset="0"/>
              <a:buNone/>
              <a:defRPr sz="2000" kern="1200" cap="all" baseline="0">
                <a:solidFill>
                  <a:schemeClr val="tx1"/>
                </a:solidFill>
                <a:effectLst/>
                <a:latin typeface="+mn-lt"/>
                <a:ea typeface="+mn-ea"/>
                <a:cs typeface="+mn-cs"/>
              </a:defRPr>
            </a:lvl2pPr>
            <a:lvl3pPr marL="914400" indent="0" algn="ctr" defTabSz="914400" rtl="0" eaLnBrk="1" latinLnBrk="0" hangingPunct="1">
              <a:lnSpc>
                <a:spcPct val="120000"/>
              </a:lnSpc>
              <a:spcBef>
                <a:spcPts val="500"/>
              </a:spcBef>
              <a:buClr>
                <a:schemeClr val="tx1"/>
              </a:buClr>
              <a:buFont typeface="Arial" panose="020B0604020202020204" pitchFamily="34" charset="0"/>
              <a:buNone/>
              <a:defRPr sz="1800" kern="1200" cap="all" baseline="0">
                <a:solidFill>
                  <a:schemeClr val="tx1"/>
                </a:solidFill>
                <a:effectLst/>
                <a:latin typeface="+mn-lt"/>
                <a:ea typeface="+mn-ea"/>
                <a:cs typeface="+mn-cs"/>
              </a:defRPr>
            </a:lvl3pPr>
            <a:lvl4pPr marL="13716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4pPr>
            <a:lvl5pPr marL="18288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5pPr>
            <a:lvl6pPr marL="22860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6pPr>
            <a:lvl7pPr marL="27432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7pPr>
            <a:lvl8pPr marL="32004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8pPr>
            <a:lvl9pPr marL="36576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9pPr>
          </a:lstStyle>
          <a:p>
            <a:r>
              <a:rPr lang="fr-FR" dirty="0">
                <a:solidFill>
                  <a:schemeClr val="tx2">
                    <a:lumMod val="50000"/>
                  </a:schemeClr>
                </a:solidFill>
                <a:latin typeface="Monotype Corsiva" panose="03010101010201010101" pitchFamily="66" charset="0"/>
              </a:rPr>
              <a:t>ANGLAIS (STI-2003-1)</a:t>
            </a:r>
          </a:p>
        </p:txBody>
      </p:sp>
    </p:spTree>
    <p:extLst>
      <p:ext uri="{BB962C8B-B14F-4D97-AF65-F5344CB8AC3E}">
        <p14:creationId xmlns:p14="http://schemas.microsoft.com/office/powerpoint/2010/main" val="2619274248"/>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anim calcmode="lin" valueType="num">
                                      <p:cBhvr>
                                        <p:cTn id="8" dur="2000" fill="hold"/>
                                        <p:tgtEl>
                                          <p:spTgt spid="5"/>
                                        </p:tgtEl>
                                        <p:attrNameLst>
                                          <p:attrName>ppt_w</p:attrName>
                                        </p:attrNameLst>
                                      </p:cBhvr>
                                      <p:tavLst>
                                        <p:tav tm="0" fmla="#ppt_w*sin(2.5*pi*$)">
                                          <p:val>
                                            <p:fltVal val="0"/>
                                          </p:val>
                                        </p:tav>
                                        <p:tav tm="100000">
                                          <p:val>
                                            <p:fltVal val="1"/>
                                          </p:val>
                                        </p:tav>
                                      </p:tavLst>
                                    </p:anim>
                                    <p:anim calcmode="lin" valueType="num">
                                      <p:cBhvr>
                                        <p:cTn id="9" dur="2000" fill="hold"/>
                                        <p:tgtEl>
                                          <p:spTgt spid="5"/>
                                        </p:tgtEl>
                                        <p:attrNameLst>
                                          <p:attrName>ppt_h</p:attrName>
                                        </p:attrNameLst>
                                      </p:cBhvr>
                                      <p:tavLst>
                                        <p:tav tm="0">
                                          <p:val>
                                            <p:strVal val="#ppt_h"/>
                                          </p:val>
                                        </p:tav>
                                        <p:tav tm="100000">
                                          <p:val>
                                            <p:strVal val="#ppt_h"/>
                                          </p:val>
                                        </p:tav>
                                      </p:tavLst>
                                    </p:anim>
                                  </p:childTnLst>
                                </p:cTn>
                              </p:par>
                            </p:childTnLst>
                          </p:cTn>
                        </p:par>
                        <p:par>
                          <p:cTn id="10" fill="hold">
                            <p:stCondLst>
                              <p:cond delay="2000"/>
                            </p:stCondLst>
                            <p:childTnLst>
                              <p:par>
                                <p:cTn id="11" presetID="42"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000"/>
                                        <p:tgtEl>
                                          <p:spTgt spid="6"/>
                                        </p:tgtEl>
                                      </p:cBhvr>
                                    </p:animEffect>
                                    <p:anim calcmode="lin" valueType="num">
                                      <p:cBhvr>
                                        <p:cTn id="14" dur="1000" fill="hold"/>
                                        <p:tgtEl>
                                          <p:spTgt spid="6"/>
                                        </p:tgtEl>
                                        <p:attrNameLst>
                                          <p:attrName>ppt_x</p:attrName>
                                        </p:attrNameLst>
                                      </p:cBhvr>
                                      <p:tavLst>
                                        <p:tav tm="0">
                                          <p:val>
                                            <p:strVal val="#ppt_x"/>
                                          </p:val>
                                        </p:tav>
                                        <p:tav tm="100000">
                                          <p:val>
                                            <p:strVal val="#ppt_x"/>
                                          </p:val>
                                        </p:tav>
                                      </p:tavLst>
                                    </p:anim>
                                    <p:anim calcmode="lin" valueType="num">
                                      <p:cBhvr>
                                        <p:cTn id="15" dur="1000" fill="hold"/>
                                        <p:tgtEl>
                                          <p:spTgt spid="6"/>
                                        </p:tgtEl>
                                        <p:attrNameLst>
                                          <p:attrName>ppt_y</p:attrName>
                                        </p:attrNameLst>
                                      </p:cBhvr>
                                      <p:tavLst>
                                        <p:tav tm="0">
                                          <p:val>
                                            <p:strVal val="#ppt_y+.1"/>
                                          </p:val>
                                        </p:tav>
                                        <p:tav tm="100000">
                                          <p:val>
                                            <p:strVal val="#ppt_y"/>
                                          </p:val>
                                        </p:tav>
                                      </p:tavLst>
                                    </p:anim>
                                  </p:childTnLst>
                                </p:cTn>
                              </p:par>
                            </p:childTnLst>
                          </p:cTn>
                        </p:par>
                        <p:par>
                          <p:cTn id="16" fill="hold">
                            <p:stCondLst>
                              <p:cond delay="3000"/>
                            </p:stCondLst>
                            <p:childTnLst>
                              <p:par>
                                <p:cTn id="17" presetID="42" presetClass="entr" presetSubtype="0" fill="hold" grpId="0" nodeType="after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Effect transition="in" filter="fade">
                                      <p:cBhvr>
                                        <p:cTn id="19" dur="1000"/>
                                        <p:tgtEl>
                                          <p:spTgt spid="3">
                                            <p:txEl>
                                              <p:pRg st="0" end="0"/>
                                            </p:txEl>
                                          </p:spTgt>
                                        </p:tgtEl>
                                      </p:cBhvr>
                                    </p:animEffect>
                                    <p:anim calcmode="lin" valueType="num">
                                      <p:cBhvr>
                                        <p:cTn id="20"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par>
                          <p:cTn id="22" fill="hold">
                            <p:stCondLst>
                              <p:cond delay="4000"/>
                            </p:stCondLst>
                            <p:childTnLst>
                              <p:par>
                                <p:cTn id="23" presetID="42" presetClass="entr" presetSubtype="0" fill="hold" grpId="0" nodeType="afterEffect">
                                  <p:stCondLst>
                                    <p:cond delay="0"/>
                                  </p:stCondLst>
                                  <p:childTnLst>
                                    <p:set>
                                      <p:cBhvr>
                                        <p:cTn id="24" dur="1" fill="hold">
                                          <p:stCondLst>
                                            <p:cond delay="0"/>
                                          </p:stCondLst>
                                        </p:cTn>
                                        <p:tgtEl>
                                          <p:spTgt spid="4">
                                            <p:txEl>
                                              <p:pRg st="0" end="0"/>
                                            </p:txEl>
                                          </p:spTgt>
                                        </p:tgtEl>
                                        <p:attrNameLst>
                                          <p:attrName>style.visibility</p:attrName>
                                        </p:attrNameLst>
                                      </p:cBhvr>
                                      <p:to>
                                        <p:strVal val="visible"/>
                                      </p:to>
                                    </p:set>
                                    <p:animEffect transition="in" filter="fade">
                                      <p:cBhvr>
                                        <p:cTn id="25" dur="1000"/>
                                        <p:tgtEl>
                                          <p:spTgt spid="4">
                                            <p:txEl>
                                              <p:pRg st="0" end="0"/>
                                            </p:txEl>
                                          </p:spTgt>
                                        </p:tgtEl>
                                      </p:cBhvr>
                                    </p:animEffect>
                                    <p:anim calcmode="lin" valueType="num">
                                      <p:cBhvr>
                                        <p:cTn id="26"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27"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P spid="4"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2">
            <a:extLst>
              <a:ext uri="{FF2B5EF4-FFF2-40B4-BE49-F238E27FC236}">
                <a16:creationId xmlns:a16="http://schemas.microsoft.com/office/drawing/2014/main" id="{1C5C778B-9E80-9496-58B4-9EE6C7DD6775}"/>
              </a:ext>
            </a:extLst>
          </p:cNvPr>
          <p:cNvSpPr>
            <a:spLocks noGrp="1"/>
          </p:cNvSpPr>
          <p:nvPr>
            <p:ph type="title"/>
          </p:nvPr>
        </p:nvSpPr>
        <p:spPr>
          <a:xfrm>
            <a:off x="4109768" y="1190655"/>
            <a:ext cx="3972455" cy="708055"/>
          </a:xfrm>
        </p:spPr>
        <p:txBody>
          <a:bodyPr>
            <a:normAutofit/>
          </a:bodyPr>
          <a:lstStyle/>
          <a:p>
            <a:r>
              <a:rPr lang="en-US" b="1" dirty="0">
                <a:solidFill>
                  <a:srgbClr val="002060"/>
                </a:solidFill>
                <a:latin typeface="Monotype Corsiva" panose="03010101010201010101" pitchFamily="66" charset="0"/>
              </a:rPr>
              <a:t>Group Members</a:t>
            </a:r>
          </a:p>
        </p:txBody>
      </p:sp>
      <p:sp>
        <p:nvSpPr>
          <p:cNvPr id="5" name="Content Placeholder 13">
            <a:extLst>
              <a:ext uri="{FF2B5EF4-FFF2-40B4-BE49-F238E27FC236}">
                <a16:creationId xmlns:a16="http://schemas.microsoft.com/office/drawing/2014/main" id="{CA81A17B-D2E5-E556-47C6-F358F2456624}"/>
              </a:ext>
            </a:extLst>
          </p:cNvPr>
          <p:cNvSpPr txBox="1">
            <a:spLocks/>
          </p:cNvSpPr>
          <p:nvPr/>
        </p:nvSpPr>
        <p:spPr>
          <a:xfrm>
            <a:off x="1784055" y="2241958"/>
            <a:ext cx="8713960" cy="2717333"/>
          </a:xfrm>
          <a:prstGeom prst="rect">
            <a:avLst/>
          </a:prstGeom>
        </p:spPr>
        <p:txBody>
          <a:bodyPr>
            <a:normAutofit/>
          </a:bodyPr>
          <a:lst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a:lstStyle>
          <a:p>
            <a:pPr>
              <a:buFont typeface="Wingdings" panose="05000000000000000000" pitchFamily="2" charset="2"/>
              <a:buChar char="Ø"/>
            </a:pPr>
            <a:r>
              <a:rPr lang="fr-FR" dirty="0">
                <a:solidFill>
                  <a:srgbClr val="002060"/>
                </a:solidFill>
                <a:latin typeface="Monotype Corsiva" panose="03010101010201010101" pitchFamily="66" charset="0"/>
              </a:rPr>
              <a:t>KAMDEM POUOKAM IVANN HAROLD. N°21P254</a:t>
            </a:r>
          </a:p>
          <a:p>
            <a:pPr>
              <a:buFont typeface="Wingdings" panose="05000000000000000000" pitchFamily="2" charset="2"/>
              <a:buChar char="Ø"/>
            </a:pPr>
            <a:r>
              <a:rPr lang="fr-FR" dirty="0">
                <a:solidFill>
                  <a:srgbClr val="002060"/>
                </a:solidFill>
                <a:latin typeface="Monotype Corsiva" panose="03010101010201010101" pitchFamily="66" charset="0"/>
              </a:rPr>
              <a:t>KAMGA CHEUKO FRANKLIN DAVY. N</a:t>
            </a:r>
            <a:r>
              <a:rPr lang="fr-CM" dirty="0">
                <a:solidFill>
                  <a:srgbClr val="002060"/>
                </a:solidFill>
                <a:latin typeface="Monotype Corsiva" panose="03010101010201010101" pitchFamily="66" charset="0"/>
              </a:rPr>
              <a:t>°</a:t>
            </a:r>
            <a:r>
              <a:rPr lang="fr-FR" dirty="0">
                <a:solidFill>
                  <a:srgbClr val="002060"/>
                </a:solidFill>
                <a:latin typeface="Monotype Corsiva" panose="03010101010201010101" pitchFamily="66" charset="0"/>
              </a:rPr>
              <a:t>21P308</a:t>
            </a:r>
          </a:p>
          <a:p>
            <a:pPr>
              <a:buFont typeface="Wingdings" panose="05000000000000000000" pitchFamily="2" charset="2"/>
              <a:buChar char="Ø"/>
            </a:pPr>
            <a:r>
              <a:rPr lang="fr-FR" dirty="0">
                <a:solidFill>
                  <a:srgbClr val="002060"/>
                </a:solidFill>
                <a:latin typeface="Monotype Corsiva" panose="03010101010201010101" pitchFamily="66" charset="0"/>
              </a:rPr>
              <a:t>KAMGA DEFO THIERRY JOEL. N°21P032</a:t>
            </a:r>
          </a:p>
          <a:p>
            <a:pPr>
              <a:buFont typeface="Wingdings" panose="05000000000000000000" pitchFamily="2" charset="2"/>
              <a:buChar char="Ø"/>
            </a:pPr>
            <a:r>
              <a:rPr lang="fr-FR" dirty="0">
                <a:solidFill>
                  <a:srgbClr val="002060"/>
                </a:solidFill>
                <a:latin typeface="Monotype Corsiva" panose="03010101010201010101" pitchFamily="66" charset="0"/>
              </a:rPr>
              <a:t>KAMTE MOAFO AMSTRONG. N°21P017</a:t>
            </a:r>
          </a:p>
          <a:p>
            <a:pPr>
              <a:buFont typeface="Wingdings" panose="05000000000000000000" pitchFamily="2" charset="2"/>
              <a:buChar char="Ø"/>
            </a:pPr>
            <a:r>
              <a:rPr lang="fr-FR" dirty="0">
                <a:solidFill>
                  <a:srgbClr val="002060"/>
                </a:solidFill>
                <a:latin typeface="Monotype Corsiva" panose="03010101010201010101" pitchFamily="66" charset="0"/>
              </a:rPr>
              <a:t>KANGA MARTHE VANINA N</a:t>
            </a:r>
            <a:endParaRPr lang="en-GB" dirty="0">
              <a:solidFill>
                <a:srgbClr val="002060"/>
              </a:solidFill>
              <a:latin typeface="Monotype Corsiva" panose="03010101010201010101" pitchFamily="66" charset="0"/>
            </a:endParaRPr>
          </a:p>
        </p:txBody>
      </p:sp>
    </p:spTree>
    <p:extLst>
      <p:ext uri="{BB962C8B-B14F-4D97-AF65-F5344CB8AC3E}">
        <p14:creationId xmlns:p14="http://schemas.microsoft.com/office/powerpoint/2010/main" val="202791679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2">
            <a:extLst>
              <a:ext uri="{FF2B5EF4-FFF2-40B4-BE49-F238E27FC236}">
                <a16:creationId xmlns:a16="http://schemas.microsoft.com/office/drawing/2014/main" id="{7444ED91-3324-B610-20EC-5D5EE5ED82B9}"/>
              </a:ext>
            </a:extLst>
          </p:cNvPr>
          <p:cNvSpPr>
            <a:spLocks noGrp="1"/>
          </p:cNvSpPr>
          <p:nvPr>
            <p:ph type="title"/>
          </p:nvPr>
        </p:nvSpPr>
        <p:spPr>
          <a:xfrm>
            <a:off x="5451100" y="1111192"/>
            <a:ext cx="1289799" cy="647700"/>
          </a:xfrm>
        </p:spPr>
        <p:txBody>
          <a:bodyPr>
            <a:normAutofit fontScale="90000"/>
          </a:bodyPr>
          <a:lstStyle/>
          <a:p>
            <a:r>
              <a:rPr lang="en-US" b="1" dirty="0">
                <a:solidFill>
                  <a:srgbClr val="002060"/>
                </a:solidFill>
                <a:latin typeface="Monotype Corsiva" panose="03010101010201010101" pitchFamily="66" charset="0"/>
              </a:rPr>
              <a:t>Plan</a:t>
            </a:r>
          </a:p>
        </p:txBody>
      </p:sp>
      <p:sp>
        <p:nvSpPr>
          <p:cNvPr id="5" name="Content Placeholder 13">
            <a:extLst>
              <a:ext uri="{FF2B5EF4-FFF2-40B4-BE49-F238E27FC236}">
                <a16:creationId xmlns:a16="http://schemas.microsoft.com/office/drawing/2014/main" id="{F5299C6C-482C-3575-9DA5-8F7CA7DDF721}"/>
              </a:ext>
            </a:extLst>
          </p:cNvPr>
          <p:cNvSpPr txBox="1">
            <a:spLocks/>
          </p:cNvSpPr>
          <p:nvPr/>
        </p:nvSpPr>
        <p:spPr>
          <a:xfrm>
            <a:off x="3570068" y="2133191"/>
            <a:ext cx="5262906" cy="3733800"/>
          </a:xfrm>
          <a:prstGeom prst="rect">
            <a:avLst/>
          </a:prstGeom>
        </p:spPr>
        <p:txBody>
          <a:bodyPr/>
          <a:lst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a:lstStyle>
          <a:p>
            <a:pPr>
              <a:buFont typeface="Wingdings" panose="05000000000000000000" pitchFamily="2" charset="2"/>
              <a:buChar char="v"/>
            </a:pPr>
            <a:r>
              <a:rPr lang="en-GB" b="1" dirty="0">
                <a:solidFill>
                  <a:srgbClr val="002060"/>
                </a:solidFill>
                <a:latin typeface="Monotype Corsiva" panose="03010101010201010101" pitchFamily="66" charset="0"/>
              </a:rPr>
              <a:t>Introduction</a:t>
            </a:r>
          </a:p>
          <a:p>
            <a:pPr>
              <a:buFont typeface="Wingdings" panose="05000000000000000000" pitchFamily="2" charset="2"/>
              <a:buChar char="v"/>
            </a:pPr>
            <a:r>
              <a:rPr lang="en-GB" b="1" dirty="0">
                <a:solidFill>
                  <a:srgbClr val="002060"/>
                </a:solidFill>
                <a:latin typeface="Monotype Corsiva" panose="03010101010201010101" pitchFamily="66" charset="0"/>
              </a:rPr>
              <a:t>I- History</a:t>
            </a:r>
          </a:p>
          <a:p>
            <a:pPr>
              <a:buFont typeface="Wingdings" panose="05000000000000000000" pitchFamily="2" charset="2"/>
              <a:buChar char="v"/>
            </a:pPr>
            <a:r>
              <a:rPr lang="en-GB" b="1" dirty="0">
                <a:solidFill>
                  <a:srgbClr val="002060"/>
                </a:solidFill>
                <a:latin typeface="Monotype Corsiva" panose="03010101010201010101" pitchFamily="66" charset="0"/>
              </a:rPr>
              <a:t>II- Can/Can’t</a:t>
            </a:r>
          </a:p>
          <a:p>
            <a:pPr>
              <a:buFont typeface="Wingdings" panose="05000000000000000000" pitchFamily="2" charset="2"/>
              <a:buChar char="v"/>
            </a:pPr>
            <a:r>
              <a:rPr lang="en-GB" b="1" dirty="0">
                <a:solidFill>
                  <a:srgbClr val="002060"/>
                </a:solidFill>
                <a:latin typeface="Monotype Corsiva" panose="03010101010201010101" pitchFamily="66" charset="0"/>
              </a:rPr>
              <a:t>III- Have to/Don’t have to</a:t>
            </a:r>
          </a:p>
          <a:p>
            <a:pPr>
              <a:buFont typeface="Wingdings" panose="05000000000000000000" pitchFamily="2" charset="2"/>
              <a:buChar char="v"/>
            </a:pPr>
            <a:r>
              <a:rPr lang="en-GB" b="1" dirty="0">
                <a:solidFill>
                  <a:srgbClr val="002060"/>
                </a:solidFill>
                <a:latin typeface="Monotype Corsiva" panose="03010101010201010101" pitchFamily="66" charset="0"/>
              </a:rPr>
              <a:t>Conclusion</a:t>
            </a:r>
          </a:p>
          <a:p>
            <a:pPr>
              <a:buFont typeface="Wingdings" panose="05000000000000000000" pitchFamily="2" charset="2"/>
              <a:buChar char="v"/>
            </a:pPr>
            <a:r>
              <a:rPr lang="en-GB" b="1" dirty="0">
                <a:solidFill>
                  <a:srgbClr val="002060"/>
                </a:solidFill>
                <a:latin typeface="Monotype Corsiva" panose="03010101010201010101" pitchFamily="66" charset="0"/>
              </a:rPr>
              <a:t>Bibliography</a:t>
            </a:r>
          </a:p>
        </p:txBody>
      </p:sp>
    </p:spTree>
    <p:extLst>
      <p:ext uri="{BB962C8B-B14F-4D97-AF65-F5344CB8AC3E}">
        <p14:creationId xmlns:p14="http://schemas.microsoft.com/office/powerpoint/2010/main" val="186092936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608909" y="217595"/>
            <a:ext cx="5369459" cy="1040466"/>
          </a:xfrm>
        </p:spPr>
        <p:txBody>
          <a:bodyPr>
            <a:normAutofit/>
          </a:bodyPr>
          <a:lstStyle/>
          <a:p>
            <a:r>
              <a:rPr lang="fr-FR" sz="4000" b="1" u="sng" dirty="0">
                <a:solidFill>
                  <a:schemeClr val="accent1">
                    <a:lumMod val="50000"/>
                  </a:schemeClr>
                </a:solidFill>
                <a:latin typeface="Monotype Corsiva" panose="03010101010201010101" pitchFamily="66" charset="0"/>
              </a:rPr>
              <a:t>Introduction</a:t>
            </a:r>
          </a:p>
        </p:txBody>
      </p:sp>
      <p:sp>
        <p:nvSpPr>
          <p:cNvPr id="4" name="Rectangle 1"/>
          <p:cNvSpPr>
            <a:spLocks noChangeArrowheads="1"/>
          </p:cNvSpPr>
          <p:nvPr/>
        </p:nvSpPr>
        <p:spPr bwMode="auto">
          <a:xfrm>
            <a:off x="1380308" y="1500373"/>
            <a:ext cx="9431383" cy="244682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500" b="0" i="0" u="none" strike="noStrike" cap="none" normalizeH="0" baseline="0" dirty="0">
                <a:ln>
                  <a:noFill/>
                </a:ln>
                <a:solidFill>
                  <a:srgbClr val="666666"/>
                </a:solidFill>
                <a:effectLst/>
                <a:latin typeface="Open Sans" panose="020B0606030504020204" pitchFamily="34" charset="0"/>
                <a:cs typeface="Open Sans" panose="020B0606030504020204" pitchFamily="34" charset="0"/>
              </a:rPr>
              <a:t>                                                                                                                                                   </a:t>
            </a:r>
            <a:endParaRPr kumimoji="0" lang="fr-FR" altLang="fr-FR" sz="1100" b="0" i="0" u="none" strike="noStrike" cap="none" normalizeH="0" baseline="0" dirty="0">
              <a:ln>
                <a:noFill/>
              </a:ln>
              <a:solidFill>
                <a:schemeClr val="tx1"/>
              </a:solidFill>
              <a:effectLst/>
            </a:endParaRPr>
          </a:p>
          <a:p>
            <a:pPr lvl="0" algn="just" defTabSz="914400"/>
            <a:r>
              <a:rPr kumimoji="0" lang="fr-FR" altLang="fr-FR" sz="2400" i="0" u="none" strike="noStrike" cap="none" normalizeH="0" baseline="0" dirty="0">
                <a:ln>
                  <a:noFill/>
                </a:ln>
                <a:solidFill>
                  <a:srgbClr val="666666"/>
                </a:solidFill>
                <a:effectLst/>
                <a:latin typeface="Monotype Corsiva" panose="03010101010201010101" pitchFamily="66" charset="0"/>
                <a:cs typeface="Open Sans" panose="020B0606030504020204" pitchFamily="34" charset="0"/>
              </a:rPr>
              <a:t>	</a:t>
            </a:r>
            <a:r>
              <a:rPr lang="en-US" altLang="fr-FR" sz="2400" dirty="0">
                <a:solidFill>
                  <a:srgbClr val="666666"/>
                </a:solidFill>
                <a:latin typeface="Monotype Corsiva" panose="03010101010201010101" pitchFamily="66" charset="0"/>
                <a:cs typeface="Open Sans" panose="020B0606030504020204" pitchFamily="34" charset="0"/>
              </a:rPr>
              <a:t>Since antiquity, men have tried to set up machines, in order to automate some recurring tasks, such as </a:t>
            </a:r>
            <a:r>
              <a:rPr lang="en-US" altLang="fr-FR" sz="2400" dirty="0">
                <a:solidFill>
                  <a:srgbClr val="002060"/>
                </a:solidFill>
                <a:latin typeface="Monotype Corsiva" panose="03010101010201010101" pitchFamily="66" charset="0"/>
                <a:cs typeface="Open Sans" panose="020B0606030504020204" pitchFamily="34" charset="0"/>
              </a:rPr>
              <a:t>counting</a:t>
            </a:r>
            <a:r>
              <a:rPr lang="en-US" altLang="fr-FR" sz="2400" dirty="0">
                <a:solidFill>
                  <a:srgbClr val="666666"/>
                </a:solidFill>
                <a:latin typeface="Monotype Corsiva" panose="03010101010201010101" pitchFamily="66" charset="0"/>
                <a:cs typeface="Open Sans" panose="020B0606030504020204" pitchFamily="34" charset="0"/>
              </a:rPr>
              <a:t>, and math </a:t>
            </a:r>
            <a:r>
              <a:rPr lang="en-US" altLang="fr-FR" sz="2400" dirty="0">
                <a:solidFill>
                  <a:srgbClr val="002060"/>
                </a:solidFill>
                <a:latin typeface="Monotype Corsiva" panose="03010101010201010101" pitchFamily="66" charset="0"/>
                <a:cs typeface="Open Sans" panose="020B0606030504020204" pitchFamily="34" charset="0"/>
              </a:rPr>
              <a:t>operations. </a:t>
            </a:r>
            <a:r>
              <a:rPr lang="en-US" altLang="fr-FR" sz="2400" dirty="0">
                <a:latin typeface="Monotype Corsiva" panose="03010101010201010101" pitchFamily="66" charset="0"/>
                <a:cs typeface="Open Sans" panose="020B0606030504020204" pitchFamily="34" charset="0"/>
              </a:rPr>
              <a:t>Starting with the </a:t>
            </a:r>
            <a:r>
              <a:rPr lang="en-US" altLang="fr-FR" sz="2400" dirty="0">
                <a:solidFill>
                  <a:srgbClr val="002060"/>
                </a:solidFill>
                <a:latin typeface="Monotype Corsiva" panose="03010101010201010101" pitchFamily="66" charset="0"/>
                <a:cs typeface="Open Sans" panose="020B0606030504020204" pitchFamily="34" charset="0"/>
              </a:rPr>
              <a:t>Abacus</a:t>
            </a:r>
            <a:r>
              <a:rPr lang="en-US" altLang="fr-FR" sz="2400" dirty="0">
                <a:latin typeface="Monotype Corsiva" panose="03010101010201010101" pitchFamily="66" charset="0"/>
                <a:cs typeface="Open Sans" panose="020B0606030504020204" pitchFamily="34" charset="0"/>
              </a:rPr>
              <a:t>, the engineers have developed over centuries more and more sophisticated machines, thanks to progress in mechanics and electronics. Today, computers are true do-it-all machines and are present in almost all domains of life. Exploring this essential tool of this world, will constitute the main part of this presentation</a:t>
            </a:r>
            <a:endParaRPr kumimoji="0" lang="fr-FR" altLang="fr-FR" sz="2400" strike="noStrike" cap="none" normalizeH="0" baseline="0" dirty="0">
              <a:ln>
                <a:noFill/>
              </a:ln>
              <a:solidFill>
                <a:srgbClr val="002060"/>
              </a:solidFill>
              <a:latin typeface="Monotype Corsiva" panose="03010101010201010101" pitchFamily="66" charset="0"/>
              <a:cs typeface="Open Sans" panose="020B0606030504020204" pitchFamily="34" charset="0"/>
            </a:endParaRPr>
          </a:p>
        </p:txBody>
      </p:sp>
    </p:spTree>
    <p:extLst>
      <p:ext uri="{BB962C8B-B14F-4D97-AF65-F5344CB8AC3E}">
        <p14:creationId xmlns:p14="http://schemas.microsoft.com/office/powerpoint/2010/main" val="3831900101"/>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632231" y="213568"/>
            <a:ext cx="8151849" cy="1236409"/>
          </a:xfrm>
        </p:spPr>
        <p:txBody>
          <a:bodyPr/>
          <a:lstStyle/>
          <a:p>
            <a:pPr fontAlgn="base"/>
            <a:r>
              <a:rPr lang="fr-FR" b="1" dirty="0">
                <a:solidFill>
                  <a:schemeClr val="accent1">
                    <a:lumMod val="50000"/>
                  </a:schemeClr>
                </a:solidFill>
                <a:latin typeface="Monotype Corsiva" panose="03010101010201010101" pitchFamily="66" charset="0"/>
              </a:rPr>
              <a:t>I - </a:t>
            </a:r>
            <a:r>
              <a:rPr lang="fr-FR" b="1" u="sng" dirty="0" err="1">
                <a:solidFill>
                  <a:schemeClr val="accent1">
                    <a:lumMod val="50000"/>
                  </a:schemeClr>
                </a:solidFill>
                <a:latin typeface="Monotype Corsiva" panose="03010101010201010101" pitchFamily="66" charset="0"/>
              </a:rPr>
              <a:t>History</a:t>
            </a:r>
            <a:endParaRPr lang="fr-FR" dirty="0"/>
          </a:p>
        </p:txBody>
      </p:sp>
      <p:sp>
        <p:nvSpPr>
          <p:cNvPr id="3" name="Espace réservé du contenu 2"/>
          <p:cNvSpPr>
            <a:spLocks noGrp="1"/>
          </p:cNvSpPr>
          <p:nvPr>
            <p:ph sz="quarter" idx="13"/>
          </p:nvPr>
        </p:nvSpPr>
        <p:spPr>
          <a:xfrm>
            <a:off x="770083" y="1449977"/>
            <a:ext cx="10363826" cy="3424107"/>
          </a:xfrm>
        </p:spPr>
        <p:txBody>
          <a:bodyPr>
            <a:normAutofit/>
          </a:bodyPr>
          <a:lstStyle/>
          <a:p>
            <a:pPr marL="0" indent="0">
              <a:buNone/>
            </a:pPr>
            <a:r>
              <a:rPr lang="fr-FR" sz="2400" cap="none" dirty="0">
                <a:latin typeface="Monotype Corsiva" panose="03010101010201010101" pitchFamily="66" charset="0"/>
              </a:rPr>
              <a:t>	Il est grand le fait que l’informatique intervient aujourd’hui dans tous les domaines de la vie. Je crois que vous l’avez déjà constaté comme moi ; tout le monde cherche à simplifier les choses surtout dans le monde industriel. Dans la suite, on fera une présentation des principaux apports de l’informatique au monde.</a:t>
            </a:r>
          </a:p>
        </p:txBody>
      </p:sp>
    </p:spTree>
    <p:extLst>
      <p:ext uri="{BB962C8B-B14F-4D97-AF65-F5344CB8AC3E}">
        <p14:creationId xmlns:p14="http://schemas.microsoft.com/office/powerpoint/2010/main" val="2101677871"/>
      </p:ext>
    </p:extLst>
  </p:cSld>
  <p:clrMapOvr>
    <a:masterClrMapping/>
  </p:clrMapOvr>
  <p:transition spd="slow">
    <p:comb/>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75033" y="213569"/>
            <a:ext cx="9771642" cy="700832"/>
          </a:xfrm>
        </p:spPr>
        <p:txBody>
          <a:bodyPr>
            <a:normAutofit/>
          </a:bodyPr>
          <a:lstStyle/>
          <a:p>
            <a:pPr fontAlgn="base"/>
            <a:r>
              <a:rPr lang="fr-FR" sz="3200" b="1" u="sng" dirty="0">
                <a:solidFill>
                  <a:schemeClr val="accent1">
                    <a:lumMod val="50000"/>
                  </a:schemeClr>
                </a:solidFill>
                <a:latin typeface="Monotype Corsiva" panose="03010101010201010101" pitchFamily="66" charset="0"/>
              </a:rPr>
              <a:t>IMPORTANCE DE L’INFORMATIQUE  EN MEDECINE</a:t>
            </a:r>
            <a:endParaRPr lang="fr-FR" sz="3200" dirty="0"/>
          </a:p>
        </p:txBody>
      </p:sp>
      <p:sp>
        <p:nvSpPr>
          <p:cNvPr id="3" name="Espace réservé du contenu 2"/>
          <p:cNvSpPr>
            <a:spLocks noGrp="1"/>
          </p:cNvSpPr>
          <p:nvPr>
            <p:ph sz="quarter" idx="13"/>
          </p:nvPr>
        </p:nvSpPr>
        <p:spPr>
          <a:xfrm>
            <a:off x="208379" y="1273884"/>
            <a:ext cx="7968969" cy="5584116"/>
          </a:xfrm>
        </p:spPr>
        <p:txBody>
          <a:bodyPr>
            <a:normAutofit/>
          </a:bodyPr>
          <a:lstStyle/>
          <a:p>
            <a:pPr marL="0" lvl="0" indent="0" eaLnBrk="0" fontAlgn="base" hangingPunct="0">
              <a:lnSpc>
                <a:spcPct val="100000"/>
              </a:lnSpc>
              <a:spcBef>
                <a:spcPct val="0"/>
              </a:spcBef>
              <a:spcAft>
                <a:spcPct val="0"/>
              </a:spcAft>
              <a:buClrTx/>
              <a:buNone/>
            </a:pPr>
            <a:r>
              <a:rPr lang="fr-FR" altLang="fr-FR" sz="2400" cap="none" dirty="0">
                <a:latin typeface="Monotype Corsiva" panose="03010101010201010101" pitchFamily="66" charset="0"/>
                <a:cs typeface="Open Sans" panose="020B0606030504020204" pitchFamily="34" charset="0"/>
              </a:rPr>
              <a:t>	Secteur très sensible, La médecine mérite des technologies de pointes pour la rendre puissante et performante,  Les médecins peuvent avoir accès à des informations sur les nouveaux médicaments et traitements, programmer les heures de visites dans des salles, superviser des opérations chirurgicales à distance grâce à l’outil informatique</a:t>
            </a:r>
            <a:r>
              <a:rPr lang="fr-FR" altLang="fr-FR" sz="2400" cap="none" dirty="0">
                <a:latin typeface="Monotype Corsiva" panose="03010101010201010101" pitchFamily="66" charset="0"/>
              </a:rPr>
              <a:t>. Bien plus, les ordinateurs et serveurs leur permettent de </a:t>
            </a:r>
            <a:r>
              <a:rPr lang="fr-FR" altLang="fr-FR" sz="2400" cap="none" dirty="0">
                <a:latin typeface="Monotype Corsiva" panose="03010101010201010101" pitchFamily="66" charset="0"/>
                <a:cs typeface="Open Sans" panose="020B0606030504020204" pitchFamily="34" charset="0"/>
              </a:rPr>
              <a:t>mettre en place une base de données pour les médicaments ou des bases de données ultra puissantes sur des recherches dans n’importe quel domaine de la médecine. Beaucoup plus encore, il leur est possible aujourd’hui de faire des interventions chirurgicales à distance grâce à la nanotechnologie.</a:t>
            </a:r>
            <a:endParaRPr lang="fr-FR" altLang="fr-FR" sz="2400" cap="none" dirty="0">
              <a:latin typeface="Monotype Corsiva" panose="03010101010201010101" pitchFamily="66" charset="0"/>
            </a:endParaRPr>
          </a:p>
          <a:p>
            <a:pPr marL="0" lvl="0" indent="0" eaLnBrk="0" fontAlgn="base" hangingPunct="0">
              <a:lnSpc>
                <a:spcPct val="100000"/>
              </a:lnSpc>
              <a:spcBef>
                <a:spcPct val="0"/>
              </a:spcBef>
              <a:spcAft>
                <a:spcPct val="0"/>
              </a:spcAft>
              <a:buClrTx/>
              <a:buNone/>
            </a:pPr>
            <a:r>
              <a:rPr lang="fr-FR" altLang="fr-FR" sz="2400" cap="none" dirty="0">
                <a:latin typeface="Monotype Corsiva" panose="03010101010201010101" pitchFamily="66" charset="0"/>
                <a:cs typeface="Open Sans" panose="020B0606030504020204" pitchFamily="34" charset="0"/>
              </a:rPr>
              <a:t>Et ce n’est pas tout! les médicaments sont exposés à une contrefaçon sans précédente partout à travers le monde. Seul l’informatique et les mesures vigoureuses sont mieux disposés pour palier à ces genres de problèmes.</a:t>
            </a:r>
            <a:endParaRPr lang="fr-FR" sz="2400" dirty="0">
              <a:latin typeface="Monotype Corsiva" panose="03010101010201010101" pitchFamily="66" charset="0"/>
            </a:endParaRPr>
          </a:p>
        </p:txBody>
      </p:sp>
      <p:pic>
        <p:nvPicPr>
          <p:cNvPr id="4098" name="Picture 2" descr="importance de l'informatique dans la vie courante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64732" y="1273884"/>
            <a:ext cx="3520185" cy="35201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94637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00712" y="584583"/>
            <a:ext cx="10829734" cy="1067489"/>
          </a:xfrm>
        </p:spPr>
        <p:txBody>
          <a:bodyPr>
            <a:normAutofit/>
          </a:bodyPr>
          <a:lstStyle/>
          <a:p>
            <a:r>
              <a:rPr lang="fr-FR" sz="3200" b="1" u="sng" dirty="0">
                <a:solidFill>
                  <a:schemeClr val="accent1">
                    <a:lumMod val="50000"/>
                  </a:schemeClr>
                </a:solidFill>
                <a:latin typeface="Monotype Corsiva" panose="03010101010201010101" pitchFamily="66" charset="0"/>
              </a:rPr>
              <a:t>IMPORTANCE DE L’INFORMATIQUE  DANS l’EDUCATION</a:t>
            </a:r>
            <a:br>
              <a:rPr lang="fr-FR" sz="3200" dirty="0"/>
            </a:br>
            <a:endParaRPr lang="fr-FR" sz="3200" dirty="0"/>
          </a:p>
        </p:txBody>
      </p:sp>
      <p:sp>
        <p:nvSpPr>
          <p:cNvPr id="3" name="Espace réservé du contenu 2"/>
          <p:cNvSpPr>
            <a:spLocks noGrp="1"/>
          </p:cNvSpPr>
          <p:nvPr>
            <p:ph sz="quarter" idx="13"/>
          </p:nvPr>
        </p:nvSpPr>
        <p:spPr>
          <a:xfrm>
            <a:off x="1" y="1742332"/>
            <a:ext cx="7563394" cy="4227394"/>
          </a:xfrm>
        </p:spPr>
        <p:txBody>
          <a:bodyPr>
            <a:normAutofit fontScale="92500" lnSpcReduction="20000"/>
          </a:bodyPr>
          <a:lstStyle/>
          <a:p>
            <a:pPr marL="0" indent="0" algn="just">
              <a:buNone/>
            </a:pPr>
            <a:r>
              <a:rPr lang="fr-FR" altLang="fr-FR" sz="2400" cap="none" dirty="0">
                <a:latin typeface="Monotype Corsiva" panose="03010101010201010101" pitchFamily="66" charset="0"/>
                <a:cs typeface="Open Sans" panose="020B0606030504020204" pitchFamily="34" charset="0"/>
              </a:rPr>
              <a:t>	L’outil informatique est une véritable révolution dans le secteur de l’éducation, D’emblée, grâce aux photocopieuses et imprimantes, il est très facile pour les encadreurs et élèves de dupliquer aisément des documents (photocopie) et de se munir des livres et documents imprimés, dont la lisibilité est meilleure par rapport à ceux manuscrits. De surcroît, grâce aux à l’Internet, accessible à travers les smartphones et ordinateurs, les élèves et les enseignants peuvent aisément faire des recherches dans la grande bibliothèque virtuelle qu’est le net. Aussi à travers les services de messagerie comme « WhatsApp », les forums comme « Futurascience », et les applications de vidéoconférence comme « Zoom » les enseignants peuvent encadrer leurs élèves à distance voir même dispenser des cours de façon virtuelle!</a:t>
            </a:r>
            <a:endParaRPr lang="fr-FR" sz="2400" dirty="0">
              <a:latin typeface="Monotype Corsiva" panose="03010101010201010101" pitchFamily="66" charset="0"/>
            </a:endParaRPr>
          </a:p>
        </p:txBody>
      </p:sp>
      <p:sp>
        <p:nvSpPr>
          <p:cNvPr id="4" name="Rectangle 1"/>
          <p:cNvSpPr>
            <a:spLocks noChangeArrowheads="1"/>
          </p:cNvSpPr>
          <p:nvPr/>
        </p:nvSpPr>
        <p:spPr bwMode="auto">
          <a:xfrm>
            <a:off x="0" y="74711"/>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a:ln>
                  <a:noFill/>
                </a:ln>
                <a:solidFill>
                  <a:srgbClr val="666666"/>
                </a:solidFill>
                <a:effectLst/>
                <a:latin typeface="Times New Roman" panose="02020603050405020304" pitchFamily="18" charset="0"/>
                <a:cs typeface="Times New Roman" panose="02020603050405020304" pitchFamily="18" charset="0"/>
              </a:rPr>
              <a:t>  </a:t>
            </a:r>
            <a:endParaRPr kumimoji="0" lang="fr-FR" altLang="fr-FR" sz="1100" b="0" i="0" u="none" strike="noStrike" cap="none" normalizeH="0" baseline="0" dirty="0">
              <a:ln>
                <a:noFill/>
              </a:ln>
              <a:solidFill>
                <a:schemeClr val="tx1"/>
              </a:solidFill>
              <a:effectLst/>
            </a:endParaRPr>
          </a:p>
        </p:txBody>
      </p:sp>
      <p:pic>
        <p:nvPicPr>
          <p:cNvPr id="5122" name="Picture 2" descr="informatiqu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24897" y="1742332"/>
            <a:ext cx="3605549" cy="3605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234606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22070" y="352697"/>
            <a:ext cx="11756570" cy="1084218"/>
          </a:xfrm>
        </p:spPr>
        <p:txBody>
          <a:bodyPr>
            <a:normAutofit/>
          </a:bodyPr>
          <a:lstStyle/>
          <a:p>
            <a:r>
              <a:rPr lang="fr-FR" sz="3200" b="1" u="sng" dirty="0">
                <a:solidFill>
                  <a:schemeClr val="accent1">
                    <a:lumMod val="50000"/>
                  </a:schemeClr>
                </a:solidFill>
                <a:latin typeface="Monotype Corsiva" panose="03010101010201010101" pitchFamily="66" charset="0"/>
              </a:rPr>
              <a:t>IMPORTANCE DE L’INFORMATIQUE  DANS les télécommunications</a:t>
            </a:r>
            <a:endParaRPr lang="fr-FR" sz="3200" dirty="0"/>
          </a:p>
        </p:txBody>
      </p:sp>
      <p:sp>
        <p:nvSpPr>
          <p:cNvPr id="3" name="Espace réservé du contenu 2"/>
          <p:cNvSpPr>
            <a:spLocks noGrp="1"/>
          </p:cNvSpPr>
          <p:nvPr>
            <p:ph sz="quarter" idx="13"/>
          </p:nvPr>
        </p:nvSpPr>
        <p:spPr>
          <a:xfrm>
            <a:off x="918442" y="1606498"/>
            <a:ext cx="10363826" cy="3424107"/>
          </a:xfrm>
        </p:spPr>
        <p:txBody>
          <a:bodyPr>
            <a:normAutofit/>
          </a:bodyPr>
          <a:lstStyle/>
          <a:p>
            <a:pPr marL="0" indent="0" fontAlgn="base">
              <a:buNone/>
            </a:pPr>
            <a:r>
              <a:rPr lang="fr-FR" sz="2400" cap="none" dirty="0">
                <a:latin typeface="Monotype Corsiva" panose="03010101010201010101" pitchFamily="66" charset="0"/>
              </a:rPr>
              <a:t>	L’Informatique a réussit l’exploit de relier tous les coins du globe d’où le concept de </a:t>
            </a:r>
            <a:r>
              <a:rPr lang="fr-FR" sz="2400" cap="none" dirty="0">
                <a:solidFill>
                  <a:srgbClr val="002060"/>
                </a:solidFill>
                <a:latin typeface="Monotype Corsiva" panose="03010101010201010101" pitchFamily="66" charset="0"/>
              </a:rPr>
              <a:t>« village planétaire ». </a:t>
            </a:r>
            <a:r>
              <a:rPr lang="fr-FR" sz="2400" cap="none" dirty="0">
                <a:latin typeface="Monotype Corsiva" panose="03010101010201010101" pitchFamily="66" charset="0"/>
              </a:rPr>
              <a:t>Aujourd’hui, il est possible de s’informer de tous ce qui se passe ailleurs grâce aux médias informatiques comme les réseaux sociaux parmi lesquels « Facebook », « Twitter »; la télévision, la radio, l’internet etc. De surcroit, grâce aux services de téléphonie fixe et mobile via les téléphones, aux services internet de Chat &amp; Forums accessibles à travers les applications comme « Zoom » et « WhatsApp », il est possible de communiquer avec qui qui ce soit dans le monde même avec un proche à l’autre bout de la terre!</a:t>
            </a:r>
            <a:endParaRPr lang="fr-FR" sz="2400" cap="none" dirty="0"/>
          </a:p>
        </p:txBody>
      </p:sp>
      <p:sp>
        <p:nvSpPr>
          <p:cNvPr id="4" name="AutoShape 2" descr="Un système de télécommunications optimisé pour une entreprise performante -  Synoméga - Ile de Franc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dirty="0"/>
          </a:p>
        </p:txBody>
      </p:sp>
      <p:pic>
        <p:nvPicPr>
          <p:cNvPr id="5" name="Imag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64893" y="4767943"/>
            <a:ext cx="3997234" cy="1998617"/>
          </a:xfrm>
          <a:prstGeom prst="rect">
            <a:avLst/>
          </a:prstGeom>
        </p:spPr>
      </p:pic>
    </p:spTree>
    <p:extLst>
      <p:ext uri="{BB962C8B-B14F-4D97-AF65-F5344CB8AC3E}">
        <p14:creationId xmlns:p14="http://schemas.microsoft.com/office/powerpoint/2010/main" val="53132048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83147" y="396449"/>
            <a:ext cx="10477035" cy="988214"/>
          </a:xfrm>
        </p:spPr>
        <p:txBody>
          <a:bodyPr>
            <a:normAutofit/>
          </a:bodyPr>
          <a:lstStyle/>
          <a:p>
            <a:r>
              <a:rPr lang="fr-FR" sz="3200" b="1" u="sng" dirty="0">
                <a:solidFill>
                  <a:schemeClr val="accent1">
                    <a:lumMod val="50000"/>
                  </a:schemeClr>
                </a:solidFill>
                <a:latin typeface="Monotype Corsiva" panose="03010101010201010101" pitchFamily="66" charset="0"/>
              </a:rPr>
              <a:t>IMPORTANCE DE L’INFORMATIQUE  DANS LA SECURITE</a:t>
            </a:r>
            <a:endParaRPr lang="fr-FR" sz="3200" dirty="0"/>
          </a:p>
        </p:txBody>
      </p:sp>
      <p:sp>
        <p:nvSpPr>
          <p:cNvPr id="3" name="Espace réservé du contenu 2"/>
          <p:cNvSpPr>
            <a:spLocks noGrp="1"/>
          </p:cNvSpPr>
          <p:nvPr>
            <p:ph sz="quarter" idx="13"/>
          </p:nvPr>
        </p:nvSpPr>
        <p:spPr>
          <a:xfrm>
            <a:off x="1005842" y="1661698"/>
            <a:ext cx="9823268" cy="4242714"/>
          </a:xfrm>
        </p:spPr>
        <p:txBody>
          <a:bodyPr>
            <a:noAutofit/>
          </a:bodyPr>
          <a:lstStyle/>
          <a:p>
            <a:pPr marL="0" indent="0" algn="just" fontAlgn="base">
              <a:buNone/>
            </a:pPr>
            <a:r>
              <a:rPr lang="fr-FR" sz="2400" cap="none" dirty="0">
                <a:latin typeface="Monotype Corsiva" panose="03010101010201010101" pitchFamily="66" charset="0"/>
              </a:rPr>
              <a:t>	Elle est devenue une notion cruciale dans les secteurs et activités actuels. Sur les aéroports et les ports maritimes, la vidéo surveillance développée en Informatique est devenue un atout majeur dans la sécurité</a:t>
            </a:r>
            <a:r>
              <a:rPr lang="fr-FR" sz="2400" b="1" cap="none" dirty="0">
                <a:latin typeface="Monotype Corsiva" panose="03010101010201010101" pitchFamily="66" charset="0"/>
              </a:rPr>
              <a:t>.</a:t>
            </a:r>
            <a:r>
              <a:rPr lang="fr-FR" sz="2400" cap="none" dirty="0">
                <a:latin typeface="Monotype Corsiva" panose="03010101010201010101" pitchFamily="66" charset="0"/>
              </a:rPr>
              <a:t> Les zones très sensibles sont les cibles de plusieurs attaques; de ce fait la sécurité est si importante. Le verrouillage des portes, les empreinte portières, les capteurs offerts par l'informatique, sont tous les éléments clé, de la sécurité personnelle et publique aujourd’hui . </a:t>
            </a:r>
          </a:p>
        </p:txBody>
      </p:sp>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50451" y="4500562"/>
            <a:ext cx="4209778" cy="2104889"/>
          </a:xfrm>
          <a:prstGeom prst="rect">
            <a:avLst/>
          </a:prstGeom>
        </p:spPr>
      </p:pic>
    </p:spTree>
    <p:extLst>
      <p:ext uri="{BB962C8B-B14F-4D97-AF65-F5344CB8AC3E}">
        <p14:creationId xmlns:p14="http://schemas.microsoft.com/office/powerpoint/2010/main" val="263745419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13774" y="278883"/>
            <a:ext cx="10629437" cy="1314786"/>
          </a:xfrm>
        </p:spPr>
        <p:txBody>
          <a:bodyPr>
            <a:normAutofit/>
          </a:bodyPr>
          <a:lstStyle/>
          <a:p>
            <a:r>
              <a:rPr lang="fr-FR" sz="3200" b="1" u="sng" dirty="0">
                <a:solidFill>
                  <a:schemeClr val="accent1">
                    <a:lumMod val="50000"/>
                  </a:schemeClr>
                </a:solidFill>
                <a:latin typeface="Monotype Corsiva" panose="03010101010201010101" pitchFamily="66" charset="0"/>
              </a:rPr>
              <a:t>IMPORTANCE DE L’INFORMATIQUE  DANS LE COMMERCE</a:t>
            </a:r>
            <a:endParaRPr lang="fr-FR" sz="3200" dirty="0"/>
          </a:p>
        </p:txBody>
      </p:sp>
      <p:sp>
        <p:nvSpPr>
          <p:cNvPr id="3" name="Espace réservé du contenu 2"/>
          <p:cNvSpPr>
            <a:spLocks noGrp="1"/>
          </p:cNvSpPr>
          <p:nvPr>
            <p:ph sz="quarter" idx="13"/>
          </p:nvPr>
        </p:nvSpPr>
        <p:spPr>
          <a:xfrm>
            <a:off x="770083" y="1523180"/>
            <a:ext cx="10363826" cy="3424107"/>
          </a:xfrm>
        </p:spPr>
        <p:txBody>
          <a:bodyPr>
            <a:normAutofit fontScale="92500" lnSpcReduction="10000"/>
          </a:bodyPr>
          <a:lstStyle/>
          <a:p>
            <a:pPr marL="0" indent="0" fontAlgn="base">
              <a:buNone/>
            </a:pPr>
            <a:r>
              <a:rPr lang="fr-FR" sz="2600" b="1" cap="none" dirty="0">
                <a:latin typeface="Monotype Corsiva" panose="03010101010201010101" pitchFamily="66" charset="0"/>
              </a:rPr>
              <a:t>	</a:t>
            </a:r>
            <a:r>
              <a:rPr lang="fr-FR" sz="2600" cap="none" dirty="0">
                <a:latin typeface="Monotype Corsiva" panose="03010101010201010101" pitchFamily="66" charset="0"/>
              </a:rPr>
              <a:t>Aujourd’hui nous sommes entrain de constater une évolution du commerce dans le monde mieux de ce qu’il était il y a de cela 50 ans. Il est aujourd’hui possible de faire la vente et l’achat des certains produits en ligne, tout ça c’est grâce à l’informatique et particulièrement l’internet. Ces dix dernières années, on a constaté un boom dans le domaine du E-Commerce avec la naissance des géants du commerce comme</a:t>
            </a:r>
            <a:r>
              <a:rPr lang="fr-FR" sz="2600" b="1" cap="none" dirty="0">
                <a:latin typeface="Monotype Corsiva" panose="03010101010201010101" pitchFamily="66" charset="0"/>
              </a:rPr>
              <a:t> </a:t>
            </a:r>
            <a:r>
              <a:rPr lang="fr-FR" sz="2600" b="1" cap="none" dirty="0">
                <a:solidFill>
                  <a:srgbClr val="002060"/>
                </a:solidFill>
                <a:latin typeface="Monotype Corsiva" panose="03010101010201010101" pitchFamily="66" charset="0"/>
              </a:rPr>
              <a:t>Amazon, Ali baba</a:t>
            </a:r>
            <a:r>
              <a:rPr lang="fr-FR" sz="2600" b="1" cap="none" dirty="0">
                <a:latin typeface="Monotype Corsiva" panose="03010101010201010101" pitchFamily="66" charset="0"/>
              </a:rPr>
              <a:t> </a:t>
            </a:r>
            <a:r>
              <a:rPr lang="fr-FR" sz="2600" cap="none" dirty="0">
                <a:latin typeface="Monotype Corsiva" panose="03010101010201010101" pitchFamily="66" charset="0"/>
              </a:rPr>
              <a:t>etc. De plus, La gestion des stocks est une notion très complexe dans le commerce surtout dans le commerce international ou même le commerce en ligne. Laisse-moi vous rassurer un chose, seul l’informatique peut vous sauver la peau en utilisant des logiciels de gestion de stock, comme </a:t>
            </a:r>
            <a:r>
              <a:rPr lang="fr-FR" sz="2600" b="1" cap="none" dirty="0">
                <a:solidFill>
                  <a:srgbClr val="002060"/>
                </a:solidFill>
                <a:latin typeface="Monotype Corsiva" panose="03010101010201010101" pitchFamily="66" charset="0"/>
              </a:rPr>
              <a:t>Microsoft Office Excel</a:t>
            </a:r>
            <a:r>
              <a:rPr lang="fr-FR" sz="2600" cap="none" dirty="0">
                <a:latin typeface="Monotype Corsiva" panose="03010101010201010101" pitchFamily="66" charset="0"/>
              </a:rPr>
              <a:t>.</a:t>
            </a:r>
          </a:p>
          <a:p>
            <a:endParaRPr lang="fr-FR" dirty="0"/>
          </a:p>
        </p:txBody>
      </p:sp>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32783" y="4772296"/>
            <a:ext cx="3174396" cy="2085704"/>
          </a:xfrm>
          <a:prstGeom prst="rect">
            <a:avLst/>
          </a:prstGeom>
        </p:spPr>
      </p:pic>
    </p:spTree>
    <p:extLst>
      <p:ext uri="{BB962C8B-B14F-4D97-AF65-F5344CB8AC3E}">
        <p14:creationId xmlns:p14="http://schemas.microsoft.com/office/powerpoint/2010/main" val="427387917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4852" y="538751"/>
            <a:ext cx="11909924" cy="1145587"/>
          </a:xfrm>
        </p:spPr>
        <p:txBody>
          <a:bodyPr>
            <a:normAutofit/>
          </a:bodyPr>
          <a:lstStyle/>
          <a:p>
            <a:r>
              <a:rPr lang="fr-FR" sz="3200" b="1" u="sng" dirty="0">
                <a:solidFill>
                  <a:schemeClr val="accent1">
                    <a:lumMod val="50000"/>
                  </a:schemeClr>
                </a:solidFill>
                <a:latin typeface="Monotype Corsiva" panose="03010101010201010101" pitchFamily="66" charset="0"/>
              </a:rPr>
              <a:t>IMPORTANCE DE L’INFORMATIQUE  DANS l’industrie et les finances</a:t>
            </a:r>
            <a:endParaRPr lang="fr-FR" sz="3200" dirty="0"/>
          </a:p>
        </p:txBody>
      </p:sp>
      <p:sp>
        <p:nvSpPr>
          <p:cNvPr id="3" name="Espace réservé du contenu 2"/>
          <p:cNvSpPr>
            <a:spLocks noGrp="1"/>
          </p:cNvSpPr>
          <p:nvPr>
            <p:ph sz="quarter" idx="13"/>
          </p:nvPr>
        </p:nvSpPr>
        <p:spPr>
          <a:xfrm>
            <a:off x="84852" y="1560624"/>
            <a:ext cx="7878068" cy="5297375"/>
          </a:xfrm>
        </p:spPr>
        <p:txBody>
          <a:bodyPr>
            <a:normAutofit fontScale="25000" lnSpcReduction="20000"/>
          </a:bodyPr>
          <a:lstStyle/>
          <a:p>
            <a:pPr marL="0" indent="0" fontAlgn="base">
              <a:buNone/>
            </a:pPr>
            <a:r>
              <a:rPr lang="fr-FR" altLang="fr-FR" sz="3800" cap="none" dirty="0">
                <a:latin typeface="Monotype Corsiva" panose="03010101010201010101" pitchFamily="66" charset="0"/>
                <a:cs typeface="Open Sans" panose="020B0606030504020204" pitchFamily="34" charset="0"/>
              </a:rPr>
              <a:t>	</a:t>
            </a:r>
            <a:r>
              <a:rPr lang="fr-FR" altLang="fr-FR" sz="9600" cap="none" dirty="0">
                <a:latin typeface="Monotype Corsiva" panose="03010101010201010101" pitchFamily="66" charset="0"/>
                <a:cs typeface="Open Sans" panose="020B0606030504020204" pitchFamily="34" charset="0"/>
              </a:rPr>
              <a:t>En ce qui concerne l’industrie, L’informatique est au centre de tout, avec le facteur révolutionnaire de la production en chaîne industrielle. Ceci dit, l’informatique a permis l’automatisation des procédés industriels notamment avec l’avenue des robots qui permettent de vrai gain de temps et d’énergie. </a:t>
            </a:r>
          </a:p>
          <a:p>
            <a:pPr marL="0" indent="0" fontAlgn="base">
              <a:buNone/>
            </a:pPr>
            <a:r>
              <a:rPr lang="fr-FR" sz="9600" cap="none" dirty="0">
                <a:latin typeface="Monotype Corsiva" panose="03010101010201010101" pitchFamily="66" charset="0"/>
                <a:cs typeface="Open Sans" panose="020B0606030504020204" pitchFamily="34" charset="0"/>
              </a:rPr>
              <a:t>	</a:t>
            </a:r>
            <a:r>
              <a:rPr lang="fr-FR" sz="9600" cap="none" dirty="0">
                <a:latin typeface="Monotype Corsiva" panose="03010101010201010101" pitchFamily="66" charset="0"/>
              </a:rPr>
              <a:t>En ce qui concerne les Finances, aujourd’hui, L'informatique joue un rôle prépondérant dans le monde des affaires. Grâce aux ordinateurs, à l’internet et aux services mobiles comme MTN Mobile Money et Orange Money, nous pouvons faire le suivi direct de nos comptes bancaires à distance. L’internet a fait naitre une autre nouvelle technologie révolutionnaire pour les transactions monétaires sur internet. La blockchain est une nouvelle technologie innovante des transactions monétaires avec l’arrivé d’une nouvelle forme de monnaie dite cryptomonnaie,</a:t>
            </a:r>
          </a:p>
          <a:p>
            <a:pPr fontAlgn="base"/>
            <a:endParaRPr lang="fr-FR" sz="3800" cap="none" dirty="0">
              <a:latin typeface="Monotype Corsiva" panose="03010101010201010101" pitchFamily="66" charset="0"/>
            </a:endParaRPr>
          </a:p>
          <a:p>
            <a:endParaRPr lang="fr-FR" dirty="0"/>
          </a:p>
        </p:txBody>
      </p:sp>
      <p:pic>
        <p:nvPicPr>
          <p:cNvPr id="6146" name="Picture 2" descr="importance de l'informatiqu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37102" y="3634547"/>
            <a:ext cx="3083492" cy="205163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a:spLocks noChangeArrowheads="1"/>
          </p:cNvSpPr>
          <p:nvPr/>
        </p:nvSpPr>
        <p:spPr bwMode="auto">
          <a:xfrm>
            <a:off x="0" y="120878"/>
            <a:ext cx="89768" cy="21544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a:ln>
                  <a:noFill/>
                </a:ln>
                <a:solidFill>
                  <a:srgbClr val="666666"/>
                </a:solidFill>
                <a:effectLst/>
                <a:latin typeface="Times New Roman" panose="02020603050405020304" pitchFamily="18" charset="0"/>
                <a:cs typeface="Times New Roman" panose="02020603050405020304" pitchFamily="18" charset="0"/>
              </a:rPr>
              <a:t>  </a:t>
            </a:r>
            <a:endParaRPr kumimoji="0" lang="fr-FR" altLang="fr-FR" sz="1100" b="0" i="0" u="none" strike="noStrike" cap="none" normalizeH="0" baseline="0" dirty="0">
              <a:ln>
                <a:noFill/>
              </a:ln>
              <a:solidFill>
                <a:schemeClr val="tx1"/>
              </a:solidFill>
              <a:effectLst/>
            </a:endParaRPr>
          </a:p>
        </p:txBody>
      </p:sp>
      <p:pic>
        <p:nvPicPr>
          <p:cNvPr id="6148" name="Picture 4" descr="Role de l'informatique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62920" y="1684338"/>
            <a:ext cx="4031856" cy="14949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699407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012540" y="461764"/>
            <a:ext cx="6166294" cy="1131906"/>
          </a:xfrm>
        </p:spPr>
        <p:txBody>
          <a:bodyPr/>
          <a:lstStyle/>
          <a:p>
            <a:r>
              <a:rPr lang="fr-FR" b="1" u="sng" dirty="0">
                <a:solidFill>
                  <a:schemeClr val="accent1">
                    <a:lumMod val="50000"/>
                  </a:schemeClr>
                </a:solidFill>
                <a:latin typeface="Monotype Corsiva" panose="03010101010201010101" pitchFamily="66" charset="0"/>
              </a:rPr>
              <a:t>Conclusion</a:t>
            </a:r>
            <a:endParaRPr lang="fr-FR" dirty="0"/>
          </a:p>
        </p:txBody>
      </p:sp>
      <p:sp>
        <p:nvSpPr>
          <p:cNvPr id="3" name="Espace réservé du contenu 2"/>
          <p:cNvSpPr>
            <a:spLocks noGrp="1"/>
          </p:cNvSpPr>
          <p:nvPr>
            <p:ph sz="quarter" idx="13"/>
          </p:nvPr>
        </p:nvSpPr>
        <p:spPr>
          <a:xfrm>
            <a:off x="913774" y="1753137"/>
            <a:ext cx="10363826" cy="3424107"/>
          </a:xfrm>
        </p:spPr>
        <p:txBody>
          <a:bodyPr>
            <a:normAutofit lnSpcReduction="10000"/>
          </a:bodyPr>
          <a:lstStyle/>
          <a:p>
            <a:pPr marL="0" indent="0" algn="just" fontAlgn="base">
              <a:buNone/>
            </a:pPr>
            <a:r>
              <a:rPr lang="fr-FR" sz="2400" cap="none" dirty="0">
                <a:latin typeface="Monotype Corsiva" panose="03010101010201010101" pitchFamily="66" charset="0"/>
              </a:rPr>
              <a:t>	La notion d’informatique est d’une importance capitale et multidimensionnelle. Les médias et outils informatiques sont là pour nous faciliter la vie! Il est bien vrai! Comme toute invention humaine; ils peuvent avoir de sérieux inconvénients sur les jeunes voire les détourner du droit chemin; tout ceci dans la mesure où ils sont mal utilisés. Mais alors, le monde d’aujourd’hui n’est-il pas sous l’emprise de l’Informatique? IL est alors crucial pour chacun, de s’intéresser réellement aux Nouvelles Technologies de l’Information et de la Communication (</a:t>
            </a:r>
            <a:r>
              <a:rPr lang="fr-FR" sz="2400" cap="none">
                <a:latin typeface="Monotype Corsiva" panose="03010101010201010101" pitchFamily="66" charset="0"/>
              </a:rPr>
              <a:t>NTIC), </a:t>
            </a:r>
            <a:r>
              <a:rPr lang="fr-FR" sz="2400" cap="none" dirty="0">
                <a:latin typeface="Monotype Corsiva" panose="03010101010201010101" pitchFamily="66" charset="0"/>
              </a:rPr>
              <a:t>car comme le dit bien l’adage « L'analphabète du 21è siècle est celui qui ne maîtrise pas l’outil informatique »!</a:t>
            </a:r>
          </a:p>
          <a:p>
            <a:endParaRPr lang="fr-FR" dirty="0"/>
          </a:p>
        </p:txBody>
      </p:sp>
    </p:spTree>
    <p:extLst>
      <p:ext uri="{BB962C8B-B14F-4D97-AF65-F5344CB8AC3E}">
        <p14:creationId xmlns:p14="http://schemas.microsoft.com/office/powerpoint/2010/main" val="97654373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xit" presetSubtype="0" fill="hold" grpId="0" nodeType="clickEffect">
                                  <p:stCondLst>
                                    <p:cond delay="0"/>
                                  </p:stCondLst>
                                  <p:childTnLst>
                                    <p:animEffect transition="out" filter="fade">
                                      <p:cBhvr>
                                        <p:cTn id="6" dur="1000"/>
                                        <p:tgtEl>
                                          <p:spTgt spid="2"/>
                                        </p:tgtEl>
                                      </p:cBhvr>
                                    </p:animEffect>
                                    <p:anim calcmode="lin" valueType="num">
                                      <p:cBhvr>
                                        <p:cTn id="7" dur="1000"/>
                                        <p:tgtEl>
                                          <p:spTgt spid="2"/>
                                        </p:tgtEl>
                                        <p:attrNameLst>
                                          <p:attrName>ppt_x</p:attrName>
                                        </p:attrNameLst>
                                      </p:cBhvr>
                                      <p:tavLst>
                                        <p:tav tm="0">
                                          <p:val>
                                            <p:strVal val="ppt_x"/>
                                          </p:val>
                                        </p:tav>
                                        <p:tav tm="100000">
                                          <p:val>
                                            <p:strVal val="ppt_x"/>
                                          </p:val>
                                        </p:tav>
                                      </p:tavLst>
                                    </p:anim>
                                    <p:anim calcmode="lin" valueType="num">
                                      <p:cBhvr>
                                        <p:cTn id="8" dur="1000"/>
                                        <p:tgtEl>
                                          <p:spTgt spid="2"/>
                                        </p:tgtEl>
                                        <p:attrNameLst>
                                          <p:attrName>ppt_y</p:attrName>
                                        </p:attrNameLst>
                                      </p:cBhvr>
                                      <p:tavLst>
                                        <p:tav tm="0">
                                          <p:val>
                                            <p:strVal val="ppt_y"/>
                                          </p:val>
                                        </p:tav>
                                        <p:tav tm="100000">
                                          <p:val>
                                            <p:strVal val="ppt_y+.1"/>
                                          </p:val>
                                        </p:tav>
                                      </p:tavLst>
                                    </p:anim>
                                    <p:set>
                                      <p:cBhvr>
                                        <p:cTn id="9" dur="1" fill="hold">
                                          <p:stCondLst>
                                            <p:cond delay="999"/>
                                          </p:stCondLst>
                                        </p:cTn>
                                        <p:tgtEl>
                                          <p:spTgt spid="2"/>
                                        </p:tgtEl>
                                        <p:attrNameLst>
                                          <p:attrName>style.visibility</p:attrName>
                                        </p:attrNameLst>
                                      </p:cBhvr>
                                      <p:to>
                                        <p:strVal val="hidden"/>
                                      </p:to>
                                    </p:set>
                                  </p:childTnLst>
                                </p:cTn>
                              </p:par>
                            </p:childTnLst>
                          </p:cTn>
                        </p:par>
                        <p:par>
                          <p:cTn id="10" fill="hold">
                            <p:stCondLst>
                              <p:cond delay="1000"/>
                            </p:stCondLst>
                            <p:childTnLst>
                              <p:par>
                                <p:cTn id="11" presetID="42" presetClass="exit" presetSubtype="0" fill="hold" grpId="0" nodeType="afterEffect">
                                  <p:stCondLst>
                                    <p:cond delay="0"/>
                                  </p:stCondLst>
                                  <p:childTnLst>
                                    <p:animEffect transition="out" filter="fade">
                                      <p:cBhvr>
                                        <p:cTn id="12" dur="1000"/>
                                        <p:tgtEl>
                                          <p:spTgt spid="3">
                                            <p:txEl>
                                              <p:pRg st="0" end="0"/>
                                            </p:txEl>
                                          </p:spTgt>
                                        </p:tgtEl>
                                      </p:cBhvr>
                                    </p:animEffect>
                                    <p:anim calcmode="lin" valueType="num">
                                      <p:cBhvr>
                                        <p:cTn id="13" dur="1000"/>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p:tgtEl>
                                          <p:spTgt spid="3">
                                            <p:txEl>
                                              <p:pRg st="0" end="0"/>
                                            </p:txEl>
                                          </p:spTgt>
                                        </p:tgtEl>
                                        <p:attrNameLst>
                                          <p:attrName>ppt_y</p:attrName>
                                        </p:attrNameLst>
                                      </p:cBhvr>
                                      <p:tavLst>
                                        <p:tav tm="0">
                                          <p:val>
                                            <p:strVal val="ppt_y"/>
                                          </p:val>
                                        </p:tav>
                                        <p:tav tm="100000">
                                          <p:val>
                                            <p:strVal val="ppt_y+.1"/>
                                          </p:val>
                                        </p:tav>
                                      </p:tavLst>
                                    </p:anim>
                                    <p:set>
                                      <p:cBhvr>
                                        <p:cTn id="15" dur="1" fill="hold">
                                          <p:stCondLst>
                                            <p:cond delay="999"/>
                                          </p:stCondLst>
                                        </p:cTn>
                                        <p:tgtEl>
                                          <p:spTgt spid="3">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theme/theme1.xml><?xml version="1.0" encoding="utf-8"?>
<a:theme xmlns:a="http://schemas.openxmlformats.org/drawingml/2006/main" name="Ronds dans l’eau">
  <a:themeElements>
    <a:clrScheme name="Ronds dans l’eau">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Ronds dans l’eau">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onds dans l’eau">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Ronds dans l’eau</Template>
  <TotalTime>629</TotalTime>
  <Words>1134</Words>
  <Application>Microsoft Office PowerPoint</Application>
  <PresentationFormat>Widescreen</PresentationFormat>
  <Paragraphs>39</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Monotype Corsiva</vt:lpstr>
      <vt:lpstr>Open Sans</vt:lpstr>
      <vt:lpstr>Times New Roman</vt:lpstr>
      <vt:lpstr>Tw Cen MT</vt:lpstr>
      <vt:lpstr>Wingdings</vt:lpstr>
      <vt:lpstr>Ronds dans l’eau</vt:lpstr>
      <vt:lpstr>PowerPoint Presentation</vt:lpstr>
      <vt:lpstr>Group Members</vt:lpstr>
      <vt:lpstr>Plan</vt:lpstr>
      <vt:lpstr>Introduction</vt:lpstr>
      <vt:lpstr>I - History</vt:lpstr>
      <vt:lpstr>IMPORTANCE DE L’INFORMATIQUE  EN MEDECINE</vt:lpstr>
      <vt:lpstr>IMPORTANCE DE L’INFORMATIQUE  DANS l’EDUCATION </vt:lpstr>
      <vt:lpstr>IMPORTANCE DE L’INFORMATIQUE  DANS les télécommunications</vt:lpstr>
      <vt:lpstr>IMPORTANCE DE L’INFORMATIQUE  DANS LA SECURITE</vt:lpstr>
      <vt:lpstr>IMPORTANCE DE L’INFORMATIQUE  DANS LE COMMERCE</vt:lpstr>
      <vt:lpstr>IMPORTANCE DE L’INFORMATIQUE  DANS l’industrie et les finances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IVANN</dc:creator>
  <cp:lastModifiedBy>Ivann</cp:lastModifiedBy>
  <cp:revision>32</cp:revision>
  <dcterms:created xsi:type="dcterms:W3CDTF">2021-04-10T20:21:11Z</dcterms:created>
  <dcterms:modified xsi:type="dcterms:W3CDTF">2022-11-06T10:41:18Z</dcterms:modified>
</cp:coreProperties>
</file>